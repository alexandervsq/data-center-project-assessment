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2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0 Opening" id="{856fa666-9195-2238-09c1-2b5c4e310937}">
          <p14:sldIdLst>
            <p14:sldId id="256"/>
            <p14:sldId id="257"/>
          </p14:sldIdLst>
        </p14:section>
        <p14:section name="01 Introduction" id="{fc0c7573-97b1-dfbe-c4eb-9e46292d0f5a}">
          <p14:sldIdLst>
            <p14:sldId id="258"/>
            <p14:sldId id="259"/>
            <p14:sldId id="260"/>
            <p14:sldId id="261"/>
          </p14:sldIdLst>
        </p14:section>
        <p14:section name="02 Classification" id="{caedaac0-adaf-260a-69de-8d7fbe201d41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03 Spaces &amp; Layout" id="{4303ee31-a366-bc82-f618-1f327a863b93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04 Electrical" id="{c8afa31c-98c0-f7ad-f2bb-d0118d967e87}">
          <p14:sldIdLst>
            <p14:sldId id="275"/>
            <p14:sldId id="276"/>
            <p14:sldId id="277"/>
            <p14:sldId id="278"/>
            <p14:sldId id="279"/>
          </p14:sldIdLst>
        </p14:section>
        <p14:section name="05 Cooling" id="{1761dbc0-2875-ef0a-1382-462dbb8495e5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06 IT &amp; Network" id="{2015f6d0-c337-24dc-36db-1cae8534b75e}">
          <p14:sldIdLst>
            <p14:sldId id="287"/>
            <p14:sldId id="288"/>
            <p14:sldId id="289"/>
            <p14:sldId id="290"/>
          </p14:sldIdLst>
        </p14:section>
        <p14:section name="07 Safety &amp; Monitoring" id="{062932cf-a5f1-fb7c-7338-8a7fb6817aa7}">
          <p14:sldIdLst>
            <p14:sldId id="291"/>
            <p14:sldId id="292"/>
            <p14:sldId id="293"/>
            <p14:sldId id="294"/>
          </p14:sldIdLst>
        </p14:section>
        <p14:section name="08 Supporting &amp; Lifecycle" id="{c634c18d-d107-4634-0151-564b2d510164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09 Closing" id="{6857ecb4-1178-8b2d-ca22-8f833e248577}">
          <p14:sldIdLst>
            <p14:sldId id="30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D3A"/>
                </a:solidFill>
                <a:latin typeface="+mn-lt"/>
              </a:rPr>
              <a:t>Typical gross-area mix (Tier III, air-cooled)  典型面积构成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Space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F3CBB"/>
              </a:solidFill>
              <a:effectLst/>
            </c:spPr>
          </c:dPt>
          <c:dPt>
            <c:idx val="1"/>
            <c:bubble3D val="0"/>
            <c:spPr>
              <a:solidFill>
                <a:srgbClr val="F2A93B"/>
              </a:solidFill>
              <a:effectLst/>
            </c:spPr>
          </c:dPt>
          <c:dPt>
            <c:idx val="2"/>
            <c:bubble3D val="0"/>
            <c:spPr>
              <a:solidFill>
                <a:srgbClr val="0EA5C6"/>
              </a:solidFill>
              <a:effectLst/>
            </c:spPr>
          </c:dPt>
          <c:dPt>
            <c:idx val="3"/>
            <c:bubble3D val="0"/>
            <c:spPr>
              <a:solidFill>
                <a:srgbClr val="7C3AED"/>
              </a:solidFill>
              <a:effectLst/>
            </c:spPr>
          </c:dPt>
          <c:dPt>
            <c:idx val="4"/>
            <c:bubble3D val="0"/>
            <c:spPr>
              <a:solidFill>
                <a:srgbClr val="A3A6C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White space 白区</c:v>
                </c:pt>
                <c:pt idx="1">
                  <c:v>Electrical rooms 电气</c:v>
                </c:pt>
                <c:pt idx="2">
                  <c:v>Mechanical 暖通</c:v>
                </c:pt>
                <c:pt idx="3">
                  <c:v>Support 支持区</c:v>
                </c:pt>
                <c:pt idx="4">
                  <c:v>Circulation &amp; walls 交通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B1D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D3A"/>
                </a:solidFill>
                <a:latin typeface="+mn-lt"/>
              </a:rPr>
              <a:t>Indicative annual PUE by design  不同设计的参考年均PUE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  IT负载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Cooling  制冷</c:v>
                </c:pt>
              </c:strCache>
            </c:strRef>
          </c:tx>
          <c:spPr>
            <a:solidFill>
              <a:srgbClr val="0EA5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</c:v>
                </c:pt>
                <c:pt idx="1">
                  <c:v>0.42</c:v>
                </c:pt>
                <c:pt idx="2">
                  <c:v>0.3</c:v>
                </c:pt>
                <c:pt idx="3">
                  <c:v>0.14</c:v>
                </c:pt>
                <c:pt idx="4">
                  <c:v>0.08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Electrical losses  电气损耗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0.15</c:v>
                </c:pt>
                <c:pt idx="1">
                  <c:v>0.07</c:v>
                </c:pt>
                <c:pt idx="2">
                  <c:v>0.07</c:v>
                </c:pt>
                <c:pt idx="3">
                  <c:v>0.07</c:v>
                </c:pt>
                <c:pt idx="4">
                  <c:v>0.06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Lighting &amp; other  照明及其他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0.05</c:v>
                </c:pt>
                <c:pt idx="1">
                  <c:v>0.02</c:v>
                </c:pt>
                <c:pt idx="2">
                  <c:v>0.015</c:v>
                </c:pt>
                <c:pt idx="3">
                  <c:v>0.01</c:v>
                </c:pt>
                <c:pt idx="4">
                  <c:v>0.01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"/>
          <c:min val="0"/>
        </c:scaling>
        <c:delete val="0"/>
        <c:axPos val="l"/>
        <c:majorGridlines>
          <c:spPr>
            <a:ln w="9525" cap="flat">
              <a:solidFill>
                <a:srgbClr val="E1E3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B1D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D3A"/>
                </a:solidFill>
                <a:latin typeface="+mn-lt"/>
              </a:rPr>
              <a:t>Facility CAPEX by system (Tier III, air-cooled)  按系统划分的设施投资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facility CAPEX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Design, PM, commissioning &amp; fees  设计、项目管理、调试及费用</c:v>
                  </c:pt>
                  <c:pt idx="1">
                    <c:v>Site works &amp; external  场地及室外工程</c:v>
                  </c:pt>
                  <c:pt idx="2">
                    <c:v>BMS / EPMS / DCIM  BMS / EPMS / DCIM</c:v>
                  </c:pt>
                  <c:pt idx="3">
                    <c:v>IT infrastructure  IT基础设施</c:v>
                  </c:pt>
                  <c:pt idx="4">
                    <c:v>Fire protection &amp; security  消防与安防</c:v>
                  </c:pt>
                  <c:pt idx="5">
                    <c:v>Civil, structural &amp; architectural  土建、结构与建筑</c:v>
                  </c:pt>
                  <c:pt idx="6">
                    <c:v>Mechanical / cooling  暖通 / 制冷</c:v>
                  </c:pt>
                  <c:pt idx="7">
                    <c:v>Electrical systems  电气系统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0.06</c:v>
                </c:pt>
                <c:pt idx="1">
                  <c:v>0.04</c:v>
                </c:pt>
                <c:pt idx="2">
                  <c:v>0.02</c:v>
                </c:pt>
                <c:pt idx="3">
                  <c:v>0.04</c:v>
                </c:pt>
                <c:pt idx="4">
                  <c:v>0.04</c:v>
                </c:pt>
                <c:pt idx="5">
                  <c:v>0.18</c:v>
                </c:pt>
                <c:pt idx="6">
                  <c:v>0.2</c:v>
                </c:pt>
                <c:pt idx="7">
                  <c:v>0.42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D3A"/>
                </a:solidFill>
                <a:latin typeface="+mn-lt"/>
              </a:rPr>
              <a:t>Indicative CAPEX, USD million per MW IT  参考单位投资（百万美元/MW）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M / MW</c:v>
                </c:pt>
              </c:strCache>
            </c:strRef>
          </c:tx>
          <c:spPr>
            <a:solidFill>
              <a:srgbClr val="3F3CB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Indonesia</c:v>
                  </c:pt>
                  <c:pt idx="1">
                    <c:v>Malaysia</c:v>
                  </c:pt>
                  <c:pt idx="2">
                    <c:v>Singapore</c:v>
                  </c:pt>
                  <c:pt idx="3">
                    <c:v>China</c:v>
                  </c:pt>
                  <c:pt idx="4">
                    <c:v>India</c:v>
                  </c:pt>
                  <c:pt idx="5">
                    <c:v>Japan</c:v>
                  </c:pt>
                  <c:pt idx="6">
                    <c:v>Australia</c:v>
                  </c:pt>
                  <c:pt idx="7">
                    <c:v>United States</c:v>
                  </c:pt>
                  <c:pt idx="8">
                    <c:v>Western Europe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10.5</c:v>
                </c:pt>
                <c:pt idx="1">
                  <c:v>11</c:v>
                </c:pt>
                <c:pt idx="2">
                  <c:v>14.5</c:v>
                </c:pt>
                <c:pt idx="3">
                  <c:v>7.5</c:v>
                </c:pt>
                <c:pt idx="4">
                  <c:v>7</c:v>
                </c:pt>
                <c:pt idx="5">
                  <c:v>15</c:v>
                </c:pt>
                <c:pt idx="6">
                  <c:v>12.5</c:v>
                </c:pt>
                <c:pt idx="7">
                  <c:v>11.5</c:v>
                </c:pt>
                <c:pt idx="8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b"/>
        <c:majorGridlines>
          <c:spPr>
            <a:ln w="9525" cap="flat">
              <a:solidFill>
                <a:srgbClr val="E1E3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Data Center Knowledge Base  ·  数据中心知识库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71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BDEFFA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1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image" Target="../media/image-41-9.png"/><Relationship Id="rId10" Type="http://schemas.openxmlformats.org/officeDocument/2006/relationships/image" Target="../media/image-41-10.png"/><Relationship Id="rId11" Type="http://schemas.openxmlformats.org/officeDocument/2006/relationships/image" Target="../media/image-41-11.png"/><Relationship Id="rId12" Type="http://schemas.openxmlformats.org/officeDocument/2006/relationships/image" Target="../media/image-41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image" Target="../media/image-46-7.png"/><Relationship Id="rId8" Type="http://schemas.openxmlformats.org/officeDocument/2006/relationships/image" Target="../media/image-46-8.png"/><Relationship Id="rId9" Type="http://schemas.openxmlformats.org/officeDocument/2006/relationships/image" Target="../media/image-46-9.png"/><Relationship Id="rId10" Type="http://schemas.openxmlformats.org/officeDocument/2006/relationships/image" Target="../media/image-46-10.png"/><Relationship Id="rId11" Type="http://schemas.openxmlformats.org/officeDocument/2006/relationships/image" Target="../media/image-46-11.png"/><Relationship Id="rId12" Type="http://schemas.openxmlformats.org/officeDocument/2006/relationships/image" Target="../media/image-4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09728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0972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53F"/>
                </a:solidFill>
              </a:rPr>
              <a:t>KNOWLEDGE BASE  ·  知识库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Center Fundamentals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6060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DEFFA"/>
                </a:solidFill>
              </a:rPr>
              <a:t>数据中心基础知识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74720"/>
            <a:ext cx="566928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D6D8F5"/>
                </a:solidFill>
              </a:rPr>
              <a:t>What a data center is, how it is classified, its spaces, major and secondary equipment, supporting systems and the project lifecycle — the common basis for project technical assessment.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dirty="0">
                <a:solidFill>
                  <a:srgbClr val="BDEFFA"/>
                </a:solidFill>
              </a:rPr>
              <a:t>什么是数据中心、如何分类、功能区、主要与次要设备、支持系统及项目全生命周期——项目技术评估的共同知识基础。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89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3D9"/>
                </a:solidFill>
              </a:rPr>
              <a:t>Project Technical Assessment  ·  项目技术评估   |   Rev. 0   | 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this deck covers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本演示文稿内容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196486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86000" y="1801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CCE6"/>
                </a:solidFill>
              </a:rPr>
              <a:t>01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96312"/>
            <a:ext cx="22402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What is a Data Center?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什么是数据中心？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72968"/>
            <a:ext cx="22402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Definition, how it works, key metrics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定义、工作原理、关键指标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55848" y="160020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828800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511" y="196486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93208" y="1801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CCE6"/>
                </a:solidFill>
              </a:rPr>
              <a:t>02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496312"/>
            <a:ext cx="22402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Classification &amp; Tiers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分类与等级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584448" y="3172968"/>
            <a:ext cx="22402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Types, sizes, Tier I–IV, standards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类型、规模、Tier I–IV、标准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63056" y="160020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828800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719" y="1964863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900416" y="1801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CCE6"/>
                </a:solidFill>
              </a:rPr>
              <a:t>03</a:t>
            </a:r>
            <a:endParaRPr lang="en-US" sz="24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496312"/>
            <a:ext cx="22402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Spaces &amp; Layout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功能区与布局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391656" y="3172968"/>
            <a:ext cx="22402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White, grey, support &amp; site areas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白区、灰区、支持区与场地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970264" y="160020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828800"/>
            <a:ext cx="566928" cy="566928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927" y="1964863"/>
            <a:ext cx="294803" cy="29480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707624" y="1801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CCE6"/>
                </a:solidFill>
              </a:rPr>
              <a:t>04</a:t>
            </a:r>
            <a:endParaRPr lang="en-US" sz="24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496312"/>
            <a:ext cx="22402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Electrical Systems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电气系统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9198864" y="3172968"/>
            <a:ext cx="22402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Utility to rack: MV, UPS, generators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从市电到机柜：中压、UPS、发电机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548640" y="397764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206240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303" y="4342303"/>
            <a:ext cx="294803" cy="29480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2286000" y="4178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CCE6"/>
                </a:solidFill>
              </a:rPr>
              <a:t>05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73752"/>
            <a:ext cx="22402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Cooling Systems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制冷系统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777240" y="5550408"/>
            <a:ext cx="22402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Chillers, CRAH, liquid cooling, PUE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冷机、精密空调、液冷、PUE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3355848" y="397764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206240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0511" y="4342303"/>
            <a:ext cx="294803" cy="294803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093208" y="4178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CCE6"/>
                </a:solidFill>
              </a:rPr>
              <a:t>06</a:t>
            </a:r>
            <a:endParaRPr lang="en-US" sz="24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73752"/>
            <a:ext cx="22402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IT &amp; Network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IT与网络</a:t>
            </a:r>
            <a:endParaRPr lang="en-US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3584448" y="5550408"/>
            <a:ext cx="22402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Racks, cabling, connectivity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机柜、布线、网络连接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6163056" y="397764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206240"/>
            <a:ext cx="566928" cy="566928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7719" y="4342303"/>
            <a:ext cx="294803" cy="294803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900416" y="4178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CCE6"/>
                </a:solidFill>
              </a:rPr>
              <a:t>07</a:t>
            </a:r>
            <a:endParaRPr lang="en-US" sz="24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73752"/>
            <a:ext cx="22402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Safety, Security &amp; Monitoring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安全、安防与监控</a:t>
            </a:r>
            <a:endParaRPr lang="en-US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6391656" y="5550408"/>
            <a:ext cx="22402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Fire, physical security, BMS/DCIM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消防、物理安防、BMS/DCIM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8970264" y="397764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9198864" y="4206240"/>
            <a:ext cx="566928" cy="566928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927" y="4342303"/>
            <a:ext cx="294803" cy="294803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0707624" y="4178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CCE6"/>
                </a:solidFill>
              </a:rPr>
              <a:t>08</a:t>
            </a:r>
            <a:endParaRPr lang="en-US" sz="2400" dirty="0"/>
          </a:p>
        </p:txBody>
      </p:sp>
      <p:sp>
        <p:nvSpPr>
          <p:cNvPr id="50" name="Text 40"/>
          <p:cNvSpPr txBox="1"/>
          <p:nvPr/>
        </p:nvSpPr>
        <p:spPr>
          <a:xfrm>
            <a:off x="9198864" y="4873752"/>
            <a:ext cx="22402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Supporting Systems &amp; Lifecycle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支持系统与生命周期</a:t>
            </a:r>
            <a:endParaRPr lang="en-US" sz="1500" dirty="0"/>
          </a:p>
        </p:txBody>
      </p:sp>
      <p:sp>
        <p:nvSpPr>
          <p:cNvPr id="51" name="Text 41"/>
          <p:cNvSpPr txBox="1"/>
          <p:nvPr/>
        </p:nvSpPr>
        <p:spPr>
          <a:xfrm>
            <a:off x="9198864" y="5550408"/>
            <a:ext cx="22402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Civil, cost, schedule, commissioning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土建、投资、进度、调试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What is a Data Center?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什么是数据中心？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A purpose-built facility that keeps computing, storage and network equipment running 24/7.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为计算、存储和网络设备提供7×24不间断运行环境的专用设施。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building engineered around uninterrupted IT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围绕“不间断IT”而设计的建筑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493776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 data center houses IT equipment and provides everything it needs to run continuously: conditioned power, cooling, connectivity, security and 24/7 operations.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dirty="0">
                <a:solidFill>
                  <a:schemeClr val="accent1"/>
                </a:solidFill>
              </a:rPr>
              <a:t>数据中心容纳IT设备，并提供其持续运行所需的一切：稳定电力、制冷、网络连接、安全保障及7×24运维。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493776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IT load (MW) — the electrical power consumed by servers — is the basic unit of size.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IT负载（MW）——服务器消耗的电功率——是衡量规模的基本单位。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Almost every watt delivered to IT becomes heat that must be removed.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输送给IT的几乎每一瓦电力都会变成必须排除的热量。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Availability is designed in through redundancy (N+1, 2N) and maintainability.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可用性通过冗余（N+1、2N）及可维护性设计来实现。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 centres used ≈ 415 TWh in 2024 (≈ 1.5% of world electricity), projected to roughly double by 2030 (IEA).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2024年数据中心用电约415 TWh（约占全球1.5%），预计到2030年约翻一番（IEA）。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flipH="1" flipV="1">
            <a:off x="6675120" y="2331720"/>
            <a:ext cx="1874520" cy="14630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8549640" y="2331720"/>
            <a:ext cx="1874520" cy="14630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49640" y="3794760"/>
            <a:ext cx="2606040" cy="50292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49640" y="3794760"/>
            <a:ext cx="1874520" cy="19202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675120" y="3794760"/>
            <a:ext cx="1874520" cy="19202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943600" y="3794760"/>
            <a:ext cx="2606040" cy="50292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2834640"/>
            <a:ext cx="1920240" cy="1920240"/>
          </a:xfrm>
          <a:prstGeom prst="ellipse">
            <a:avLst/>
          </a:prstGeom>
          <a:solidFill>
            <a:srgbClr val="17153F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3081528"/>
            <a:ext cx="768096" cy="768096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680960" y="3904488"/>
            <a:ext cx="17373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IT equipment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IT设备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35040" y="201168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59813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506870" y="201168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Power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电力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784080" y="201168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2159813"/>
            <a:ext cx="362102" cy="3621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255910" y="201168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Cooling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制冷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10515600" y="397764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4125773"/>
            <a:ext cx="362102" cy="3621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87430" y="397764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Connectivity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网络连接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9784080" y="539496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F0544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0" y="5543093"/>
            <a:ext cx="362102" cy="3621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255910" y="539496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Security &amp; fire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安防与消防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035040" y="539496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16A34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5543093"/>
            <a:ext cx="362102" cy="3621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506870" y="539496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Operations 24/7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7×24运维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5303520" y="397764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B45309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0" y="4125773"/>
            <a:ext cx="362102" cy="3621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775350" y="397764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Building &amp; site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建筑与场地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a data center works: power in, heat out, data through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工作原理：电力输入、热量排出、数据流通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7111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Utility grid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市电电网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304288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441448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207111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935224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Power chain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供电链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197096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4334256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071116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28032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IT racks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IT机柜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089904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6227064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0544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504" y="2071116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20840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Heat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热量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7982712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8119872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207111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613648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Cooling chain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制冷链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875520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10012680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0" y="2071116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0506456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Atmosphere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大气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2441448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Transformers, switchgear, UPS + batteries and generators condition and back up power.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变压器、开关柜、UPS+电池及发电机负责电力调理与备用。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4334256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Servers, storage and switches turn ≈ 100% of input power into heat.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服务器、存储与交换机几乎将100%输入功率转化为热量。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8119872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CRAH / CDU → chillers → cooling towers or dry coolers reject heat outside.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精密空调/CDU→冷机→冷却塔或干冷器将热量排至室外。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548640" y="4023360"/>
            <a:ext cx="11094415" cy="1920240"/>
          </a:xfrm>
          <a:prstGeom prst="rect">
            <a:avLst/>
          </a:prstGeom>
          <a:solidFill>
            <a:srgbClr val="F1F2FA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73152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DATA PATH  ·  数据路径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777240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677156"/>
            <a:ext cx="384048" cy="38404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271016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Carriers &amp; internet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运营商与互联网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2670048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2999232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90672" y="4677156"/>
            <a:ext cx="384048" cy="384048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3493008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Diverse fibre entries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分离光纤入口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892040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0" name="Shape 30"/>
          <p:cNvSpPr/>
          <p:nvPr/>
        </p:nvSpPr>
        <p:spPr>
          <a:xfrm>
            <a:off x="5221224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2664" y="4677156"/>
            <a:ext cx="384048" cy="384048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5715000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Meet-Me Room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运营商交汇间</a:t>
            </a:r>
            <a:endParaRPr lang="en-US" sz="1200" dirty="0"/>
          </a:p>
        </p:txBody>
      </p:sp>
      <p:sp>
        <p:nvSpPr>
          <p:cNvPr id="43" name="Shape 32"/>
          <p:cNvSpPr/>
          <p:nvPr/>
        </p:nvSpPr>
        <p:spPr>
          <a:xfrm>
            <a:off x="7114032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4" name="Shape 33"/>
          <p:cNvSpPr/>
          <p:nvPr/>
        </p:nvSpPr>
        <p:spPr>
          <a:xfrm>
            <a:off x="7443216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656" y="4677156"/>
            <a:ext cx="384048" cy="384048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7936992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Core / spine-leaf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核心/叶脊网络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9336024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8" name="Shape 36"/>
          <p:cNvSpPr/>
          <p:nvPr/>
        </p:nvSpPr>
        <p:spPr>
          <a:xfrm>
            <a:off x="9665208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56648" y="4677156"/>
            <a:ext cx="384048" cy="384048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10158984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Servers &amp; storage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服务器与存储</a:t>
            </a:r>
            <a:endParaRPr lang="en-US" sz="1200" dirty="0"/>
          </a:p>
        </p:txBody>
      </p:sp>
      <p:sp>
        <p:nvSpPr>
          <p:cNvPr id="51" name="Text 38"/>
          <p:cNvSpPr txBox="1"/>
          <p:nvPr/>
        </p:nvSpPr>
        <p:spPr>
          <a:xfrm>
            <a:off x="77724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B1D3A"/>
                </a:solidFill>
              </a:rPr>
              <a:t>Redundant paths everywhere: two power paths, N+1 cooling, two fibre routes.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处处冗余：双供电路径、N+1制冷、双光纤路由。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Five numbers that describe any data center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描述任何数据中心的五个关键数字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502920" cy="73152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IT load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IT负载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Design power for IT equipment — sets the size of everything else.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IT设备设计功率——决定其他一切的规模。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8892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17520" y="1874520"/>
            <a:ext cx="50292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7180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kW/rack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99008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Rack density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机柜功率密度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5–15 kW enterprise / cloud; 40–140 kW AI GPU racks.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企业/云5–15 kW；AI GPU机柜40–140 kW。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1874520"/>
            <a:ext cx="502920" cy="73152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1208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PUE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Power Usage Effectiveness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电能利用效率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Total ÷ IT energy. Global average ≈ 1.5; best ≈ 1.1.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总能耗÷IT能耗。全球平均约1.5；最佳约1.1。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6948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0" y="1874520"/>
            <a:ext cx="50292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5236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WUE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747064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Water Usage Effectiveness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水利用效率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7064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Litres of water per kWh of IT energy (0 – 2+).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每kWh IT能耗的用水量（0–2+升）。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50976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38360" y="1874520"/>
            <a:ext cx="502920" cy="73152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9264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99.982%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Availability (Tier III)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可用性（Tier III）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≈ 1.6 h/year of downtime — designed via redundancy.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每年约1.6小时停机——通过冗余设计实现。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Classification &amp; Tier Standards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分类与等级标准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By business model, by size and by resilience (Tier / Rated / Class).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按商业模式、按规模、按韧性（Tier / Rated / Class）分类。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Eight common types of data center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八种常见数据中心类型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81234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Enterprise (Owner-operated)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企业自建（自用）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Built and operated by one organisation for its own IT.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由单一机构为自身IT建设并运营。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1520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200 kW – 10 MW   |   5–12 kW/rack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5848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38728" y="1691640"/>
            <a:ext cx="502920" cy="50292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429" y="18123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33088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Retail Colocation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零售型托管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538728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Operator leases racks, cages and suites to many tenants; carrier-neutral interconnection is a key value.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运营商向众多租户出租机柜、笼位和包间；运营商中立的互联是核心价值。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538728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538728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 MW – 30 MW   |   6–15 kW/rack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163056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45936" y="169164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181234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Wholesale / Build-to-Suit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批发型 / 定制建设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6345936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Whole data halls or buildings leased to a single large tenant (often a cloud provider) on long terms.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整个机房或整栋楼长期租给单一大租户（通常为云服务商）。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6345936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345936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10 MW – 100 MW   |   10–25 kW/rack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8970264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153144" y="1691640"/>
            <a:ext cx="502920" cy="50292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3845" y="1812341"/>
            <a:ext cx="261518" cy="26151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747504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/ Cloud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 / 云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153144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Campus-scale facilities owned or leased by cloud and internet giants, highly standardised and efficient.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云与互联网巨头自有或租赁的园区级设施，高度标准化、高能效。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153144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9153144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30 MW – 500 MW   |   12–30 kW/rack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548640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31520" y="4087368"/>
            <a:ext cx="502920" cy="50292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4208069"/>
            <a:ext cx="261518" cy="26151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325880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AI Factory / HPC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AI算力中心 / 高性能计算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731520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GPU clusters for AI training and inference; 40–140 kW per rack, liquid cooling, very large single-site power.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用于AI训练和推理的GPU集群；单柜40–140 kW，液冷，单站点用电极大。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731520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31520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5 MW – 1 GW   |   40–140 kW/rack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3355848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3538728" y="4087368"/>
            <a:ext cx="502920" cy="50292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9429" y="4208069"/>
            <a:ext cx="261518" cy="261518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4133088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Edge / Micro Data Center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边缘 / 微型数据中心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3538728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Small sites close to users or devices for low latency (5G, CDN, IoT); often prefabricated.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靠近用户或设备的小型站点以降低时延（5G、CDN、物联网）；常为预制式。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3538728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3538728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50 kW – 2 MW   |   5–20 kW/rack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6163056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6345936" y="4087368"/>
            <a:ext cx="502920" cy="502920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6637" y="4208069"/>
            <a:ext cx="261518" cy="261518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6940296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Government / Sovereign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政府 / 主权数据中心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6345936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National or regional government facilities with data-sovereignty and high-security requirements.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具有数据主权及高安全要求的国家或地方政府设施。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6345936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6345936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1 MW – 50 MW   |   6–20 kW/rack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8970264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4" name="Shape 45"/>
          <p:cNvSpPr/>
          <p:nvPr/>
        </p:nvSpPr>
        <p:spPr>
          <a:xfrm>
            <a:off x="9153144" y="4087368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73845" y="4208069"/>
            <a:ext cx="261518" cy="261518"/>
          </a:xfrm>
          <a:prstGeom prst="rect">
            <a:avLst/>
          </a:prstGeom>
        </p:spPr>
      </p:pic>
      <p:sp>
        <p:nvSpPr>
          <p:cNvPr id="56" name="Text 46"/>
          <p:cNvSpPr txBox="1"/>
          <p:nvPr/>
        </p:nvSpPr>
        <p:spPr>
          <a:xfrm>
            <a:off x="9747504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Modular / Prefabricated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模块化 / 预制式</a:t>
            </a:r>
            <a:endParaRPr lang="en-US" sz="1300" dirty="0"/>
          </a:p>
        </p:txBody>
      </p:sp>
      <p:sp>
        <p:nvSpPr>
          <p:cNvPr id="57" name="Text 47"/>
          <p:cNvSpPr txBox="1"/>
          <p:nvPr/>
        </p:nvSpPr>
        <p:spPr>
          <a:xfrm>
            <a:off x="9153144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Factory-built power, cooling and IT modules assembled on site — faster delivery and phased growth.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在工厂预制电力、制冷与IT模块并在现场拼装——交付更快、可分期扩展。</a:t>
            </a:r>
            <a:endParaRPr lang="en-US" sz="1050" dirty="0"/>
          </a:p>
        </p:txBody>
      </p:sp>
      <p:sp>
        <p:nvSpPr>
          <p:cNvPr id="58" name="Shape 48"/>
          <p:cNvSpPr/>
          <p:nvPr/>
        </p:nvSpPr>
        <p:spPr>
          <a:xfrm>
            <a:off x="9153144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59" name="Text 49"/>
          <p:cNvSpPr txBox="1"/>
          <p:nvPr/>
        </p:nvSpPr>
        <p:spPr>
          <a:xfrm>
            <a:off x="9153144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200 kW – 20 MW   |   8–40 kW/rack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Size classes by IT load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按IT负载划分的规模等级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03504" y="3474720"/>
            <a:ext cx="1739341" cy="7315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" y="3547872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&lt; 0.5 MW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Micro / Edge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微型 / 边缘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≤ 100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≤ 100 个机柜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2573" y="3090672"/>
            <a:ext cx="1739341" cy="1115568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2573" y="3163824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0.5 – 2 MW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43429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Small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小型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443429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100 – 400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100 – 400 个机柜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01642" y="2706624"/>
            <a:ext cx="1739341" cy="1499616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01642" y="2779776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2 – 10 MW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2498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292498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400 – 1,500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400 – 1,500 个机柜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50712" y="2322576"/>
            <a:ext cx="1739341" cy="18836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50712" y="2395728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 – 30 MW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41568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Large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41568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1,500 – 4,000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1,500 – 4,000 个机柜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99781" y="1938528"/>
            <a:ext cx="1739341" cy="226771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99781" y="2011680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 – 100 MW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990637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building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超大规模单体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990637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4,000 – 10,000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4,000 – 10,000 个机柜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48850" y="1554480"/>
            <a:ext cx="1739341" cy="2651760"/>
          </a:xfrm>
          <a:prstGeom prst="rect">
            <a:avLst/>
          </a:prstGeom>
          <a:solidFill>
            <a:srgbClr val="312E8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48850" y="1627632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&gt; 100 MW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39706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/ AI campus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 / AI园区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39706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&gt; 10,000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&gt; 10,000 个机柜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B1D3A"/>
                </a:solidFill>
              </a:rPr>
              <a:t>Rack counts assume 5–10 kW per rack; AI racks at 100+ kW pack the same MW into far fewer racks and less floor area.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机柜数量按每柜5–10 kW估算；100 kW以上的AI机柜可用更少的机柜和更小的面积容纳同等MW。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Uptime Institute Tiers I–IV: resilience by design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Uptime Tier I–IV：通过设计实现韧性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310128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Basic Capacity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基本容量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9136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99.671%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28.8 h downtime / yr  年停机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663440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 · paths 1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 · 路径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5230368"/>
            <a:ext cx="233172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Single path, no redundant components. Any maintenance or failure causes an outage.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单一路径，无冗余组件。任何维护或故障都会导致停机。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2395728"/>
            <a:ext cx="2651760" cy="3776472"/>
          </a:xfrm>
          <a:prstGeom prst="roundRect">
            <a:avLst>
              <a:gd name="adj" fmla="val 2759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57016" y="2532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II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962656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Redundant Capacity Components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冗余容量组件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3566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99.741%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22.7 h downtime / yr  年停机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557016" y="4315968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N+1 · paths 1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N+1 · 路径 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557016" y="4882896"/>
            <a:ext cx="2331720" cy="11521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Redundant UPS, generators and chillers (N+1) on a single distribution path; path maintenance still needs shutdown.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UPS、发电机、冷机冗余（N+1），但为单一配电路径；路径维护仍需停机。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3056" y="2048256"/>
            <a:ext cx="2651760" cy="4123944"/>
          </a:xfrm>
          <a:prstGeom prst="roundRect">
            <a:avLst>
              <a:gd name="adj" fmla="val 2759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64224" y="21854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III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Concurrently Maintainable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可同时维护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32186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99.982%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1.6 h downtime / yr  年停机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364224" y="3968496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N+1 · paths 1 active + 1 alternate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N+1 · 路径 1 主用 + 1 备用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64224" y="4535424"/>
            <a:ext cx="2331720" cy="1499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Every component and distribution path can be removed for planned maintenance without impacting IT. Dual-corded IT; ≥ 12 h on-site fuel.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任一组件和配电路径均可在计划维护时退出而不影响IT。IT双电源；现场燃油≥12 h。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70264" y="1700784"/>
            <a:ext cx="2651760" cy="4471416"/>
          </a:xfrm>
          <a:prstGeom prst="roundRect">
            <a:avLst>
              <a:gd name="adj" fmla="val 2759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71432" y="18379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IV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171432" y="2267712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Fault Tolerant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容错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171432" y="287121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99.995%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26.3 min downtime / yr  年停机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171432" y="3621024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2N / 2(N+1) · paths 2 active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2N / 2(N+1) · 路径 2 主用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171432" y="4187952"/>
            <a:ext cx="2331720" cy="18470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Any single unplanned failure is tolerated automatically. Two simultaneously active paths, compartmentalisation and continuous cooling.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可自动承受任何单一非计划故障。两条同时运行的路径、物理分区隔离及连续制冷。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1417320"/>
            <a:ext cx="54864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Availability figures are the commonly cited Uptime benchmarks; real availability depends equally on operations.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可用性数值为常用的Uptime参考值；实际可用性同样取决于运维水平。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Redundancy explained: N, N+1, 2N, 2(N+1)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冗余释义：N、N+1、2N、2(N+1)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697480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2968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48456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1664208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Exactly the capacity needed. One failure = outage.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恰好满足需求的容量。任一故障即停机。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724912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N+1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2697480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72968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48456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23944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F3C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315200" y="2834640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One spare unit. Survives one component failure or maintenance.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一台备用。可承受一个组件故障或维护。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3895344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2N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2404872" y="41696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</a:rPr>
              <a:t>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697480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72968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48456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45152" y="41696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</a:rPr>
              <a:t>B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937760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13248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88736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0" y="4005072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Two complete, independent systems (A + B). Survives loss of a whole path.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两套完整独立系统（A+B）。可承受整路失效。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065776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065776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2(N+1)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2404872" y="5340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</a:rPr>
              <a:t>A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697480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2968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48456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23944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F3CBB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4645152" y="5340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</a:rPr>
              <a:t>B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13248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88736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64224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C6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7315200" y="5175504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Two independent systems, each with its own spare. Highest resilience.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两套独立系统，各自带备用。韧性最高。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concept, many standards: classification cross-reference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同一概念、多套标准：分级对照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645920"/>
                <a:gridCol w="1600200"/>
                <a:gridCol w="1600200"/>
                <a:gridCol w="1234440"/>
                <a:gridCol w="2270455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Uptime Institute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TIA-942-C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EN 50600 / ISO 22237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GB 50174 (China)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SNI 8799 (Indonesia)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BICSI 002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Design intent / 设计意图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 级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Basic, single path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基本，单路径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 级 (partial)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Redundant components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组件冗余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 级 / A 级 (partial)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Concurrently maintainable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可同时维护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IV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 级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IV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Fault tolerant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容错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72000"/>
            <a:ext cx="11094415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Mappings are approximate — each scheme has its own detailed criteria and certification process.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对照为近似关系——各体系有各自的详细准则和认证流程。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Uptime certifies Design, Constructed Facility and Operational Sustainability separately.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Uptime分别认证设计、建成设施和运营可持续性。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Chinese GB 50174 Class A broadly aligns with fault-tolerant design; SNI 8799 Strata IV requires 2N with automatic failover.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中国GB 50174 A级大致对应容错设计；SNI 8799 Strata IV要求2N及自动切换。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Key codes &amp; standards by discipline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各专业主要规范与标准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37360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690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459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Design &amp; topology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设计与拓扑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2219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Uptime Tier Standard · TIA-942-C · EN 50600 / ISO 22237 · BICSI 002 · GB 50174 · SNI 8799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53912" y="15087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73736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54" y="186903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68312" y="16459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Electrical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电气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068312" y="22219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IEC 62271 · IEC 61439 · IEC 60076 · IEC 62040 (UPS) · ISO 8528 (gensets) · IEC 62305 · NFPA 70/110 · PUIL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1089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3337560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46923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2461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Mechanical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暖通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ASHRAE TC 9.9 Thermal Guidelines · ASHRAE 90.4 · AHRI 550/590 · ASHRAE 127 · GB 50019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53912" y="31089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55080" y="3337560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754" y="34692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68312" y="32461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Fire &amp; life safety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消防与生命安全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NFPA 75 / 76 · NFPA 2001 · NFPA 72 / 13 · NFPA 855 (Li-ion) · GB 50370 · GB 50116 · SNI 03-3985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9808" y="493776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0694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63040" y="48463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IT &amp; cabling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IT与布线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463040" y="54223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TIA-568 · TIA-569 · TIA-606 · TIA-607 · ISO/IEC 11801 · GB 50311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153912" y="47091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355080" y="493776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754" y="50694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68312" y="48463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Energy &amp; sustainability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能效与可持续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7068312" y="54223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ISO/IEC 30134 (PUE, WUE, CUE) · ISO 50001 · GB 40879 (PUE grades) · EU EED reporting · SS 564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Spaces &amp; Layout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功能区与布局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White space hosts IT; grey space hosts the plant that keeps it alive.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白区承载IT；灰区承载维持其运行的设备。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Four zones of a data center facility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数据中心设施的四大区域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4F46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White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白区（IT空间）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Where IT equipment lives. Clean, secure, precisely cooled.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IT设备所在区域。洁净、安全、精密制冷。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Data hall / computer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数据机房 / 主机房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Entrance room / Meet-Me Room (MMR)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进线间 / 运营商交汇间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Main Distribution Area (MDA)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主配线区（MDA）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Horizontal / Zone Distribution Area (HDA/ZDA)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水平 / 区域配线区（HDA/ZDA）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Equipment Distribution Area (EDA) — rack rows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设备配线区（EDA）——机柜列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Customer cages &amp; suites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客户笼位及包间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55848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55848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850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8728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Grey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灰区（基础设施空间）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38728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Plant rooms housing power and cooling infrastructure that support the white space.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容纳支持白区的电力与制冷基础设施的设备间。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MV switchgear room / utility intake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中压开关室 / 市电进线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Transformer room / yard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变压器室 / 变压器场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LV switchboard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低压配电室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UPS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UPS室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Battery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电池室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Generator hall / yard &amp; fuel farm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发电机房 / 发电机场地及油库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63056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0891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45936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Support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支持区（辅助空间）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45936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Spaces for people, logistics and operations.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供人员、物流及运营使用的空间。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Network/Security Operations Center (NOC/SOC)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网络/安全运营中心（NOC/SOC）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Loading dock &amp; freight lift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装卸平台及货梯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Staging, build &amp; burn-in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设备预置、组装及老化测试间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Storage &amp; spare parts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库房及备品备件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Security control &amp; mantrap lobby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安保控制室及防尾随门厅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Offices, customer lounge, meeting rooms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办公室、客户休息区、会议室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70264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70264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53144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Site &amp; External Works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场地及室外工程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153144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Everything outside the building envelope.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建筑围护结构之外的一切。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107424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Perimeter fence, gatehouse &amp; vehicle barriers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周界围栏、门卫室及车辆拦阻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Utility substation (HV/MV)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变电站（高压/中压）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Diverse fibre duct banks &amp; manholes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分离光缆管群及人孔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Water storage &amp; treatment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储水及水处理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Roads, parking &amp; landscaping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道路、停车及景观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Future expansion land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未来扩建用地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Typical site plan of a Tier III campus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典型Tier III园区总平面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800600"/>
          </a:xfrm>
          <a:prstGeom prst="rect">
            <a:avLst/>
          </a:prstGeom>
          <a:solidFill>
            <a:srgbClr val="EEF7EE"/>
          </a:solidFill>
          <a:ln w="25400">
            <a:solidFill>
              <a:srgbClr val="16A34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2011680" y="2286000"/>
            <a:ext cx="2103120" cy="2377440"/>
          </a:xfrm>
          <a:prstGeom prst="rect">
            <a:avLst/>
          </a:prstGeom>
          <a:solidFill>
            <a:srgbClr val="3F3CB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57400" y="2304288"/>
            <a:ext cx="2011680" cy="2340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Data halls (white space)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数据机房（白区）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0" y="2286000"/>
            <a:ext cx="1188720" cy="1371600"/>
          </a:xfrm>
          <a:prstGeom prst="rect">
            <a:avLst/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60520" y="2304288"/>
            <a:ext cx="1097280" cy="1335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UPS &amp; LV rooms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UPS及低压室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0" y="3657600"/>
            <a:ext cx="1188720" cy="1005840"/>
          </a:xfrm>
          <a:prstGeom prst="rect">
            <a:avLst/>
          </a:prstGeom>
          <a:solidFill>
            <a:srgbClr val="0EA5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60520" y="3675888"/>
            <a:ext cx="1097280" cy="969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Chiller plant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冷站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4663440"/>
            <a:ext cx="3291840" cy="594360"/>
          </a:xfrm>
          <a:prstGeom prst="rect">
            <a:avLst/>
          </a:prstGeom>
          <a:solidFill>
            <a:srgbClr val="8B8F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4681728"/>
            <a:ext cx="32004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Support: NOC, loading dock, staging, offices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支持区：NOC、装卸平台、预置区、办公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23560" y="2286000"/>
            <a:ext cx="1051560" cy="2011680"/>
          </a:xfrm>
          <a:prstGeom prst="rect">
            <a:avLst/>
          </a:prstGeom>
          <a:solidFill>
            <a:srgbClr val="E69A1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2304288"/>
            <a:ext cx="960120" cy="1975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Generator yard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发电机场地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2286000"/>
            <a:ext cx="1005840" cy="914400"/>
          </a:xfrm>
          <a:prstGeom prst="rect">
            <a:avLst/>
          </a:prstGeom>
          <a:solidFill>
            <a:srgbClr val="C241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2304288"/>
            <a:ext cx="91440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Fuel farm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油库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23560" y="4434840"/>
            <a:ext cx="105156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4453128"/>
            <a:ext cx="96012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Cooling towers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冷却塔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12280" y="3337560"/>
            <a:ext cx="1005840" cy="960120"/>
          </a:xfrm>
          <a:prstGeom prst="rect">
            <a:avLst/>
          </a:prstGeom>
          <a:solidFill>
            <a:srgbClr val="1715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3355848"/>
            <a:ext cx="914400" cy="923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MV / HV substation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中/高压变电站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2286000"/>
            <a:ext cx="1097280" cy="1554480"/>
          </a:xfrm>
          <a:prstGeom prst="rect">
            <a:avLst/>
          </a:prstGeom>
          <a:solidFill>
            <a:srgbClr val="A3A6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2304288"/>
            <a:ext cx="1005840" cy="1517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Parking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停车场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5532120"/>
            <a:ext cx="914400" cy="548640"/>
          </a:xfrm>
          <a:prstGeom prst="rect">
            <a:avLst/>
          </a:prstGeom>
          <a:solidFill>
            <a:srgbClr val="F054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550408"/>
            <a:ext cx="82296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Gatehouse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门卫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23560" y="5486400"/>
            <a:ext cx="2194560" cy="594360"/>
          </a:xfrm>
          <a:prstGeom prst="rect">
            <a:avLst/>
          </a:prstGeom>
          <a:solidFill>
            <a:srgbClr val="B8E0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5504688"/>
            <a:ext cx="210312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Future expansion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预留扩建用地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691640" y="5623560"/>
            <a:ext cx="3840480" cy="365760"/>
          </a:xfrm>
          <a:prstGeom prst="rect">
            <a:avLst/>
          </a:prstGeom>
          <a:solidFill>
            <a:srgbClr val="D9DCE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691640" y="5623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Ring road / 环形道路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4360" y="1874520"/>
            <a:ext cx="7406640" cy="0"/>
          </a:xfrm>
          <a:prstGeom prst="line">
            <a:avLst/>
          </a:prstGeom>
          <a:noFill/>
          <a:ln w="15875">
            <a:solidFill>
              <a:srgbClr val="7C3AED"/>
            </a:solidFill>
            <a:prstDash val="sysDot"/>
          </a:ln>
        </p:spPr>
      </p:sp>
      <p:sp>
        <p:nvSpPr>
          <p:cNvPr id="30" name="Text 28"/>
          <p:cNvSpPr txBox="1"/>
          <p:nvPr/>
        </p:nvSpPr>
        <p:spPr>
          <a:xfrm>
            <a:off x="640080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</a:rPr>
              <a:t>Fibre route A / 光纤路由A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874520" y="1874520"/>
            <a:ext cx="0" cy="4343400"/>
          </a:xfrm>
          <a:prstGeom prst="line">
            <a:avLst/>
          </a:prstGeom>
          <a:noFill/>
          <a:ln w="15875">
            <a:solidFill>
              <a:srgbClr val="7C3AED"/>
            </a:solidFill>
            <a:prstDash val="sysDot"/>
          </a:ln>
        </p:spPr>
      </p:sp>
      <p:sp>
        <p:nvSpPr>
          <p:cNvPr id="32" name="Text 30"/>
          <p:cNvSpPr txBox="1"/>
          <p:nvPr/>
        </p:nvSpPr>
        <p:spPr>
          <a:xfrm>
            <a:off x="621792" y="52303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</a:rPr>
              <a:t>Route B / 路由B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754880" y="59710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6A34A"/>
                </a:solidFill>
              </a:rPr>
              <a:t>Security fence + PIDS / 安全围栏+入侵探测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1508760"/>
            <a:ext cx="3383280" cy="4754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Separate the generator exhaust from cooling and fresh-air intakes (prevailing wind).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发电机排气与冷却及新风进风口分开（考虑主导风向）。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Two diverse utility feeds and two fibre entry routes ≥ 20 m apart.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两路分离市电进线及两条相距≥20 m的光纤入口路由。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Plant yards sized for crane access and future equipment replacement.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设备场地满足吊车通道及未来设备更换。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Reserve land for phases; pre-build shared infrastructure.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为后续分期预留用地；共享基础设施预先建设。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Stand-off distance and anti-ram barriers at the perimeter.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周界设安全距离及防冲撞设施。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Inside the data hall: hot aisle / cold aisle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数据机房内部：热通道 / 冷通道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949440" cy="4663440"/>
          </a:xfrm>
          <a:prstGeom prst="rect">
            <a:avLst/>
          </a:prstGeom>
          <a:solidFill>
            <a:srgbClr val="F7F8FD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83080"/>
            <a:ext cx="411480" cy="4114800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411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Fan wall / CRAH  风墙/精密空调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0896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6304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1168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0624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5216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46304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1168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6032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0896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0624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0352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5216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63040" y="2395728"/>
            <a:ext cx="5449824" cy="713232"/>
          </a:xfrm>
          <a:prstGeom prst="rect">
            <a:avLst/>
          </a:prstGeom>
          <a:solidFill>
            <a:srgbClr val="BDEFFA">
              <a:alpha val="8000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463040" y="239572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490"/>
                </a:solidFill>
              </a:rPr>
              <a:t>COLD AISLE 22–27 °C   冷通道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463040" y="3493008"/>
            <a:ext cx="5449824" cy="713232"/>
          </a:xfrm>
          <a:prstGeom prst="rect">
            <a:avLst/>
          </a:prstGeom>
          <a:solidFill>
            <a:srgbClr val="FFD3D1">
              <a:alpha val="8000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463040" y="349300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18"/>
                </a:solidFill>
              </a:rPr>
              <a:t>HOT AISLE 35–45 °C (contained)   热通道（封闭）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463040" y="4590288"/>
            <a:ext cx="5449824" cy="713232"/>
          </a:xfrm>
          <a:prstGeom prst="rect">
            <a:avLst/>
          </a:prstGeom>
          <a:solidFill>
            <a:srgbClr val="BDEFFA">
              <a:alpha val="8000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463040" y="459028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490"/>
                </a:solidFill>
              </a:rPr>
              <a:t>COLD AISLE 22–27 °C   冷通道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097280" y="275234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97280" y="275234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097280" y="384962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97280" y="384962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463040" y="576986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Overhead busway &amp; fibre raceway above racks  ·  机柜上方：插接母线与光纤槽道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7772400" y="1508760"/>
            <a:ext cx="3886200" cy="4754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Racks face each other: fronts draw cold air, backs exhaust hot air.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机柜面对面布置：正面吸入冷风，背面排出热风。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Containment stops mixing — enabling warmer supply air and lower fan energy.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通道封闭防止混风——可提高送风温度、降低风机能耗。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Air cooling is practical to ≈ 25 kW/rack; above that use in-row, rear-door or liquid cooling.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风冷实际上限约25 kW/柜；更高密度采用列间、背板或液冷。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Typical pitch 2.4 m per row pair; ≈ 2.5–3.5 m² of white space per rack incl. circulation.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每对机柜列间距约2.4 m；含通道每柜约2.5–3.5 m²白区面积。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Telecom spaces &amp; cabling topology (TIA-942)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通信空间及布线拓扑（TIA-942）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508760"/>
            <a:ext cx="2194560" cy="731520"/>
          </a:xfrm>
          <a:prstGeom prst="roundRect">
            <a:avLst>
              <a:gd name="adj" fmla="val 8750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824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16736" y="1508760"/>
            <a:ext cx="16642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Carrier A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运营商A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657600" y="1508760"/>
            <a:ext cx="2194560" cy="731520"/>
          </a:xfrm>
          <a:prstGeom prst="roundRect">
            <a:avLst>
              <a:gd name="adj" fmla="val 8750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68249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151376" y="1508760"/>
            <a:ext cx="16642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Carrier B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运营商B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22960" y="269748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94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16736" y="269748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Entrance Room / MMR 1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进线间 / MMR 1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657600" y="269748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89407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51376" y="269748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Entrance Room / MMR 2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进线间 / MMR 2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2240280" y="388620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720" y="4082796"/>
            <a:ext cx="384048" cy="38404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734056" y="388620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Main Distribution Area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主配线区（MDA）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4864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48656"/>
            <a:ext cx="384048" cy="38404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4241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246888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5248656"/>
            <a:ext cx="384048" cy="384048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296265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438912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0560" y="5248656"/>
            <a:ext cx="384048" cy="384048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488289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1920240" y="2240280"/>
            <a:ext cx="91" cy="43891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9" name="Shape 19"/>
          <p:cNvSpPr/>
          <p:nvPr/>
        </p:nvSpPr>
        <p:spPr>
          <a:xfrm>
            <a:off x="4754880" y="2240280"/>
            <a:ext cx="91" cy="43891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0" name="Shape 20"/>
          <p:cNvSpPr/>
          <p:nvPr/>
        </p:nvSpPr>
        <p:spPr>
          <a:xfrm>
            <a:off x="1920240" y="3474720"/>
            <a:ext cx="10058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1" name="Shape 21"/>
          <p:cNvSpPr/>
          <p:nvPr/>
        </p:nvSpPr>
        <p:spPr>
          <a:xfrm flipH="1">
            <a:off x="3749040" y="3474720"/>
            <a:ext cx="10058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2" name="Shape 22"/>
          <p:cNvSpPr/>
          <p:nvPr/>
        </p:nvSpPr>
        <p:spPr>
          <a:xfrm flipH="1">
            <a:off x="1417320" y="4663440"/>
            <a:ext cx="19202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3" name="Shape 23"/>
          <p:cNvSpPr/>
          <p:nvPr/>
        </p:nvSpPr>
        <p:spPr>
          <a:xfrm>
            <a:off x="3337560" y="4663440"/>
            <a:ext cx="91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4" name="Shape 24"/>
          <p:cNvSpPr/>
          <p:nvPr/>
        </p:nvSpPr>
        <p:spPr>
          <a:xfrm>
            <a:off x="3337560" y="4663440"/>
            <a:ext cx="19202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5" name="Text 25"/>
          <p:cNvSpPr txBox="1"/>
          <p:nvPr/>
        </p:nvSpPr>
        <p:spPr>
          <a:xfrm>
            <a:off x="548640" y="587044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→ EDA: equipment racks (servers, storage)  设备配线区：设备机柜</a:t>
            </a:r>
            <a:endParaRPr lang="en-US" sz="1000" dirty="0"/>
          </a:p>
        </p:txBody>
      </p:sp>
      <p:sp>
        <p:nvSpPr>
          <p:cNvPr id="36" name="Text 26"/>
          <p:cNvSpPr txBox="1"/>
          <p:nvPr/>
        </p:nvSpPr>
        <p:spPr>
          <a:xfrm>
            <a:off x="6766560" y="1554480"/>
            <a:ext cx="4892040" cy="4663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Entrance Room / MMR: carriers terminate here; carrier-neutral sites offer many carriers and cross-connects.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进线间/MMR：运营商在此成端；运营商中立的场地可提供多家运营商及交叉连接。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MDA: core routers &amp; switches and the main cross-connect for the whole facility.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MDA：核心路由器、交换机及全设施主交叉连接。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HDA / ZDA: row- or zone-level distribution to the Equipment Distribution Areas (racks).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HDA/ZDA：列级或区域级配线，连接至设备配线区（机柜）。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Rated-3/4: two entrance rooms, diverse pathways and redundant backbone cabling.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Rated-3/4：两个进线间、分离路由及冗余主干布线。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Space planning rules of thumb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空间规划经验值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2.5–3.5 m²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311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White space per rack (incl. aisles)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每柜白区面积（含通道）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4.5–6 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2311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Clear height in data halls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机房净高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15–25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599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kN/m² floor load (AI up to 25)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kN/m²楼面荷载（AI可达25）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500–1,500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599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m² gross floor area per MW IT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每MW IT对应总建筑面积m²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74920"/>
            <a:ext cx="539496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Ratios vary with density, Tier and battery type: Tier IV roughly doubles electrical rooms; Li-ion batteries need ≈ 1/3 of VRLA space.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比例随密度、等级及电池类型变化：Tier IV电气房间约翻倍；锂电所需空间约为铅酸的1/3。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309360" y="1417320"/>
          <a:ext cx="53492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Electrical Power Systems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电气供配电系统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From the utility substation to the server power supply — with no single point of failure.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从变电站到服务器电源——无单点故障。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critical power chain (2N “A/B” example)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关键供电链（2N“A/B”示例）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1764792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Utility feed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市电进线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3867912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Utility feed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市电进线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1755648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1755648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1938528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584" y="176479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965960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MV switchgear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中压开关柜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1938528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584" y="38679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965960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MV switchgear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中压开关柜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3145536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145536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3328416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472" y="1764792"/>
            <a:ext cx="310896" cy="31089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3355848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Transformer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变压器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3328416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6472" y="3867912"/>
            <a:ext cx="310896" cy="31089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355848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Transformer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变压器</a:t>
            </a:r>
            <a:endParaRPr lang="en-US" sz="1050" dirty="0"/>
          </a:p>
        </p:txBody>
      </p:sp>
      <p:sp>
        <p:nvSpPr>
          <p:cNvPr id="26" name="Shape 18"/>
          <p:cNvSpPr/>
          <p:nvPr/>
        </p:nvSpPr>
        <p:spPr>
          <a:xfrm>
            <a:off x="4535424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4535424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8" name="Shape 20"/>
          <p:cNvSpPr/>
          <p:nvPr/>
        </p:nvSpPr>
        <p:spPr>
          <a:xfrm>
            <a:off x="4718304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764792"/>
            <a:ext cx="310896" cy="31089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745736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LV switchboard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低压配电柜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4718304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60" y="3867912"/>
            <a:ext cx="310896" cy="31089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745736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LV switchboard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低压配电柜</a:t>
            </a:r>
            <a:endParaRPr 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5925312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35" name="Shape 25"/>
          <p:cNvSpPr/>
          <p:nvPr/>
        </p:nvSpPr>
        <p:spPr>
          <a:xfrm>
            <a:off x="5925312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36" name="Shape 26"/>
          <p:cNvSpPr/>
          <p:nvPr/>
        </p:nvSpPr>
        <p:spPr>
          <a:xfrm>
            <a:off x="6108192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6248" y="1764792"/>
            <a:ext cx="310896" cy="310896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6135624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UPS + battery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UPS+电池</a:t>
            </a:r>
            <a:endParaRPr lang="en-US" sz="1050" dirty="0"/>
          </a:p>
        </p:txBody>
      </p:sp>
      <p:sp>
        <p:nvSpPr>
          <p:cNvPr id="39" name="Shape 28"/>
          <p:cNvSpPr/>
          <p:nvPr/>
        </p:nvSpPr>
        <p:spPr>
          <a:xfrm>
            <a:off x="6108192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6248" y="3867912"/>
            <a:ext cx="310896" cy="31089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6135624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UPS + battery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UPS+电池</a:t>
            </a:r>
            <a:endParaRPr lang="en-US" sz="1050" dirty="0"/>
          </a:p>
        </p:txBody>
      </p:sp>
      <p:sp>
        <p:nvSpPr>
          <p:cNvPr id="42" name="Shape 30"/>
          <p:cNvSpPr/>
          <p:nvPr/>
        </p:nvSpPr>
        <p:spPr>
          <a:xfrm>
            <a:off x="7315200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43" name="Shape 31"/>
          <p:cNvSpPr/>
          <p:nvPr/>
        </p:nvSpPr>
        <p:spPr>
          <a:xfrm>
            <a:off x="7315200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44" name="Shape 32"/>
          <p:cNvSpPr/>
          <p:nvPr/>
        </p:nvSpPr>
        <p:spPr>
          <a:xfrm>
            <a:off x="7498080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6136" y="1764792"/>
            <a:ext cx="310896" cy="310896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525512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PDU / busway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PDU / 母线</a:t>
            </a:r>
            <a:endParaRPr lang="en-US" sz="1050" dirty="0"/>
          </a:p>
        </p:txBody>
      </p:sp>
      <p:sp>
        <p:nvSpPr>
          <p:cNvPr id="47" name="Shape 34"/>
          <p:cNvSpPr/>
          <p:nvPr/>
        </p:nvSpPr>
        <p:spPr>
          <a:xfrm>
            <a:off x="7498080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46136" y="3867912"/>
            <a:ext cx="310896" cy="310896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525512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PDU / busway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PDU / 母线</a:t>
            </a:r>
            <a:endParaRPr lang="en-US" sz="1050" dirty="0"/>
          </a:p>
        </p:txBody>
      </p:sp>
      <p:sp>
        <p:nvSpPr>
          <p:cNvPr id="50" name="Shape 36"/>
          <p:cNvSpPr/>
          <p:nvPr/>
        </p:nvSpPr>
        <p:spPr>
          <a:xfrm>
            <a:off x="8705088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51" name="Shape 37"/>
          <p:cNvSpPr/>
          <p:nvPr/>
        </p:nvSpPr>
        <p:spPr>
          <a:xfrm>
            <a:off x="8705088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2" name="Shape 38"/>
          <p:cNvSpPr/>
          <p:nvPr/>
        </p:nvSpPr>
        <p:spPr>
          <a:xfrm>
            <a:off x="8887968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36024" y="1764792"/>
            <a:ext cx="310896" cy="310896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8915400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Rack PDU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机架PDU</a:t>
            </a:r>
            <a:endParaRPr lang="en-US" sz="1050" dirty="0"/>
          </a:p>
        </p:txBody>
      </p:sp>
      <p:sp>
        <p:nvSpPr>
          <p:cNvPr id="55" name="Shape 40"/>
          <p:cNvSpPr/>
          <p:nvPr/>
        </p:nvSpPr>
        <p:spPr>
          <a:xfrm>
            <a:off x="8887968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36024" y="3867912"/>
            <a:ext cx="310896" cy="310896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915400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Rack PDU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机架PDU</a:t>
            </a:r>
            <a:endParaRPr lang="en-US" sz="1050" dirty="0"/>
          </a:p>
        </p:txBody>
      </p:sp>
      <p:sp>
        <p:nvSpPr>
          <p:cNvPr id="58" name="Shape 42"/>
          <p:cNvSpPr/>
          <p:nvPr/>
        </p:nvSpPr>
        <p:spPr>
          <a:xfrm>
            <a:off x="548640" y="13533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59" name="Text 43"/>
          <p:cNvSpPr txBox="1"/>
          <p:nvPr/>
        </p:nvSpPr>
        <p:spPr>
          <a:xfrm>
            <a:off x="548640" y="1353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PATH A</a:t>
            </a:r>
            <a:endParaRPr lang="en-US" sz="1000" dirty="0"/>
          </a:p>
        </p:txBody>
      </p:sp>
      <p:sp>
        <p:nvSpPr>
          <p:cNvPr id="60" name="Shape 44"/>
          <p:cNvSpPr/>
          <p:nvPr/>
        </p:nvSpPr>
        <p:spPr>
          <a:xfrm>
            <a:off x="548640" y="34564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61" name="Text 45"/>
          <p:cNvSpPr txBox="1"/>
          <p:nvPr/>
        </p:nvSpPr>
        <p:spPr>
          <a:xfrm>
            <a:off x="54864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PATH B</a:t>
            </a:r>
            <a:endParaRPr lang="en-US" sz="1000" dirty="0"/>
          </a:p>
        </p:txBody>
      </p:sp>
      <p:sp>
        <p:nvSpPr>
          <p:cNvPr id="62" name="Shape 46"/>
          <p:cNvSpPr/>
          <p:nvPr/>
        </p:nvSpPr>
        <p:spPr>
          <a:xfrm>
            <a:off x="4626864" y="2743200"/>
            <a:ext cx="1389888" cy="685800"/>
          </a:xfrm>
          <a:prstGeom prst="roundRect">
            <a:avLst>
              <a:gd name="adj" fmla="val 9333"/>
            </a:avLst>
          </a:prstGeom>
          <a:solidFill>
            <a:srgbClr val="F2A93B"/>
          </a:solidFill>
          <a:ln/>
        </p:spPr>
      </p:sp>
      <p:pic>
        <p:nvPicPr>
          <p:cNvPr id="6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18304" y="2897505"/>
            <a:ext cx="377190" cy="377190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5113782" y="2743200"/>
            <a:ext cx="866394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Generators + ATS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17153F"/>
                </a:solidFill>
              </a:rPr>
              <a:t>发电机+ATS</a:t>
            </a:r>
            <a:endParaRPr lang="en-US" sz="1000" dirty="0"/>
          </a:p>
        </p:txBody>
      </p:sp>
      <p:sp>
        <p:nvSpPr>
          <p:cNvPr id="65" name="Shape 48"/>
          <p:cNvSpPr/>
          <p:nvPr/>
        </p:nvSpPr>
        <p:spPr>
          <a:xfrm flipV="1">
            <a:off x="5321808" y="2624328"/>
            <a:ext cx="91" cy="118872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66" name="Shape 49"/>
          <p:cNvSpPr/>
          <p:nvPr/>
        </p:nvSpPr>
        <p:spPr>
          <a:xfrm>
            <a:off x="5321808" y="3429000"/>
            <a:ext cx="91" cy="347472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67" name="Shape 50"/>
          <p:cNvSpPr/>
          <p:nvPr/>
        </p:nvSpPr>
        <p:spPr>
          <a:xfrm>
            <a:off x="10323576" y="2423160"/>
            <a:ext cx="1188720" cy="1508760"/>
          </a:xfrm>
          <a:prstGeom prst="roundRect">
            <a:avLst>
              <a:gd name="adj" fmla="val 5385"/>
            </a:avLst>
          </a:prstGeom>
          <a:solidFill>
            <a:srgbClr val="17153F"/>
          </a:solidFill>
          <a:ln/>
        </p:spPr>
      </p:sp>
      <p:sp>
        <p:nvSpPr>
          <p:cNvPr id="68" name="Text 51"/>
          <p:cNvSpPr txBox="1"/>
          <p:nvPr/>
        </p:nvSpPr>
        <p:spPr>
          <a:xfrm>
            <a:off x="10323576" y="2423160"/>
            <a:ext cx="1188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Dual-corded server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双电源服务器</a:t>
            </a:r>
            <a:endParaRPr lang="en-US" sz="1100" dirty="0"/>
          </a:p>
        </p:txBody>
      </p:sp>
      <p:sp>
        <p:nvSpPr>
          <p:cNvPr id="69" name="Shape 52"/>
          <p:cNvSpPr/>
          <p:nvPr/>
        </p:nvSpPr>
        <p:spPr>
          <a:xfrm>
            <a:off x="10094976" y="2148840"/>
            <a:ext cx="822960" cy="256032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70" name="Shape 53"/>
          <p:cNvSpPr/>
          <p:nvPr/>
        </p:nvSpPr>
        <p:spPr>
          <a:xfrm flipV="1">
            <a:off x="10094976" y="3950208"/>
            <a:ext cx="822960" cy="301752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71" name="Text 54"/>
          <p:cNvSpPr txBox="1"/>
          <p:nvPr/>
        </p:nvSpPr>
        <p:spPr>
          <a:xfrm>
            <a:off x="548640" y="4892040"/>
            <a:ext cx="11094415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20 kV / 150 kV utility (PLN) — two feeds recommended for Tier III/IV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20 kV / 150 kV市电（PLN）——Tier III/IV建议双路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2,500 kVA dry-type, Dyn11, 20/0.4 kV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2,500 kVA干式变压器，Dyn11，20/0.4 kV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UPS bridges 10–60 s until generators carry the load; 5–10 min batteries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UPS在发电机接带前桥接10–60 s；电池5–10 min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component can be maintained (Tier III) or fail (Tier IV) without dropping IT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任一组件可维护（Tier III）或故障（Tier IV）而不影响IT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Major electrical equipment (1/2): MV, transformers, generators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主要电气设备（1/2）：中压、变压器、发电机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8800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Medium Voltage Switchgear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中压开关柜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Metal-clad, withdrawable VCB, 12 / 24 / 40.5 kV, 630–2500 A busbar, 25–31.5 kA. AIS or GIS where space is limited.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金属铠装、手车式真空断路器，12 / 24 / 40.5 kV，母线630–2500 A，25–31.5 kA；空间受限时采用GIS。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Switchgear shall be metal-enclosed, LSC2B-PM, with internal arc classification IAC AFLR and withdrawable vacuum circuit breakers.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开关柜应为金属封闭型，运行连续性等级LSC2B-PM，内部燃弧等级IAC AFLR，配手车式真空断路器。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Double incoming feeders with bus-section (bus-coupler) breaker and automatic changeover shall be provided for Tier III/IV designs.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Tier III/IV设计应设双路进线及母联断路器，并具备自动切换功能。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0248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98848" y="173736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494" y="1880006"/>
            <a:ext cx="309067" cy="309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30368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MV/LV Power Transformer (Cast-Resin Dry-Type)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中压/低压电力变压器（环氧树脂浇注干式）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498848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1,600 – 3,150 kVA per unit (2,500 kVA most common); one transformer per “block” of ~1.5–2 MW facility load.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单台1,600–3,150 kVA（以2,500 kVA最常见）；每台对应约1.5–2 MW设施负荷的一个“供电模块”。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453128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Indoor cast-resin, class F insulation (temperature rise limited to class B or 100 K) with E2-C2-F1 climatic/environmental/fire class.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户内环氧树脂浇注干式，F级绝缘（温升按B级或100 K考核），环境/气候/燃烧等级E2-C2-F1。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Losses shall comply with EU Ecodesign Tier 2 / GB 20052 energy efficiency grade 2 or better.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损耗应满足欧盟Ecodesign Tier 2或GB 20052二级能效及以上。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991856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0456" y="173736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102" y="188000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51976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Diesel Generator Set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柴油发电机组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220456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1,500 – 3,250 kVA per unit (2.0–2.5 MWe typical) at 400 V LV or 11/20 kV MV, containerised or in a generator hall.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单台1,500–3,250 kVA（典型2.0–2.5 MWe），低压400 V或中压11/20 kV，集装箱式或机房式。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174736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Rating shall be Continuous (COP) or Data Center Continuous (DCC) with no annual run-hour limit at site conditions to satisfy Tier III/IV.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为满足Tier III/IV，额定功率应为持续功率（COP）或数据中心持续功率（DCC），在现场条件下无年运行小时限制。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Start, synchronise and accept load within 10–15 s; single-step load acceptance per ISO 8528-5 performance class G3.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10–15 s内完成启动、同步并接带负荷；突加负荷性能满足ISO 8528-5 G3级。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Major electrical equipment (2/2): UPS &amp; batteries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主要电气设备（2/2）：UPS与电池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12064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8800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91640"/>
            <a:ext cx="39319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Static UPS — double conversion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静态UPS——双变换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14600"/>
            <a:ext cx="466344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Modular or monolithic double-conversion, 500–1,600 kW per system (modules 50–250 kW), 400/415 V, efficiency 96–97% (99% eco).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模块化或塔式双变换，单系统500–1,600 kW（模块50–250 kW），400/415 V，效率96–97%（ECO模式99%）。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520440"/>
            <a:ext cx="480060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Double conversion isolates IT from every grid disturbance (VFI-SS-111).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双变换将IT与电网扰动完全隔离（VFI-SS-111）。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Eco-mode raises efficiency to ≈ 99% but with less isolation.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ECO模式效率约99%，但隔离程度降低。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Rotary / DRUPS (flywheel + diesel) is an alternative with no batteries.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旋转式/柴油动态UPS（飞轮+柴油机）是无电池的替代方案。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Modular frames let capacity grow in 50–250 kW steps.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模块化机架可按50–250 kW逐步扩容。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508760"/>
          <a:ext cx="574243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28216"/>
                <a:gridCol w="2093976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Battery comparison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电池对比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VRLA lead-acid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阀控铅酸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Li-ion (LFP)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锂电（磷酸铁锂）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Design life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设计寿命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– 10 yrs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12 – 15 yrs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Footprint &amp; weight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占地与重量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≈ 30–40%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Room temperature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室温要求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20–25 °C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18–30 °C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Initial cost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初投资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</a:rPr>
                        <a:t>Lower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较低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Higher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较高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Monitoring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监测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Per-block (optional)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按单体（可选）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Built-in BMS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内置BMS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Fire risk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火灾风险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Hydrogen venting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需排氢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42318"/>
                          </a:solidFill>
                        </a:rPr>
                        <a:t>Thermal runaway — NFPA 855, UL 9540A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热失控——NFPA 855、UL 9540A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Getting power to the rack — and sizing the plant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电力送达机柜——以及设备容量估算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91711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81912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Floor PDU / RPP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落地PDU / RPP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108960" y="1581912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150–400 kVA cabinets with branch breakers; under-floor or overhead cables. Best ≤ 10 kW/rack.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150–400 kVA配电柜带分支断路器；地板下或上走线电缆。适合≤10 kW/柜。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715768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962656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83" y="309871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2788920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Overhead busway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上走线插接母线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108960" y="2788920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400–800 A plug-in busbar per row, A + B; tap-off boxes per rack. Flexible for growth.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每列400–800 A插接母线，A+B双路；每柜插接箱。便于扩展。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922776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4169664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30572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995928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Rack PDU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机架PDU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108960" y="3995928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1-ph 32 A (7.4 kW) · 3-ph 32 A (22 kW) · 3-ph 63 A (43 kW); two per rack (A/B).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单相32 A（7.4 kW）·三相32 A（22 kW）·三相63 A（43 kW）；每柜两条（A/B）。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812280" y="1508760"/>
            <a:ext cx="4828032" cy="4754880"/>
          </a:xfrm>
          <a:prstGeom prst="roundRect">
            <a:avLst>
              <a:gd name="adj" fmla="val 1538"/>
            </a:avLst>
          </a:prstGeom>
          <a:solidFill>
            <a:srgbClr val="17153F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7040880" y="1645920"/>
            <a:ext cx="4389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Quick sizing rules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DEFFA"/>
                </a:solidFill>
              </a:rPr>
              <a:t>快速估算规则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995160" y="2331720"/>
            <a:ext cx="4526280" cy="3840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Facility demand ≈ IT × design-day PUE (+ battery recharge)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设施需量 ≈ IT × 设计日PUE（+电池充电）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Utility MVA ≈ facility kW ÷ 0.95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市电MVA ≈ 设施kW ÷ 0.95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Transformers: one 2,500 kVA per ≈ 2 MW facility load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变压器：每约2 MW设施负荷配一台2,500 kVA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Generators: (facility kW ÷ unit kW) + redundancy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发电机：（设施kW÷单机kW）+冗余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Diesel ≈ 0.27 L per kWh — 10 MW for 24 h ≈ 65 m³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柴油约0.27 L/kWh——10 MW运行24 h约65 m³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Battery kWh ≈ UPS kW × minutes ÷ 60 × 1.3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电池kWh ≈ UPS kW × 分钟数 ÷ 60 × 1.3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166360"/>
            <a:ext cx="60350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6B6F8A"/>
                </a:solidFill>
              </a:rPr>
              <a:t>Earthing ≤ 1 Ω with mesh bonding, LPL I/II lightning protection and coordinated SPDs complete the electrical system.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接地≤1 Ω并网状等电位联结，I/II级防雷及多级SPD配合，构成完整电气系统。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Mechanical &amp; Cooling Systems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暖通与制冷系统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Every watt of IT becomes heat — cooling is the largest non-IT energy user.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IT的每一瓦都变成热量——制冷是最大的非IT能耗。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Following the heat: from chip to atmosphere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热量路径：从芯片到大气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777240" cy="7772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01533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Chip &amp; server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芯片与服务器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IT power → heat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IT电力→热量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687068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459736" y="1828800"/>
            <a:ext cx="777240" cy="7772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274" y="201533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93976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Hot aisle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热通道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093976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35–45 °C air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35–45 °C空气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278124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050792" y="18288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330" y="201533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85032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CRAH / fan wall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精密空调/风墙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685032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Coil 18/26 °C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盘管18/26 °C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869180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641848" y="1828800"/>
            <a:ext cx="777240" cy="7772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8386" y="2015338"/>
            <a:ext cx="404165" cy="4041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76088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Chilled water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冷冻水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276088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18 °C supply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18 °C供水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460236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232904" y="1828800"/>
            <a:ext cx="777240" cy="7772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9442" y="2015338"/>
            <a:ext cx="404165" cy="40416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67144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Chiller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冷水机组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6867144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COP 6–7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COP 6–7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8051292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8823960" y="1828800"/>
            <a:ext cx="777240" cy="7772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0498" y="2015338"/>
            <a:ext cx="404165" cy="40416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58200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Condenser water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冷却水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8458200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32 / 37 °C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32 / 37 °C</a:t>
            </a:r>
            <a:endParaRPr lang="en-US" sz="1050" dirty="0"/>
          </a:p>
        </p:txBody>
      </p:sp>
      <p:sp>
        <p:nvSpPr>
          <p:cNvPr id="33" name="Shape 25"/>
          <p:cNvSpPr/>
          <p:nvPr/>
        </p:nvSpPr>
        <p:spPr>
          <a:xfrm>
            <a:off x="9642348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4" name="Shape 26"/>
          <p:cNvSpPr/>
          <p:nvPr/>
        </p:nvSpPr>
        <p:spPr>
          <a:xfrm>
            <a:off x="10415016" y="1828800"/>
            <a:ext cx="777240" cy="7772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1554" y="2015338"/>
            <a:ext cx="404165" cy="40416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0049256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Cooling tower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冷却塔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10049256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Evaporation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蒸发散热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548640" y="4160520"/>
            <a:ext cx="11094415" cy="2057400"/>
          </a:xfrm>
          <a:prstGeom prst="roundRect">
            <a:avLst>
              <a:gd name="adj" fmla="val 3556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9" name="Text 30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Raising supply temperatures (ASHRAE 18–27 °C inlet, 18–20 °C chilled water) saves chiller energy and unlocks free cooling.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提高送风/供水温度（ASHRAE进风18–27 °C、冷冻水18–20 °C）可节省冷机能耗并实现自然冷却。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In tropical climates (wet-bulb ≈ 28 °C) free cooling is rare — efficient water-cooled chillers or liquid cooling matter most.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热带气候（湿球约28 °C）几乎无自然冷却——高效水冷冷机或液冷最为关键。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Air-cooled chillers or dry coolers avoid evaporative water use where water is scarce.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缺水地区可采用风冷冷机或干冷器以避免蒸发耗水。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Choosing cooling by rack density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按机柜密度选择制冷方式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84048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56616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12064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0664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75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96112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24128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6696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125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712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150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5760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kW per rack  每柜千瓦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1655064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DX precision AC (CRAC)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直膨式精密空调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994099" y="1764792"/>
            <a:ext cx="358445" cy="384048"/>
          </a:xfrm>
          <a:prstGeom prst="roundRect">
            <a:avLst>
              <a:gd name="adj" fmla="val 53571"/>
            </a:avLst>
          </a:prstGeom>
          <a:solidFill>
            <a:srgbClr val="6B6F8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25696" y="176479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3A"/>
                </a:solidFill>
              </a:rPr>
              <a:t>3–10 kW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276856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CRAH / fan wall + containment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冷冻水精密空调/风墙+封闭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96512" y="2386584"/>
            <a:ext cx="1024128" cy="384048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96512" y="23865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5–25 kW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898648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In-row cooling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列间空调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08576" y="3008376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08576" y="300837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15–40 kW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520440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Rear-door heat exchanger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背板热交换器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864608" y="3630168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64608" y="3630168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20–75 kW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142232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Direct-to-chip liquid (cold plate)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冷板式液冷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888736" y="4251960"/>
            <a:ext cx="5632704" cy="384048"/>
          </a:xfrm>
          <a:prstGeom prst="roundRect">
            <a:avLst>
              <a:gd name="adj" fmla="val 50000"/>
            </a:avLst>
          </a:prstGeom>
          <a:solidFill>
            <a:srgbClr val="F054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888736" y="4251960"/>
            <a:ext cx="5632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40–150+ kW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764024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Immersion cooling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浸没式液冷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0" y="4873752"/>
            <a:ext cx="5120640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00800" y="4873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50–150+ kW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888736" y="1600200"/>
            <a:ext cx="5632704" cy="3886200"/>
          </a:xfrm>
          <a:prstGeom prst="rect">
            <a:avLst/>
          </a:prstGeom>
          <a:solidFill>
            <a:srgbClr val="F0544F">
              <a:alpha val="800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88736" y="132588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18"/>
                </a:solidFill>
              </a:rPr>
              <a:t>AI / GPU zone  AI/GPU区间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Ranges are practical design envelopes; hybrid designs combine liquid for GPUs with air for the residual 10–25% of heat.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范围为实际设计区间；混合方案以液冷处理GPU热量，以风冷处理剩余10–25%热量。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Central cooling plant &amp; heat rejection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中央冷站与散热设备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9928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4160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18488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Water-Cooled Centrifugal Chiller (Oil-Free Magnetic Bearing)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水冷离心式冷水机组（无油磁悬浮）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04872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Produces chilled water for CRAHs/fan walls by rejecting heat to condenser water and cooling towers. Highest efficiency option for large plants in hot-humid climates.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为精密空调/风墙制取冷冻水，并通过冷却水和冷却塔排热。是湿热地区大型冷站效率最高的方案。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46120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500 – 1,500 RT (1.75 – 5.3 MW) per unit; elevated chilled water 16–20 °C supply for data centres; N+1 or 2N.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53912" y="150876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55080" y="1709928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54" y="1841602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68312" y="1618488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Air-Cooled Chiller with Integrated Free Cooling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风冷冷水机组（带集成自然冷却）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2404872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Produces chilled water rejecting heat directly to air (no cooling tower, no evaporative water). Integrated free-cooling coils use cool ambient air when available.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直接向空气排热制取冷冻水（无冷却塔、无蒸发耗水）；环境温度低时由集成自然冷却盘管利用室外冷空气。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382512" y="3246120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300 – 2,000 kW per unit; screw or centrifugal compressor; roof or yard mounted.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48640" y="390448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49808" y="4105656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4237330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4014216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Cooling Tower (Induced-Draft)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冷却塔（机械引风式）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777240" y="4800600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Rejects condenser heat to atmosphere by evaporation; the main consumer of water in a water-cooled plant.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通过蒸发将冷凝热排至大气；是水冷冷站的主要耗水设备。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777240" y="5641848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Modular FRP/steel cells 1,000–2,500 RT each; design wet-bulb 28 °C (tropical), approach 3–4 K.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153912" y="390448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55080" y="4105656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754" y="4237330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068312" y="4014216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Thermal Energy Storage (Chilled-Water Buffer Tank)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蓄冷罐（冷冻水缓冲罐）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6382512" y="4800600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Provides continuous cooling during chiller restart after a power interruption (ride-through) and stabilises the plant.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在断电后冷机重启期间提供连续制冷（穿越），并稳定冷站运行。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6382512" y="5641848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Stratified steel tank sized for 10–15 min of full cooling load.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Liquid cooling for AI: the CDU and two loops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AI液冷：CDU与两个环路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011680" cy="1097280"/>
          </a:xfrm>
          <a:prstGeom prst="roundRect">
            <a:avLst>
              <a:gd name="adj" fmla="val 5833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682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011680"/>
            <a:ext cx="148132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Heat rejection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散热设备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Dry coolers / towers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干冷器 / 冷却塔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91840" y="2011680"/>
            <a:ext cx="2194560" cy="1097280"/>
          </a:xfrm>
          <a:prstGeom prst="roundRect">
            <a:avLst>
              <a:gd name="adj" fmla="val 5833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36829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85616" y="2011680"/>
            <a:ext cx="166420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CDU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冷量分配单元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3154680"/>
            <a:ext cx="21945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Heat exchanger, pumps N+1, filters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换热器、N+1水泵、过滤器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766560" y="1600200"/>
            <a:ext cx="1554480" cy="3291840"/>
          </a:xfrm>
          <a:prstGeom prst="roundRect">
            <a:avLst>
              <a:gd name="adj" fmla="val 2941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903720" y="1783080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60920" y="1856232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5" name="Shape 11"/>
          <p:cNvSpPr/>
          <p:nvPr/>
        </p:nvSpPr>
        <p:spPr>
          <a:xfrm>
            <a:off x="6903720" y="2203704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2276856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7" name="Shape 13"/>
          <p:cNvSpPr/>
          <p:nvPr/>
        </p:nvSpPr>
        <p:spPr>
          <a:xfrm>
            <a:off x="6903720" y="2624328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60920" y="2697480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9" name="Shape 15"/>
          <p:cNvSpPr/>
          <p:nvPr/>
        </p:nvSpPr>
        <p:spPr>
          <a:xfrm>
            <a:off x="6903720" y="3044952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60920" y="3118104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1" name="Shape 17"/>
          <p:cNvSpPr/>
          <p:nvPr/>
        </p:nvSpPr>
        <p:spPr>
          <a:xfrm>
            <a:off x="6903720" y="3465576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0920" y="3538728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3" name="Shape 19"/>
          <p:cNvSpPr/>
          <p:nvPr/>
        </p:nvSpPr>
        <p:spPr>
          <a:xfrm>
            <a:off x="6903720" y="3886200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60920" y="3959352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5" name="Shape 21"/>
          <p:cNvSpPr/>
          <p:nvPr/>
        </p:nvSpPr>
        <p:spPr>
          <a:xfrm>
            <a:off x="6903720" y="4306824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60920" y="4379976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58368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D3A"/>
                </a:solidFill>
              </a:rPr>
              <a:t>GPU rack ≈ 130 kW  GPU机柜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578608" y="2377440"/>
            <a:ext cx="694944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 flipH="1">
            <a:off x="2578608" y="2743200"/>
            <a:ext cx="694944" cy="91"/>
          </a:xfrm>
          <a:prstGeom prst="line">
            <a:avLst/>
          </a:prstGeom>
          <a:noFill/>
          <a:ln w="31750">
            <a:solidFill>
              <a:srgbClr val="F0544F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504688" y="2377440"/>
            <a:ext cx="1243584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 flipH="1">
            <a:off x="5504688" y="2743200"/>
            <a:ext cx="1243584" cy="91"/>
          </a:xfrm>
          <a:prstGeom prst="line">
            <a:avLst/>
          </a:prstGeom>
          <a:noFill/>
          <a:ln w="31750">
            <a:solidFill>
              <a:srgbClr val="F0544F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777240" y="15087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777240" y="1508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FWS loop 设施水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5394960" y="15087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539496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TCS loop 技术冷却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3886200"/>
            <a:ext cx="585216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Cold-plate manifolds and quick disconnects on every server; 75–90% of heat to liquid at 30–45 °C.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每台服务器配冷板分液器及快插接头；75–90%热量以30–45 °C液体带走。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8732520" y="1508760"/>
            <a:ext cx="2907792" cy="4754880"/>
          </a:xfrm>
          <a:prstGeom prst="roundRect">
            <a:avLst>
              <a:gd name="adj" fmla="val 2516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8915400" y="1645920"/>
            <a:ext cx="25603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Why liquid?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为什么用液冷？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8869680" y="2286000"/>
            <a:ext cx="2697480" cy="3931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Water carries ≈ 3,500× more heat per volume than air.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单位体积水的携热量约为空气的3,500倍。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Warm-water loops cut or remove chiller energy (PUE ≈ 1.1–1.25).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温水环路减少或取消冷机能耗（PUE约1.1–1.25）。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Immersion submerges servers in dielectric fluid — up to 200 kW per tank.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浸没式将服务器浸入绝缘液——每槽可达200 kW。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Needs leak detection, coolant quality control and heavier floors.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需漏液检测、冷却液品质控制及更高楼面荷载。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4800600"/>
            <a:ext cx="585216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ASHRAE liquid-cooling classes W17 → W45+ define facility water temperatures.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ASHRAE液冷等级W17→W45+定义设施水温。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Keep the TCS above dew point; N+1 CDUs per hall; A/B power to CDUs.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TCS温度保持在露点以上；每个机房CDU N+1；CDU采用A/B供电。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warm can servers run? ASHRAE thermal classes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服务器能承受多高温度？ASHRAE温度等级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4231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0 °C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1188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 °C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8056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6052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10 °C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15 °C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20 °C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866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25 °C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5528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3524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30 °C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82396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35 °C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69264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7260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40 °C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56132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45 °C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4300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1099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50 °C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164592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Recommended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推荐范围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870448" y="1719072"/>
            <a:ext cx="1563624" cy="402336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70448" y="1719072"/>
            <a:ext cx="1563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18 – 27 °C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A1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A1级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49240" y="2359152"/>
            <a:ext cx="2953512" cy="402336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49240" y="2359152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– 32 °C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A2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A2级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480560" y="2999232"/>
            <a:ext cx="4343400" cy="402336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480560" y="29992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 – 35 °C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A3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A3级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11880" y="3639312"/>
            <a:ext cx="6080760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11880" y="3639312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 – 40 °C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420624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A4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A4级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11880" y="4279392"/>
            <a:ext cx="6949440" cy="402336"/>
          </a:xfrm>
          <a:prstGeom prst="roundRect">
            <a:avLst>
              <a:gd name="adj" fmla="val 50000"/>
            </a:avLst>
          </a:prstGeom>
          <a:solidFill>
            <a:srgbClr val="6B6F8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611880" y="4279392"/>
            <a:ext cx="6949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 – 45 °C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84632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H1 (high density)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H1级（高密度）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349240" y="4919472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0544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349240" y="491947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– 25 °C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806440"/>
            <a:ext cx="11094415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Server inlet air temperature. Recommended envelope for long-term reliability; allowable classes for short excursions per the equipment class. H1 (recommended 18–22 °C) applies to some high-density equipment — confirm with the IT vendor.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服务器进风温度。推荐范围用于长期可靠运行；允许范围依设备等级适用于短期偏离。H1（推荐18–22 °C）适用于部分高密度设备——需与IT厂商确认。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Measuring efficiency: what makes up PUE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能效衡量：PUE的构成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72237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92440" y="1508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PUE = Total ÷ IT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093976"/>
            <a:ext cx="35661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Total facility energy divided by IT energy (ISO/IEC 30134-2).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设施总能耗除以IT能耗（ISO/IEC 30134-2）。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880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≈ 1.5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3648456"/>
            <a:ext cx="35661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Global average reported by operators — flat for years (Uptime survey).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运营商报告的全球平均值——多年持平（Uptime调查）。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43891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≤ 1.2 / 1.3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5157216"/>
            <a:ext cx="35661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China GB 40879 PUE grade 1 / grade 2 limits.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中国GB 40879 PUE一级/二级限值。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IT &amp; Network Infrastructure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IT与网络基础设施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Racks, containment, cabling and connectivity — the physical home of compute.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机柜、通道封闭、布线与网络连接——计算设备的物理家园。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server rack: the basic unit of the white space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服务器机柜：白区的基本单元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97280" y="1508760"/>
            <a:ext cx="2103120" cy="4709160"/>
          </a:xfrm>
          <a:prstGeom prst="roundRect">
            <a:avLst>
              <a:gd name="adj" fmla="val 1739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25880" y="1645920"/>
            <a:ext cx="1645920" cy="164592"/>
          </a:xfrm>
          <a:prstGeom prst="rect">
            <a:avLst/>
          </a:prstGeom>
          <a:solidFill>
            <a:srgbClr val="8B8FB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61488" y="16916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847088"/>
            <a:ext cx="1645920" cy="219456"/>
          </a:xfrm>
          <a:prstGeom prst="rect">
            <a:avLst/>
          </a:prstGeom>
          <a:solidFill>
            <a:srgbClr val="7C3AED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61488" y="19202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2103120"/>
            <a:ext cx="1645920" cy="219456"/>
          </a:xfrm>
          <a:prstGeom prst="rect">
            <a:avLst/>
          </a:prstGeom>
          <a:solidFill>
            <a:srgbClr val="7C3AED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61488" y="2176272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Shape 9"/>
          <p:cNvSpPr/>
          <p:nvPr/>
        </p:nvSpPr>
        <p:spPr>
          <a:xfrm>
            <a:off x="1325880" y="2359152"/>
            <a:ext cx="1645920" cy="18288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61488" y="241401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325880" y="2578608"/>
            <a:ext cx="1645920" cy="18288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61488" y="2633472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325880" y="2798064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61488" y="2944368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325880" y="3200400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61488" y="3346704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325880" y="3602736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61488" y="37490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325880" y="4005072"/>
            <a:ext cx="1645920" cy="182880"/>
          </a:xfrm>
          <a:prstGeom prst="rect">
            <a:avLst/>
          </a:prstGeom>
          <a:solidFill>
            <a:srgbClr val="23244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61488" y="4059936"/>
            <a:ext cx="73152" cy="73152"/>
          </a:xfrm>
          <a:prstGeom prst="ellipse">
            <a:avLst/>
          </a:prstGeom>
          <a:solidFill>
            <a:srgbClr val="23244F"/>
          </a:solidFill>
          <a:ln/>
        </p:spPr>
      </p:sp>
      <p:sp>
        <p:nvSpPr>
          <p:cNvPr id="23" name="Shape 21"/>
          <p:cNvSpPr/>
          <p:nvPr/>
        </p:nvSpPr>
        <p:spPr>
          <a:xfrm>
            <a:off x="1325880" y="4224528"/>
            <a:ext cx="1645920" cy="749808"/>
          </a:xfrm>
          <a:prstGeom prst="rect">
            <a:avLst/>
          </a:prstGeom>
          <a:solidFill>
            <a:srgbClr val="F0544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61488" y="456285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25880" y="5010912"/>
            <a:ext cx="1645920" cy="365760"/>
          </a:xfrm>
          <a:prstGeom prst="rect">
            <a:avLst/>
          </a:prstGeom>
          <a:solidFill>
            <a:srgbClr val="0E749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61488" y="515721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7" name="Shape 25"/>
          <p:cNvSpPr/>
          <p:nvPr/>
        </p:nvSpPr>
        <p:spPr>
          <a:xfrm>
            <a:off x="1152144" y="1691640"/>
            <a:ext cx="109728" cy="434340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8" name="Shape 26"/>
          <p:cNvSpPr/>
          <p:nvPr/>
        </p:nvSpPr>
        <p:spPr>
          <a:xfrm>
            <a:off x="3035808" y="1691640"/>
            <a:ext cx="109728" cy="4343400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0040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</a:rPr>
              <a:t>rPDU A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490"/>
                </a:solidFill>
              </a:rPr>
              <a:t>rPDU B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206240" y="1554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42 – 52 U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206240" y="19476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Height (1U = 44.45 mm)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高度（1U = 44.45 mm）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206240" y="2468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600 / 800 mm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28620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Width — 800 mm for network &amp; AI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宽度——网络及AI用800 mm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206240" y="3383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1,070 – 1,200 mm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206240" y="37764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Depth for modern servers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现代服务器所需深度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206240" y="4297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1,360 – 1,800 kg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4206240" y="46908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Static load rating (AI racks heavier)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静载能力（AI机柜更重）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206240" y="5212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≥ 80 %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4206240" y="56052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Door perforation for airflow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门板开孔率保证气流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52360" y="1508760"/>
            <a:ext cx="4187952" cy="4754880"/>
          </a:xfrm>
          <a:prstGeom prst="roundRect">
            <a:avLst>
              <a:gd name="adj" fmla="val 1747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635240" y="1645920"/>
            <a:ext cx="38404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Good rack practice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机柜最佳实践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2240280"/>
            <a:ext cx="3931920" cy="3931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Blanking panels in every empty U and brush strips at cable entries.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所有空U位装盲板，线缆入口装毛刷条。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Two rPDUs fed from A and B sources for dual-corded equipment.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两条rPDU分别接A、B路，供双电源设备使用。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Hot- or cold-aisle containment around rack pods.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对机柜模块实施热通道或冷通道封闭。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Bond every rack to the telecom grounding system (TIA-607).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每个机柜接入通信接地系统（TIA-607）。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Label racks, PDUs and patch panels per TIA-606.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按TIA-606标识机柜、PDU和配线架。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Network architecture: leaf-spine and AI fabrics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网络架构：叶脊架构与AI网络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 flipH="1">
            <a:off x="1097280" y="2423160"/>
            <a:ext cx="1143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40280" y="2423160"/>
            <a:ext cx="228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40280" y="2423160"/>
            <a:ext cx="16002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2423160"/>
            <a:ext cx="2971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40280" y="2423160"/>
            <a:ext cx="43434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1097280" y="2423160"/>
            <a:ext cx="2971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468880" y="2423160"/>
            <a:ext cx="16002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3840480" y="2423160"/>
            <a:ext cx="228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2423160"/>
            <a:ext cx="1143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2423160"/>
            <a:ext cx="2514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097280" y="2423160"/>
            <a:ext cx="4800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2468880" y="2423160"/>
            <a:ext cx="3429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3840480" y="2423160"/>
            <a:ext cx="20574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212080" y="2423160"/>
            <a:ext cx="685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2423160"/>
            <a:ext cx="685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6002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290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4290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2578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578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9202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9202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918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918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634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634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0350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350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972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4688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116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0116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404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32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3832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120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548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7548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5836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264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264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71800" y="1188720"/>
            <a:ext cx="2194560" cy="457200"/>
          </a:xfrm>
          <a:prstGeom prst="roundRect">
            <a:avLst>
              <a:gd name="adj" fmla="val 14000"/>
            </a:avLst>
          </a:prstGeom>
          <a:solidFill>
            <a:srgbClr val="17153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971800" y="1188720"/>
            <a:ext cx="21945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Core / border routers → carriers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BDEFFA"/>
                </a:solidFill>
              </a:rPr>
              <a:t>核心/边界路由器→运营商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069080" y="1645920"/>
            <a:ext cx="91" cy="182880"/>
          </a:xfrm>
          <a:prstGeom prst="line">
            <a:avLst/>
          </a:prstGeom>
          <a:noFill/>
          <a:ln w="19050">
            <a:solidFill>
              <a:srgbClr val="17153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Every leaf connects to every spine → any server is two hops from any other; scale by adding leaves and spines.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每个叶交换机连接所有脊交换机→任意两台服务器间仅两跳；通过增加叶/脊扩展。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818120" y="1508760"/>
            <a:ext cx="3822192" cy="4754880"/>
          </a:xfrm>
          <a:prstGeom prst="roundRect">
            <a:avLst>
              <a:gd name="adj" fmla="val 1914"/>
            </a:avLst>
          </a:prstGeom>
          <a:solidFill>
            <a:srgbClr val="17153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01000" y="1645920"/>
            <a:ext cx="34747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AI clusters add a second network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rgbClr val="BDEFFA"/>
                </a:solidFill>
              </a:rPr>
              <a:t>AI集群增加第二张网络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7955280" y="2377440"/>
            <a:ext cx="3566160" cy="3840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Back-end GPU fabric (InfiniBand or RoCE Ethernet) at 400–800 Gb/s per port.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后端GPU网络（InfiniBand或RoCE以太网），每端口400–800 Gb/s。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Rail-optimised, non-blocking (1:1) topology.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轨道优化、无阻塞（1:1）拓扑。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Thousands of short fibre links — plan cable trays and MPO trunks early.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成千上万条短光纤链路——尽早规划桥架与MPO主干。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Separate out-of-band management network.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独立带外管理网络。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Structured cabling &amp; carrier connectivity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综合布线与运营商连接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9928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4160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Single-mode fibre (OS2)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单模光纤（OS2）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Long reach backbone, campus and carrier links; 400G/800G optics.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长距离主干、园区及运营商链路；400G/800G光模块。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70248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71416" y="1709928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090" y="1841602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38928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Multimode fibre (OM4 / OM5)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多模光纤（OM4/OM5）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498848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Short links inside halls (≤ 100–150 m) with MPO trunks.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机房内短链路（≤100–150 m），采用MPO主干。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193024" y="1709928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698" y="1841602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0536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Copper Cat 6A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6A类铜缆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220456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Management, OOB, BMS &amp; security devices; PoE.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管理网、带外、BMS及安防设备；支持PoE。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9808" y="4105656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37330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17320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Meet-Me Room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运营商交汇间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Two MMRs and ≥ 2 diverse entry points ≥ 20 m apart (Rated-3/4).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两个MMR及≥2个相距≥20 m的分离入口（Rated-3/4）。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270248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71416" y="4105656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090" y="4237330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38928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Carrier-neutral ecosystem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运营商中立生态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4498848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Many carriers, internet exchanges and cloud on-ramps attract tenants.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多家运营商、互联网交换中心及云接入吸引租户。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7991856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193024" y="4105656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4698" y="4237330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0536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Testing &amp; labelling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测试与标识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8220456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100% OLTS/OTDR fibre tests, TIA-606 labels, 25-year system warranty.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光纤100% OLTS/OTDR测试，TIA-606标识，25年系统质保。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Fire, Security &amp; Monitoring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消防、安防与监控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Detect early, suppress without damage, control every door, see everything.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早期探测、无损灭火、管控每道门、全面可视。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Fire protection: detect early, suppress without damage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消防：早期探测、无损灭火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788920" cy="868680"/>
          </a:xfrm>
          <a:prstGeom prst="chevron">
            <a:avLst/>
          </a:prstGeom>
          <a:solidFill>
            <a:srgbClr val="F2A93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Alert — Investigate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警告——人员调查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355848" y="1508760"/>
            <a:ext cx="2788920" cy="86868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58768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Action — Prepare, notify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行动——准备、通知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63056" y="1508760"/>
            <a:ext cx="2788920" cy="868680"/>
          </a:xfrm>
          <a:prstGeom prst="chevron">
            <a:avLst/>
          </a:prstGeom>
          <a:solidFill>
            <a:srgbClr val="F054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65976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Fire 1 — Alarm, HVAC actions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火警1——报警、空调联动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970264" y="1508760"/>
            <a:ext cx="2788920" cy="868680"/>
          </a:xfrm>
          <a:prstGeom prst="chevron">
            <a:avLst/>
          </a:prstGeom>
          <a:solidFill>
            <a:srgbClr val="B4231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473184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Fire 2 — Release suppression (double-knock)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火警2——释放灭火（双重确认）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423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Aspirating smoke detection alarm levels → automatic actions   极早期烟雾探测报警等级→自动联动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3108960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871" y="3245023"/>
            <a:ext cx="294803" cy="294803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49808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Aspirating smoke detection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极早期吸气式烟雾探测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Samples air through pipes; detects smoke long before flames — essential with high airflow.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通过管网抽样空气，在明火前很早探测烟雾——高风速机房必备。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55848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557016" y="3108960"/>
            <a:ext cx="566928" cy="566928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079" y="3245023"/>
            <a:ext cx="294803" cy="29480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557016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Addressable fire alarm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可寻址火灾报警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557016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Alerts people and drives cause-and-effect: HVAC stop, door release, suppression release.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警示人员并执行联动：关闭空调、释放门禁、启动灭火。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6163056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364224" y="3108960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287" y="3245023"/>
            <a:ext cx="294803" cy="294803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364224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Clean-agent / inert gas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洁净气体 / 惰性气体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6364224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Floods the room in 10–60 s without residue. Check HFC/PFAS rules for agent supply.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10–60 s内全淹没灭火、无残留。需关注HFC/PFAS法规对灭火剂供应的影响。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970264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171432" y="3108960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7495" y="3245023"/>
            <a:ext cx="294803" cy="294803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71432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Pre-action sprinkler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预作用喷淋</a:t>
            </a:r>
            <a:endParaRPr lang="en-US" sz="1350" dirty="0"/>
          </a:p>
        </p:txBody>
      </p:sp>
      <p:sp>
        <p:nvSpPr>
          <p:cNvPr id="32" name="Text 26"/>
          <p:cNvSpPr txBox="1"/>
          <p:nvPr/>
        </p:nvSpPr>
        <p:spPr>
          <a:xfrm>
            <a:off x="9171432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Dry pipes fill only after detection + head operation — the hyperscale default.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干管仅在探测报警+喷头动作后充水——超大规模数据中心的常规做法。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Physical security in layers: from fence to rack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分层物理安防：从围栏到机柜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280160" y="1601114"/>
            <a:ext cx="4663440" cy="4570171"/>
          </a:xfrm>
          <a:prstGeom prst="ellipse">
            <a:avLst/>
          </a:prstGeom>
          <a:solidFill>
            <a:srgbClr val="D8DBF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91056" y="1905792"/>
            <a:ext cx="4041648" cy="3960815"/>
          </a:xfrm>
          <a:prstGeom prst="ellipse">
            <a:avLst/>
          </a:prstGeom>
          <a:solidFill>
            <a:srgbClr val="C3C7E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01952" y="2210471"/>
            <a:ext cx="3419856" cy="3351459"/>
          </a:xfrm>
          <a:prstGeom prst="ellipse">
            <a:avLst/>
          </a:prstGeom>
          <a:solidFill>
            <a:srgbClr val="A9AF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12848" y="2515149"/>
            <a:ext cx="2798064" cy="2742103"/>
          </a:xfrm>
          <a:prstGeom prst="ellipse">
            <a:avLst/>
          </a:prstGeom>
          <a:solidFill>
            <a:srgbClr val="8D94D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23744" y="2819827"/>
            <a:ext cx="2176272" cy="2132747"/>
          </a:xfrm>
          <a:prstGeom prst="ellipse">
            <a:avLst/>
          </a:prstGeom>
          <a:solidFill>
            <a:srgbClr val="6E76D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3124505"/>
            <a:ext cx="1554480" cy="1523390"/>
          </a:xfrm>
          <a:prstGeom prst="ellipse">
            <a:avLst/>
          </a:prstGeom>
          <a:solidFill>
            <a:srgbClr val="4F57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45536" y="3429183"/>
            <a:ext cx="932688" cy="914034"/>
          </a:xfrm>
          <a:prstGeom prst="ellipse">
            <a:avLst/>
          </a:prstGeom>
          <a:solidFill>
            <a:srgbClr val="2A278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3593592"/>
            <a:ext cx="548640" cy="5486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766560" y="1682496"/>
            <a:ext cx="329184" cy="329184"/>
          </a:xfrm>
          <a:prstGeom prst="ellipse">
            <a:avLst/>
          </a:prstGeom>
          <a:solidFill>
            <a:srgbClr val="D8DBF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766560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1572768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Perimeter fence + PIDS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周界围栏+入侵探测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766560" y="2304288"/>
            <a:ext cx="329184" cy="329184"/>
          </a:xfrm>
          <a:prstGeom prst="ellipse">
            <a:avLst/>
          </a:prstGeom>
          <a:solidFill>
            <a:srgbClr val="C3C7E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66560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269480" y="2194560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Gatehouse &amp; vehicle barriers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门卫及车辆拦阻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66560" y="2926080"/>
            <a:ext cx="329184" cy="329184"/>
          </a:xfrm>
          <a:prstGeom prst="ellipse">
            <a:avLst/>
          </a:prstGeom>
          <a:solidFill>
            <a:srgbClr val="A9AFE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269480" y="2816352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Building envelope &amp; entry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建筑外壳及入口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766560" y="3547872"/>
            <a:ext cx="329184" cy="329184"/>
          </a:xfrm>
          <a:prstGeom prst="ellipse">
            <a:avLst/>
          </a:prstGeom>
          <a:solidFill>
            <a:srgbClr val="8D94D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656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269480" y="3438144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Lobby mantrap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大堂防尾随门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766560" y="4169664"/>
            <a:ext cx="329184" cy="329184"/>
          </a:xfrm>
          <a:prstGeom prst="ellipse">
            <a:avLst/>
          </a:prstGeom>
          <a:solidFill>
            <a:srgbClr val="6E76D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766560" y="4169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4059936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Data hall — card + biometric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机房——卡+生物识别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766560" y="4791456"/>
            <a:ext cx="329184" cy="329184"/>
          </a:xfrm>
          <a:prstGeom prst="ellipse">
            <a:avLst/>
          </a:prstGeom>
          <a:solidFill>
            <a:srgbClr val="4F57C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766560" y="4791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4681728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Cage / suite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笼位 / 包间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766560" y="5413248"/>
            <a:ext cx="329184" cy="329184"/>
          </a:xfrm>
          <a:prstGeom prst="ellipse">
            <a:avLst/>
          </a:prstGeom>
          <a:solidFill>
            <a:srgbClr val="2A278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766560" y="5413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269480" y="5303520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Rack e-lock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机柜电子锁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5943600"/>
            <a:ext cx="4846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Each layer adds authentication and video verification; CCTV covers every door and aisle with ≥ 90-day retention.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每层增加认证与视频复核；CCTV覆盖所有门及通道，录像保存≥90天。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Seeing everything: BMS, EPMS and DCIM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全面可视：BMS、EPMS与DCIM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583680" cy="1005840"/>
          </a:xfrm>
          <a:prstGeom prst="roundRect">
            <a:avLst>
              <a:gd name="adj" fmla="val 6364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653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554480"/>
            <a:ext cx="60533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Dashboard: NOC / SOC video wall, alarms, KPIs (PUE, WUE)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展示层：NOC/SOC大屏、报警、KPI（PUE、WUE）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2724912"/>
            <a:ext cx="6126480" cy="1005840"/>
          </a:xfrm>
          <a:prstGeom prst="roundRect">
            <a:avLst>
              <a:gd name="adj" fmla="val 6364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71016" y="2724912"/>
            <a:ext cx="55961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Applications: BMS · EPMS · DCIM · security (VMS, ACS)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应用层：BMS·EPMS·DCIM·安防（视频、门禁）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005840" y="3895344"/>
            <a:ext cx="5669280" cy="1005840"/>
          </a:xfrm>
          <a:prstGeom prst="roundRect">
            <a:avLst>
              <a:gd name="adj" fmla="val 6364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06240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99616" y="3895344"/>
            <a:ext cx="51389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Network: redundant OT network, BACnet/IP, Modbus TCP, SNMP, IEC 61850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网络层：冗余OT网络、BACnet/IP、Modbus TCP、SNMP、IEC 61850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1234440" y="5065776"/>
            <a:ext cx="5212080" cy="1005840"/>
          </a:xfrm>
          <a:prstGeom prst="roundRect">
            <a:avLst>
              <a:gd name="adj" fmla="val 6364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5376672"/>
            <a:ext cx="384048" cy="38404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28216" y="5065776"/>
            <a:ext cx="46817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Field: meters, PLC/DDC controllers, sensors, rPDUs, leak detection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现场层：表计、PLC/DDC控制器、传感器、rPDU、漏水检测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452360" y="1554480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635240" y="1755648"/>
            <a:ext cx="109728" cy="10424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7863840" y="1645920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Building Management System (BMS)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楼宇自控系统（BMS）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863840" y="2157984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Monitors and controls mechanical plant (chillers, pumps, CRAHs, ventilation), fuel, water, leak detection and alarms.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监控机械设备（冷机、水泵、精密空调、通风）、燃油、给水、漏水检测及报警。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7452360" y="3127248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635240" y="3328416"/>
            <a:ext cx="109728" cy="1042416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7863840" y="3218688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Electrical Power Monitoring System (EPMS)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电力监控系统（EPMS）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863840" y="3730752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High-resolution monitoring of the power chain — power quality, sequence of events, breaker status, energy and PUE metering.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对供电链进行高分辨率监测——电能质量、事件顺序、断路器状态、能耗及PUE计量。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7452360" y="4700016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635240" y="4901184"/>
            <a:ext cx="109728" cy="1042416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7863840" y="4791456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Data Center Infrastructure Management (DCIM)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数据中心基础设施管理（DCIM）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7863840" y="5303520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Single source of truth for assets, space, power and cooling capacity, connectivity and change management; dashboards for KPIs (PUE, WUE, CUE).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资产、空间、电力与制冷容量、连接及变更管理的统一数据源；KPI仪表盘（PUE、WUE、CUE）。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Supporting Systems &amp; Project Lifecycle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支持系统与项目全生命周期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The “small” components, the building itself, and how a project is delivered.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“小”部件、建筑本身，以及项目如何交付。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Secondary components that make or break reliability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决定可靠性的次要部件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640080" cy="64008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1973275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Raised floor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架空地板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55848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57016" y="1819656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635" y="1973275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15968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Cable trays &amp; raceway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桥架与光纤槽道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63056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64224" y="1819656"/>
            <a:ext cx="640080" cy="64008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843" y="1973275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23176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Blanking panels &amp; brush strips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盲板与毛刷条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970264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171432" y="1819656"/>
            <a:ext cx="640080" cy="64008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51" y="1973275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30384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Leak detection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漏水检测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49808" y="3282696"/>
            <a:ext cx="640080" cy="6400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" y="3436315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LED &amp; emergency lighting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LED及应急照明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3355848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3557016" y="3282696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635" y="3436315"/>
            <a:ext cx="332842" cy="33284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315968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Earthing &amp; bonding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接地与等电位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6163056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6364224" y="3282696"/>
            <a:ext cx="640080" cy="64008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43" y="3436315"/>
            <a:ext cx="332842" cy="33284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123176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Lightning &amp; SPD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防雷与浪涌保护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8970264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9171432" y="3282696"/>
            <a:ext cx="640080" cy="64008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5051" y="3436315"/>
            <a:ext cx="332842" cy="33284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930384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Water treatment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水处理</a:t>
            </a:r>
            <a:endParaRPr lang="en-US" sz="1300" dirty="0"/>
          </a:p>
        </p:txBody>
      </p:sp>
      <p:sp>
        <p:nvSpPr>
          <p:cNvPr id="36" name="Shape 26"/>
          <p:cNvSpPr/>
          <p:nvPr/>
        </p:nvSpPr>
        <p:spPr>
          <a:xfrm>
            <a:off x="548640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749808" y="4745736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427" y="4899355"/>
            <a:ext cx="332842" cy="332842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508760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VFDs &amp; controls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变频器与控制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3355848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1" name="Shape 30"/>
          <p:cNvSpPr/>
          <p:nvPr/>
        </p:nvSpPr>
        <p:spPr>
          <a:xfrm>
            <a:off x="3557016" y="4745736"/>
            <a:ext cx="640080" cy="64008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10635" y="4899355"/>
            <a:ext cx="332842" cy="332842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4315968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Environmental sensors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环境传感器</a:t>
            </a:r>
            <a:endParaRPr lang="en-US" sz="1300" dirty="0"/>
          </a:p>
        </p:txBody>
      </p:sp>
      <p:sp>
        <p:nvSpPr>
          <p:cNvPr id="44" name="Shape 32"/>
          <p:cNvSpPr/>
          <p:nvPr/>
        </p:nvSpPr>
        <p:spPr>
          <a:xfrm>
            <a:off x="6163056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5" name="Shape 33"/>
          <p:cNvSpPr/>
          <p:nvPr/>
        </p:nvSpPr>
        <p:spPr>
          <a:xfrm>
            <a:off x="6364224" y="4745736"/>
            <a:ext cx="640080" cy="6400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7843" y="4899355"/>
            <a:ext cx="332842" cy="33284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7123176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Loading dock &amp; lift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装卸平台与货梯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8970264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9" name="Shape 36"/>
          <p:cNvSpPr/>
          <p:nvPr/>
        </p:nvSpPr>
        <p:spPr>
          <a:xfrm>
            <a:off x="9171432" y="4745736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25051" y="4899355"/>
            <a:ext cx="332842" cy="332842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9930384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Staging &amp; spares store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预置区与备件库</a:t>
            </a:r>
            <a:endParaRPr lang="en-US" sz="1300" dirty="0"/>
          </a:p>
        </p:txBody>
      </p:sp>
      <p:sp>
        <p:nvSpPr>
          <p:cNvPr id="52" name="Text 38"/>
          <p:cNvSpPr txBox="1"/>
          <p:nvPr/>
        </p:nvSpPr>
        <p:spPr>
          <a:xfrm>
            <a:off x="548640" y="5897880"/>
            <a:ext cx="7315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B6F8A"/>
                </a:solidFill>
              </a:rPr>
              <a:t>Details and TPG for every item are in the companion Word specification.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各部件的详细要求及TPG见配套Word技术规范。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Civil, structural &amp; architectural requirements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土建、结构与建筑要求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83080"/>
            <a:ext cx="548640" cy="73152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15–25 kN/m²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White-space floor live load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白区楼面活荷载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0248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4568" y="1783080"/>
            <a:ext cx="548640" cy="73152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4.5–6 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Clear height (overhead services)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净高（上走线机电）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91856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66176" y="1783080"/>
            <a:ext cx="548640" cy="73152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47888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h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Fire separation between halls &amp; plant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机房与设备间防火分隔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178808"/>
            <a:ext cx="54864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 1.25–1.5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Seismic importance factor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抗震重要性系数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70248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44568" y="4178808"/>
            <a:ext cx="54864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26280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&gt; 100-yr flood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544568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Ground floor above design flood + freeboard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首层高于设计洪水位并留超高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91856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66176" y="4178808"/>
            <a:ext cx="548640" cy="73152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47888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≥ 3 t lift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8266176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Freight lift &amp; 2.7–3 m door height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货梯及2.7–3 m门洞净高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Project lifecycle: from idea to Ready-for-Service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项目全生命周期：从构想到投产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264603" cy="731520"/>
          </a:xfrm>
          <a:prstGeom prst="chevron">
            <a:avLst/>
          </a:prstGeom>
          <a:solidFill>
            <a:srgbClr val="3F3CB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Strategy &amp; Business Case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战略与商业论证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Demand, business model, target market, funding strategy.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需求、商业模式、目标市场、融资策略。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67523" y="1554480"/>
            <a:ext cx="2264603" cy="731520"/>
          </a:xfrm>
          <a:prstGeom prst="chevron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87563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40675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Feasibility &amp; Site Selection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可行性研究与选址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840675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Power &amp; fibre availability, hazards, land, permits, CAPEX/OPEX, financial model.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电力与光纤可得性、灾害、土地、许可、投资/运营成本、财务模型。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986406" y="1554480"/>
            <a:ext cx="2264603" cy="731520"/>
          </a:xfrm>
          <a:prstGeom prst="chevron">
            <a:avLst/>
          </a:prstGeom>
          <a:solidFill>
            <a:srgbClr val="0EA5C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6446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059558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Permits &amp; Utility Applications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报批报建与公用事业申请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059558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Grid connection, environmental approval, building permit, water rights.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电网接入、环境审批、建筑许可、取水许可。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05289" y="1554480"/>
            <a:ext cx="2264603" cy="731520"/>
          </a:xfrm>
          <a:prstGeom prst="chevron">
            <a:avLst/>
          </a:prstGeom>
          <a:solidFill>
            <a:srgbClr val="3F3CB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25329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278441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Concept &amp; Basis of Design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概念设计与设计依据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278441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Tier, capacity, density, cooling and power architecture frozen.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确定Tier、容量、密度、制冷与供电架构。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424172" y="1554480"/>
            <a:ext cx="2264603" cy="731520"/>
          </a:xfrm>
          <a:prstGeom prst="chevron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44212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497324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Schematic &amp; Detailed Design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方案及详细设计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497324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Drawings, specifications, TPG, BOQ, tender documents; Tier design certification.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图纸、技术规范、TPG、工程量清单、招标文件；Tier设计认证。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931920"/>
            <a:ext cx="2264603" cy="731520"/>
          </a:xfrm>
          <a:prstGeom prst="chevron">
            <a:avLst/>
          </a:prstGeom>
          <a:solidFill>
            <a:srgbClr val="F2A9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Procurement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采购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Long-lead items first: transformers, generators, MV switchgear, UPS, chillers.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优先采购长周期设备：变压器、发电机、中压开关柜、UPS、冷机。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67523" y="3931920"/>
            <a:ext cx="2264603" cy="731520"/>
          </a:xfrm>
          <a:prstGeom prst="chevron">
            <a:avLst/>
          </a:prstGeom>
          <a:solidFill>
            <a:srgbClr val="F0544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087563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7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2840675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Construction &amp; Installation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施工与安装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840675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Civil/structural, building envelope, MEP installation, QA/QC.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土建/结构、建筑围护、机电安装、质量控制。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86406" y="3931920"/>
            <a:ext cx="2264603" cy="731520"/>
          </a:xfrm>
          <a:prstGeom prst="chevron">
            <a:avLst/>
          </a:prstGeom>
          <a:solidFill>
            <a:srgbClr val="16A3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06446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8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5059558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 &amp; Commissioning (L1–L5)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测试与调试（L1–L5）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059558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FAT → installation checks → start-up → functional tests → integrated systems test.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工厂测试→安装检查→单机启动→系统功能测试→综合系统测试。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205289" y="3931920"/>
            <a:ext cx="2264603" cy="731520"/>
          </a:xfrm>
          <a:prstGeom prst="chevron">
            <a:avLst/>
          </a:prstGeom>
          <a:solidFill>
            <a:srgbClr val="0EA5C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525329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278441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Handover &amp; Ready-for-Service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移交与投产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278441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As-builts, O&amp;M manuals, training, Tier facility certification, customer onboarding.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竣工图、运维手册、培训、Tier设施认证、客户入驻。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424172" y="3931920"/>
            <a:ext cx="2264603" cy="731520"/>
          </a:xfrm>
          <a:prstGeom prst="chevron">
            <a:avLst/>
          </a:prstGeom>
          <a:solidFill>
            <a:srgbClr val="17153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744212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10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9497324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Operations &amp; Optimisation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运营与优化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497324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24/7 operations, maintenance, capacity management, PUE optimisation, expansions.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7×24运营、维护、容量管理、PUE优化、扩建。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Commissioning levels L1–L5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调试等级L1–L5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5029200"/>
            <a:ext cx="2103120" cy="1188720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5120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57784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Factory Acceptance Test (FAT)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工厂验收测试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88920" y="4480560"/>
            <a:ext cx="2103120" cy="173736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260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502920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Delivery &amp; Installation Verification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到货及安装检查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3931920"/>
            <a:ext cx="2103120" cy="2286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66360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448056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Start-up / Pre-functional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单机启动 / 预功能测试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166360" y="5138928"/>
            <a:ext cx="18745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Energise and start each component individually.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对各组件逐一通电启动。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269480" y="3383280"/>
            <a:ext cx="2103120" cy="283464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06640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L4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393192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Functional Performance Test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系统功能性能测试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4590288"/>
            <a:ext cx="18745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Test each system under load (load banks) incl. failure modes.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在负载（负载箱）下测试每个系统，包括故障模式。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509760" y="2834640"/>
            <a:ext cx="2103120" cy="3383280"/>
          </a:xfrm>
          <a:prstGeom prst="rect">
            <a:avLst/>
          </a:prstGeom>
          <a:solidFill>
            <a:srgbClr val="17153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46920" y="2926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L5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646920" y="338328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Integrated Systems Test (IST)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综合系统测试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46920" y="4041648"/>
            <a:ext cx="1874520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All systems together: utility failure, generator start, UPS, cooling recovery.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所有系统联合测试：市电失效、发电机启动、UPS、制冷恢复。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1463040"/>
            <a:ext cx="676656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L1–L3 prove each component; L4 tests each system under load-bank heat; L5 (IST) fails utility, generators, UPS and chillers together with the full heat load.</a:t>
            </a:r>
            <a:endParaRPr lang="en-US" sz="12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dirty="0">
                <a:solidFill>
                  <a:schemeClr val="accent1"/>
                </a:solidFill>
              </a:rPr>
              <a:t>L1–L3验证每个组件；L4在负载箱热负荷下测试各系统；L5（综合测试）在满热负荷下联合模拟市电、发电机、UPS及冷机失效。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1463040"/>
            <a:ext cx="4114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L1 at factory (FAT) · L2–L5 on site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L1在工厂（FAT）· L2–L5在现场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does it cost? Indicative CAPEX structure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投资多少？参考投资构成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577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49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309360" y="5440680"/>
            <a:ext cx="53492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Shell + MEP fit-out, Tier III, excluding land and IT hardware. Planning values — calibrate with a quantity surveyor for each project.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含建筑主体及机电装修，Tier III，不含土地及IT硬件。规划参考值——各项目需由造价顾问校准。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Feasibility checklist: what decides a site and a project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可行性清单：决定场地与项目的因素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91056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306" y="1709562"/>
            <a:ext cx="256764" cy="2567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51790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Power availability, cost &amp; timeline (MVA, kV, tariff)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电力可得性、成本与时间（MVA、电压、电价）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53912" y="148132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91072" y="1591056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578" y="1709562"/>
            <a:ext cx="256764" cy="2567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31152" y="151790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Fibre routes, carriers, latency to users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光纤路由、运营商、到用户的时延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2395728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06" y="2514234"/>
            <a:ext cx="256764" cy="25676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25880" y="2322576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Natural hazards: flood, seismic, storms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自然灾害：洪水、地震、风暴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53912" y="2286000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291072" y="2395728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578" y="2514234"/>
            <a:ext cx="256764" cy="2567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31152" y="2322576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Land, zoning, permits &amp; setbacks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土地、规划、许可及退界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090672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3200400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306" y="3318906"/>
            <a:ext cx="256764" cy="25676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25880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Water availability &amp; cooling strategy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水资源及制冷策略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153912" y="3090672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291072" y="3200400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578" y="3318906"/>
            <a:ext cx="256764" cy="25676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931152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Climate: free-cooling hours, design wet-bulb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气候：自然冷却时数、设计湿球温度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548640" y="3895344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4005072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306" y="4123578"/>
            <a:ext cx="256764" cy="25676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32588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Regulation: data sovereignty, PDP law, incentives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法规：数据主权、个人数据保护法、激励政策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153912" y="3895344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291072" y="4005072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578" y="4123578"/>
            <a:ext cx="256764" cy="25676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931152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Market demand, pricing &amp; anchor tenants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市场需求、定价及锚定租户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548640" y="4700016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4809744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306" y="4928250"/>
            <a:ext cx="256764" cy="256764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325880" y="4736592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Skilled workforce &amp; O&amp;M partners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技术人员及运维合作伙伴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6153912" y="4700016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6291072" y="4809744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9578" y="4928250"/>
            <a:ext cx="256764" cy="256764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931152" y="4736592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CAPEX, OPEX, IRR &amp; financing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投资、运营成本、IRR及融资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548640" y="550468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685800" y="5614416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306" y="5732922"/>
            <a:ext cx="256764" cy="256764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1325880" y="554126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Sustainability: renewables, PUE/WUE targets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可持续：可再生能源、PUE/WUE目标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153912" y="550468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291072" y="5614416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9578" y="5732922"/>
            <a:ext cx="256764" cy="256764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931152" y="554126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Schedule &amp; long-lead equipment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进度及长周期设备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Sustainability is now a design requirement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可持续性已成为设计要求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415 TWh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3113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Data-centre electricity use in 2024 (IEA)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2024年数据中心用电量（IEA）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2 by 2030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3989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Projected growth, driven by AI (IEA base case)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预计增长，主要由AI驱动（IEA基准情景）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80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&gt; 80%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4865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Green-power target for new China hub DCs (2025)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中国新建枢纽数据中心绿电目标（2025）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50876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80560" y="1737360"/>
            <a:ext cx="594360" cy="59436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3206" y="1880006"/>
            <a:ext cx="309067" cy="309067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25780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Energy efficiency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能效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160020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Higher temperatures, economisers, liquid cooling, efficient UPS → lower PUE.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提高温度、自然冷却、液冷、高效UPS→降低PUE。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97680" y="269748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80560" y="292608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06" y="3068726"/>
            <a:ext cx="309067" cy="30906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57800" y="278892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Renewable power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可再生能源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7178040" y="278892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Green tariffs, PPAs, RECs and on-site solar (e.g. PLN green energy products).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绿电电价、购电协议、绿证及屋面光伏（如PLN绿电产品）。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297680" y="388620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480560" y="411480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206" y="4257446"/>
            <a:ext cx="309067" cy="30906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57800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Water stewardship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水资源管理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7178040" y="397764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Closed loops, dry coolers, recycled water; track WUE.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闭式环路、干冷器、再生水；追踪WUE。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297680" y="507492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480560" y="5303520"/>
            <a:ext cx="594360" cy="59436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206" y="5446166"/>
            <a:ext cx="309067" cy="30906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257800" y="516636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Heat reuse &amp; circularity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余热利用与循环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7178040" y="516636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District heating, low-GWP refrigerants, embodied-carbon reduction.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区域供暖、低GWP冷媒、减少隐含碳。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Bilingual glossary of key terms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关键术语中英对照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Term 术语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 含义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PUE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电能利用效率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Power Usage Effectiveness = total facility energy ÷ IT energy (ideal 1.0).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总设施能耗÷IT能耗（理想值1.0）。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WUE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水利用效率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Water Usage Effectiveness = site water (L) ÷ IT energy (kWh).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场地用水量（L）÷IT能耗（kWh）。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UPS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不间断电源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Uninterruptible Power Supply bridging power until generators start.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在发电机启动前桥接供电的不间断电源。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ATS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自动转换开关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Automatic Transfer Switch — transfers load between two power sources.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在两路电源之间自动切换负荷的开关。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STS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静态转换开关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Static Transfer Switch switching between two UPS sources in &lt; 4 ms.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在&lt;4 ms内于两路UPS间切换的静态开关。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PDU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列头配电柜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Power Distribution Unit feeding racks from UPS.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从UPS向机柜供电的配电单元。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CRAH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冷冻水型精密空调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Computer Room Air Handler using chilled water coils.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使用冷冻水盘管的机房空气处理机。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CDU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冷量分配单元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Coolant Distribution Unit separating facility water from the technology cooling loop.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将设施水与技术冷却环路隔离的冷却液分配单元。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53912" y="14630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Term 术语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 含义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CAC / HAC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冷/热通道封闭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Cold- or hot-aisle containment separating supply and exhaust air.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隔离送风与排风的冷通道或热通道封闭。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MMR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运营商交汇间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Meet-Me Room where carriers interconnect with tenants.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运营商与租户进行互联的房间。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DCIM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数据中心基础设施管理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Software managing assets, capacity, power and environment.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管理资产、容量、电力及环境的软件。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BMS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楼宇自控系统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Building Management System for mechanical &amp; environmental monitoring/control.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用于机械及环境监控的楼宇管理系统。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IST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综合系统测试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Integrated Systems Test — Level 5 commissioning of all systems together.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所有系统联合进行的第5级调试。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RFS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可交付使用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Ready For Service — date capacity is available to customers.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容量可向客户交付使用的日期。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Concurrent maintainability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可同时维护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Ability to maintain any component/path without IT impact (Tier III).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可维护任一组件/路径而不影响IT（Tier III）。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TPG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技术参数保证表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Technical Particulars &amp; Guarantees — bidder-guaranteed equipment data.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投标人保证的设备技术参数表。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7498080" y="914400"/>
            <a:ext cx="4572000" cy="4572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DEFFA"/>
                </a:solidFill>
              </a:rPr>
              <a:t>要点总结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667512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Size a data center by IT load (MW) and rack density; everything else follows.</a:t>
            </a:r>
            <a:endParaRPr lang="en-US" sz="14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250" dirty="0">
                <a:solidFill>
                  <a:srgbClr val="BDEFFA"/>
                </a:solidFill>
              </a:rPr>
              <a:t>以IT负载（MW）和机柜密度确定规模，其他一切随之而定。</a:t>
            </a:r>
            <a:endParaRPr lang="en-US" sz="14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Choose the Tier from business risk — it drives redundancy, space and ≈ ±30% CAPEX.</a:t>
            </a:r>
            <a:endParaRPr lang="en-US" sz="14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250" dirty="0">
                <a:solidFill>
                  <a:srgbClr val="BDEFFA"/>
                </a:solidFill>
              </a:rPr>
              <a:t>根据业务风险选择Tier——它决定冗余、空间及约±30%的投资。</a:t>
            </a:r>
            <a:endParaRPr lang="en-US" sz="14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Power and cooling chains must have no single point of failure for Tier III+.</a:t>
            </a:r>
            <a:endParaRPr lang="en-US" sz="14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250" dirty="0">
                <a:solidFill>
                  <a:srgbClr val="BDEFFA"/>
                </a:solidFill>
              </a:rPr>
              <a:t>Tier III及以上的供电与制冷链不得存在单点故障。</a:t>
            </a:r>
            <a:endParaRPr lang="en-US" sz="14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AI densities (40–140 kW/rack) require liquid cooling and heavier, taller buildings.</a:t>
            </a:r>
            <a:endParaRPr lang="en-US" sz="14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250" dirty="0">
                <a:solidFill>
                  <a:srgbClr val="BDEFFA"/>
                </a:solidFill>
              </a:rPr>
              <a:t>AI密度（40–140 kW/柜）需要液冷及更高承载、更高净高的建筑。</a:t>
            </a:r>
            <a:endParaRPr lang="en-US" sz="14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Grid capacity, long-lead equipment and permits usually set the schedule.</a:t>
            </a:r>
            <a:endParaRPr lang="en-US" sz="14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250" dirty="0">
                <a:solidFill>
                  <a:srgbClr val="BDEFFA"/>
                </a:solidFill>
              </a:rPr>
              <a:t>电网容量、长周期设备和许可通常决定进度。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349240"/>
            <a:ext cx="6675120" cy="1051560"/>
          </a:xfrm>
          <a:prstGeom prst="roundRect">
            <a:avLst>
              <a:gd name="adj" fmla="val 6957"/>
            </a:avLst>
          </a:prstGeom>
          <a:solidFill>
            <a:srgbClr val="2A278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413248"/>
            <a:ext cx="630936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FFFFFF"/>
                </a:solidFill>
              </a:rPr>
              <a:t>Companion resources: Technical Specification &amp; TPG (Word) · Data Center Project Assessment website</a:t>
            </a:r>
            <a:endParaRPr lang="en-US" sz="12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dirty="0">
                <a:solidFill>
                  <a:srgbClr val="BDEFFA"/>
                </a:solidFill>
              </a:rPr>
              <a:t>配套资料：技术规范书及技术参数保证表（Word）· 数据中心项目评估网站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ld Aisle Hot Aisle">
  <a:themeElements>
    <a:clrScheme name="Cold Aisle Hot Aisle">
      <a:dk1>
        <a:srgbClr val="1B1D3A"/>
      </a:dk1>
      <a:lt1>
        <a:srgbClr val="FFFFFF"/>
      </a:lt1>
      <a:dk2>
        <a:srgbClr val="17153F"/>
      </a:dk2>
      <a:lt2>
        <a:srgbClr val="F1F2FA"/>
      </a:lt2>
      <a:accent1>
        <a:srgbClr val="3F3CBB"/>
      </a:accent1>
      <a:accent2>
        <a:srgbClr val="0EA5C6"/>
      </a:accent2>
      <a:accent3>
        <a:srgbClr val="F0544F"/>
      </a:accent3>
      <a:accent4>
        <a:srgbClr val="F2A93B"/>
      </a:accent4>
      <a:accent5>
        <a:srgbClr val="16A34A"/>
      </a:accent5>
      <a:accent6>
        <a:srgbClr val="7C3AED"/>
      </a:accent6>
      <a:hlink>
        <a:srgbClr val="0E7490"/>
      </a:hlink>
      <a:folHlink>
        <a:srgbClr val="6B21A8"/>
      </a:folHlink>
    </a:clrScheme>
    <a:fontScheme name="Cold Aisle Hot Aisle">
      <a:majorFont>
        <a:latin typeface="Segoe UI Semibold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Project Technical Assessment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Center Knowledge Base (EN-ZH)</dc:title>
  <dc:subject>Data center fundamentals — bilingual knowledge base for project technical assessment</dc:subject>
  <dc:creator>Project Technical Assessment</dc:creator>
  <cp:lastModifiedBy>Project Technical Assessment</cp:lastModifiedBy>
  <cp:revision>1</cp:revision>
  <dcterms:created xsi:type="dcterms:W3CDTF">2026-10-14T05:25:47Z</dcterms:created>
  <dcterms:modified xsi:type="dcterms:W3CDTF">2026-10-14T05:25:47Z</dcterms:modified>
</cp:coreProperties>
</file>