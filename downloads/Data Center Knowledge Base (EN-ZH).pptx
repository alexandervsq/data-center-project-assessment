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2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charts/chart5.xml" ContentType="application/vnd.openxmlformats-officedocument.drawingml.chart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charts/chart8.xml" ContentType="application/vnd.openxmlformats-officedocument.drawingml.chart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charts/chart9.xml" ContentType="application/vnd.openxmlformats-officedocument.drawingml.chart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0 Opening" id="{6c517f91-5328-715d-3aca-5b893dcf8ff4}">
          <p14:sldIdLst>
            <p14:sldId id="256"/>
            <p14:sldId id="257"/>
          </p14:sldIdLst>
        </p14:section>
        <p14:section name="01 Introduction" id="{4c50d3c0-17df-4365-78f2-db22c4888080}">
          <p14:sldIdLst>
            <p14:sldId id="258"/>
            <p14:sldId id="259"/>
            <p14:sldId id="260"/>
            <p14:sldId id="261"/>
          </p14:sldIdLst>
        </p14:section>
        <p14:section name="02 Classification" id="{688e5ae6-28f0-6bea-04e2-fb6e5b1f51c2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03 Spaces &amp; Layout" id="{9fe13308-7168-1874-557a-0bc224039491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04 Electrical" id="{1a870160-c829-3ed6-9106-4cba5c08050b}">
          <p14:sldIdLst>
            <p14:sldId id="275"/>
            <p14:sldId id="276"/>
            <p14:sldId id="277"/>
            <p14:sldId id="278"/>
            <p14:sldId id="279"/>
          </p14:sldIdLst>
        </p14:section>
        <p14:section name="05 Cooling" id="{e74b38f5-ae70-20f6-7512-25d4aef5a5ec}">
          <p14:sldIdLst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06 IT &amp; Network" id="{388ba50d-9747-63df-aa7f-0567b0112813}">
          <p14:sldIdLst>
            <p14:sldId id="287"/>
            <p14:sldId id="288"/>
            <p14:sldId id="289"/>
            <p14:sldId id="290"/>
          </p14:sldIdLst>
        </p14:section>
        <p14:section name="07 Safety &amp; Monitoring" id="{7f1707e1-f785-1abf-06cb-9a0f0d4800ef}">
          <p14:sldIdLst>
            <p14:sldId id="291"/>
            <p14:sldId id="292"/>
            <p14:sldId id="293"/>
            <p14:sldId id="294"/>
          </p14:sldIdLst>
        </p14:section>
        <p14:section name="08 Supporting &amp; Lifecycle" id="{5263b67e-d647-ab5e-fdcf-8bf824356a75}">
          <p14:sldIdLst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</p14:sldIdLst>
        </p14:section>
        <p14:section name="09 Project Development" id="{ba14cf9f-b776-398b-1150-56a7aca4893d}">
          <p14:sldIdLst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</p14:sldIdLst>
        </p14:section>
        <p14:section name="10 Closing" id="{944b7abc-0375-d282-1b10-07b9b3348154}">
          <p14:sldIdLst>
            <p14:sldId id="3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D3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1D3A"/>
                </a:solidFill>
                <a:latin typeface="+mn-lt"/>
              </a:rPr>
              <a:t>Typical gross-area mix (Tier III, air-cooled)  典型面积构成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Space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F3CBB"/>
              </a:solidFill>
              <a:effectLst/>
            </c:spPr>
          </c:dPt>
          <c:dPt>
            <c:idx val="1"/>
            <c:bubble3D val="0"/>
            <c:spPr>
              <a:solidFill>
                <a:srgbClr val="F2A93B"/>
              </a:solidFill>
              <a:effectLst/>
            </c:spPr>
          </c:dPt>
          <c:dPt>
            <c:idx val="2"/>
            <c:bubble3D val="0"/>
            <c:spPr>
              <a:solidFill>
                <a:srgbClr val="0EA5C6"/>
              </a:solidFill>
              <a:effectLst/>
            </c:spPr>
          </c:dPt>
          <c:dPt>
            <c:idx val="3"/>
            <c:bubble3D val="0"/>
            <c:spPr>
              <a:solidFill>
                <a:srgbClr val="7C3AED"/>
              </a:solidFill>
              <a:effectLst/>
            </c:spPr>
          </c:dPt>
          <c:dPt>
            <c:idx val="4"/>
            <c:bubble3D val="0"/>
            <c:spPr>
              <a:solidFill>
                <a:srgbClr val="A3A6C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White space 白区</c:v>
                </c:pt>
                <c:pt idx="1">
                  <c:v>Electrical rooms 电气</c:v>
                </c:pt>
                <c:pt idx="2">
                  <c:v>Mechanical 暖通</c:v>
                </c:pt>
                <c:pt idx="3">
                  <c:v>Support 支持区</c:v>
                </c:pt>
                <c:pt idx="4">
                  <c:v>Circulation &amp; walls 交通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B1D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D3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1D3A"/>
                </a:solidFill>
                <a:latin typeface="+mn-lt"/>
              </a:rPr>
              <a:t>Indicative annual PUE by design  不同设计的参考年均PUE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  IT负载</c:v>
                </c:pt>
              </c:strCache>
            </c:strRef>
          </c:tx>
          <c:spPr>
            <a:solidFill>
              <a:srgbClr val="C7D2F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Legacy enterprise
传统企业机房</c:v>
                  </c:pt>
                  <c:pt idx="1">
                    <c:v>Tropical air-cooled
热带风冷</c:v>
                  </c:pt>
                  <c:pt idx="2">
                    <c:v>Tropical water-cooled
热带水冷</c:v>
                  </c:pt>
                  <c:pt idx="3">
                    <c:v>Liquid-cooled AI
液冷AI</c:v>
                  </c:pt>
                  <c:pt idx="4">
                    <c:v>Cold-climate free cooling
寒冷地区自然冷却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Cooling  制冷</c:v>
                </c:pt>
              </c:strCache>
            </c:strRef>
          </c:tx>
          <c:spPr>
            <a:solidFill>
              <a:srgbClr val="0EA5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Legacy enterprise
传统企业机房</c:v>
                  </c:pt>
                  <c:pt idx="1">
                    <c:v>Tropical air-cooled
热带风冷</c:v>
                  </c:pt>
                  <c:pt idx="2">
                    <c:v>Tropical water-cooled
热带水冷</c:v>
                  </c:pt>
                  <c:pt idx="3">
                    <c:v>Liquid-cooled AI
液冷AI</c:v>
                  </c:pt>
                  <c:pt idx="4">
                    <c:v>Cold-climate free cooling
寒冷地区自然冷却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</c:v>
                </c:pt>
                <c:pt idx="1">
                  <c:v>0.42</c:v>
                </c:pt>
                <c:pt idx="2">
                  <c:v>0.3</c:v>
                </c:pt>
                <c:pt idx="3">
                  <c:v>0.14</c:v>
                </c:pt>
                <c:pt idx="4">
                  <c:v>0.08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Electrical losses  电气损耗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Legacy enterprise
传统企业机房</c:v>
                  </c:pt>
                  <c:pt idx="1">
                    <c:v>Tropical air-cooled
热带风冷</c:v>
                  </c:pt>
                  <c:pt idx="2">
                    <c:v>Tropical water-cooled
热带水冷</c:v>
                  </c:pt>
                  <c:pt idx="3">
                    <c:v>Liquid-cooled AI
液冷AI</c:v>
                  </c:pt>
                  <c:pt idx="4">
                    <c:v>Cold-climate free cooling
寒冷地区自然冷却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0.15</c:v>
                </c:pt>
                <c:pt idx="1">
                  <c:v>0.07</c:v>
                </c:pt>
                <c:pt idx="2">
                  <c:v>0.07</c:v>
                </c:pt>
                <c:pt idx="3">
                  <c:v>0.07</c:v>
                </c:pt>
                <c:pt idx="4">
                  <c:v>0.06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Lighting &amp; other  照明及其他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Legacy enterprise
传统企业机房</c:v>
                  </c:pt>
                  <c:pt idx="1">
                    <c:v>Tropical air-cooled
热带风冷</c:v>
                  </c:pt>
                  <c:pt idx="2">
                    <c:v>Tropical water-cooled
热带水冷</c:v>
                  </c:pt>
                  <c:pt idx="3">
                    <c:v>Liquid-cooled AI
液冷AI</c:v>
                  </c:pt>
                  <c:pt idx="4">
                    <c:v>Cold-climate free cooling
寒冷地区自然冷却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0.05</c:v>
                </c:pt>
                <c:pt idx="1">
                  <c:v>0.02</c:v>
                </c:pt>
                <c:pt idx="2">
                  <c:v>0.015</c:v>
                </c:pt>
                <c:pt idx="3">
                  <c:v>0.01</c:v>
                </c:pt>
                <c:pt idx="4">
                  <c:v>0.01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D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9"/>
          <c:min val="0"/>
        </c:scaling>
        <c:delete val="0"/>
        <c:axPos val="l"/>
        <c:majorGridlines>
          <c:spPr>
            <a:ln w="9525" cap="flat">
              <a:solidFill>
                <a:srgbClr val="E1E3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8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1D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1D3A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B1D3A"/>
                </a:solidFill>
                <a:latin typeface="+mn-lt"/>
              </a:rPr>
              <a:t>Facility CAPEX by system (A05: Tier III, 10 MW)  按系统划分的设施投资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facility CAPEX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D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Design, PM, commissioning &amp; fees  设计、项目管理、调试及费用</c:v>
                  </c:pt>
                  <c:pt idx="1">
                    <c:v>Site works &amp; external  场地及室外工程</c:v>
                  </c:pt>
                  <c:pt idx="2">
                    <c:v>BMS / EPMS / DCIM  BMS/EPMS/DCIM</c:v>
                  </c:pt>
                  <c:pt idx="3">
                    <c:v>IT infrastructure  IT基础设施</c:v>
                  </c:pt>
                  <c:pt idx="4">
                    <c:v>Fire protection &amp; security  消防与安防</c:v>
                  </c:pt>
                  <c:pt idx="5">
                    <c:v>Civil, structural &amp; architectural  土建、结构与建筑</c:v>
                  </c:pt>
                  <c:pt idx="6">
                    <c:v>Mechanical / cooling  暖通/制冷</c:v>
                  </c:pt>
                  <c:pt idx="7">
                    <c:v>Electrical systems  电气系统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0.06</c:v>
                </c:pt>
                <c:pt idx="1">
                  <c:v>0.04</c:v>
                </c:pt>
                <c:pt idx="2">
                  <c:v>0.02</c:v>
                </c:pt>
                <c:pt idx="3">
                  <c:v>0.04</c:v>
                </c:pt>
                <c:pt idx="4">
                  <c:v>0.04</c:v>
                </c:pt>
                <c:pt idx="5">
                  <c:v>0.18</c:v>
                </c:pt>
                <c:pt idx="6">
                  <c:v>0.2</c:v>
                </c:pt>
                <c:pt idx="7">
                  <c:v>0.42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1B1D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D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1D3A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B1D3A"/>
                </a:solidFill>
                <a:latin typeface="+mn-lt"/>
              </a:rPr>
              <a:t>Indicative CAPEX, USD million per MW IT  参考单位投资（百万美元/MW）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M / MW</c:v>
                </c:pt>
              </c:strCache>
            </c:strRef>
          </c:tx>
          <c:spPr>
            <a:solidFill>
              <a:srgbClr val="3F3CB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D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Indonesia</c:v>
                  </c:pt>
                  <c:pt idx="1">
                    <c:v>Malaysia</c:v>
                  </c:pt>
                  <c:pt idx="2">
                    <c:v>Singapore</c:v>
                  </c:pt>
                  <c:pt idx="3">
                    <c:v>China</c:v>
                  </c:pt>
                  <c:pt idx="4">
                    <c:v>India</c:v>
                  </c:pt>
                  <c:pt idx="5">
                    <c:v>Japan</c:v>
                  </c:pt>
                  <c:pt idx="6">
                    <c:v>Australia</c:v>
                  </c:pt>
                  <c:pt idx="7">
                    <c:v>United States</c:v>
                  </c:pt>
                  <c:pt idx="8">
                    <c:v>Western Europe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10.5</c:v>
                </c:pt>
                <c:pt idx="1">
                  <c:v>11</c:v>
                </c:pt>
                <c:pt idx="2">
                  <c:v>14.5</c:v>
                </c:pt>
                <c:pt idx="3">
                  <c:v>7.5</c:v>
                </c:pt>
                <c:pt idx="4">
                  <c:v>7</c:v>
                </c:pt>
                <c:pt idx="5">
                  <c:v>15</c:v>
                </c:pt>
                <c:pt idx="6">
                  <c:v>12.5</c:v>
                </c:pt>
                <c:pt idx="7">
                  <c:v>11.5</c:v>
                </c:pt>
                <c:pt idx="8">
                  <c:v>12.5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1D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D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b"/>
        <c:majorGridlines>
          <c:spPr>
            <a:ln w="9525" cap="flat">
              <a:solidFill>
                <a:srgbClr val="E1E3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F8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B1D3A"/>
                </a:solidFill>
                <a:latin typeface="+mn-lt"/>
              </a:defRPr>
            </a:pPr>
            <a:r>
              <a:rPr sz="1050" b="0" i="0" u="none" strike="noStrike">
                <a:solidFill>
                  <a:srgbClr val="1B1D3A"/>
                </a:solidFill>
                <a:latin typeface="+mn-lt"/>
              </a:rPr>
              <a:t>Annual PUE of the benchmark designs  基准设计年均PUE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PUE</c:v>
                </c:pt>
              </c:strCache>
            </c:strRef>
          </c:tx>
          <c:spPr>
            <a:solidFill>
              <a:srgbClr val="0EA5C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D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A11 Regional edge</c:v>
                  </c:pt>
                  <c:pt idx="1">
                    <c:v>A10 AI gigawatt-class campus</c:v>
                  </c:pt>
                  <c:pt idx="2">
                    <c:v>A09 Highland high-efficiency DC</c:v>
                  </c:pt>
                  <c:pt idx="3">
                    <c:v>A08 AI factory</c:v>
                  </c:pt>
                  <c:pt idx="4">
                    <c:v>A07 Hyperscale cloud campus</c:v>
                  </c:pt>
                  <c:pt idx="5">
                    <c:v>A06 Wholesale / build-to-suit</c:v>
                  </c:pt>
                  <c:pt idx="6">
                    <c:v>A05 Retail colocation</c:v>
                  </c:pt>
                  <c:pt idx="7">
                    <c:v>A04 Modular prefabricated</c:v>
                  </c:pt>
                  <c:pt idx="8">
                    <c:v>A03 Government / sovereign</c:v>
                  </c:pt>
                  <c:pt idx="9">
                    <c:v>A02 Enterprise</c:v>
                  </c:pt>
                  <c:pt idx="10">
                    <c:v>A01 Edge micro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1.38</c:v>
                </c:pt>
                <c:pt idx="1">
                  <c:v>1.18</c:v>
                </c:pt>
                <c:pt idx="2">
                  <c:v>1.23</c:v>
                </c:pt>
                <c:pt idx="3">
                  <c:v>1.19</c:v>
                </c:pt>
                <c:pt idx="4">
                  <c:v>1.28</c:v>
                </c:pt>
                <c:pt idx="5">
                  <c:v>1.28</c:v>
                </c:pt>
                <c:pt idx="6">
                  <c:v>1.39</c:v>
                </c:pt>
                <c:pt idx="7">
                  <c:v>1.5</c:v>
                </c:pt>
                <c:pt idx="8">
                  <c:v>1.51</c:v>
                </c:pt>
                <c:pt idx="9">
                  <c:v>1.51</c:v>
                </c:pt>
                <c:pt idx="10">
                  <c:v>1.5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B1D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D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6"/>
          <c:min val="1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B1D3A"/>
                </a:solidFill>
                <a:latin typeface="+mn-lt"/>
              </a:defRPr>
            </a:pPr>
            <a:r>
              <a:rPr sz="1050" b="0" i="0" u="none" strike="noStrike">
                <a:solidFill>
                  <a:srgbClr val="1B1D3A"/>
                </a:solidFill>
                <a:latin typeface="+mn-lt"/>
              </a:rPr>
              <a:t>Facility CAPEX by system (A05)  按系统划分的设施投资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D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Design, PM, commissioning &amp; fees</c:v>
                  </c:pt>
                  <c:pt idx="1">
                    <c:v>Site works &amp; external</c:v>
                  </c:pt>
                  <c:pt idx="2">
                    <c:v>BMS / EPMS / DCIM</c:v>
                  </c:pt>
                  <c:pt idx="3">
                    <c:v>IT infrastructure</c:v>
                  </c:pt>
                  <c:pt idx="4">
                    <c:v>Fire protection &amp; security</c:v>
                  </c:pt>
                  <c:pt idx="5">
                    <c:v>Civil, structural &amp; architectural</c:v>
                  </c:pt>
                  <c:pt idx="6">
                    <c:v>Mechanical / cooling</c:v>
                  </c:pt>
                  <c:pt idx="7">
                    <c:v>Electrical systems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0.06</c:v>
                </c:pt>
                <c:pt idx="1">
                  <c:v>0.04</c:v>
                </c:pt>
                <c:pt idx="2">
                  <c:v>0.02</c:v>
                </c:pt>
                <c:pt idx="3">
                  <c:v>0.04</c:v>
                </c:pt>
                <c:pt idx="4">
                  <c:v>0.04</c:v>
                </c:pt>
                <c:pt idx="5">
                  <c:v>0.18</c:v>
                </c:pt>
                <c:pt idx="6">
                  <c:v>0.2</c:v>
                </c:pt>
                <c:pt idx="7">
                  <c:v>0.42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900" u="none">
                  <a:solidFill>
                    <a:srgbClr val="1B1D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D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1B1D3A"/>
                </a:solidFill>
                <a:latin typeface="+mn-lt"/>
              </a:defRPr>
            </a:pPr>
            <a:r>
              <a:rPr sz="950" b="0" i="0" u="none" strike="noStrike">
                <a:solidFill>
                  <a:srgbClr val="1B1D3A"/>
                </a:solidFill>
                <a:latin typeface="+mn-lt"/>
              </a:rPr>
              <a:t>USD M per MW IT, benchmark designs  基准设计单位投资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M/MW</c:v>
                </c:pt>
              </c:strCache>
            </c:strRef>
          </c:tx>
          <c:spPr>
            <a:solidFill>
              <a:srgbClr val="3F3CB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B1D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A01</c:v>
                  </c:pt>
                  <c:pt idx="1">
                    <c:v>A02</c:v>
                  </c:pt>
                  <c:pt idx="2">
                    <c:v>A03</c:v>
                  </c:pt>
                  <c:pt idx="3">
                    <c:v>A04</c:v>
                  </c:pt>
                  <c:pt idx="4">
                    <c:v>A05</c:v>
                  </c:pt>
                  <c:pt idx="5">
                    <c:v>A06</c:v>
                  </c:pt>
                  <c:pt idx="6">
                    <c:v>A07</c:v>
                  </c:pt>
                  <c:pt idx="7">
                    <c:v>A08</c:v>
                  </c:pt>
                  <c:pt idx="8">
                    <c:v>A09</c:v>
                  </c:pt>
                  <c:pt idx="9">
                    <c:v>A10</c:v>
                  </c:pt>
                  <c:pt idx="10">
                    <c:v>A11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11.9</c:v>
                </c:pt>
                <c:pt idx="1">
                  <c:v>12</c:v>
                </c:pt>
                <c:pt idx="2">
                  <c:v>15.3</c:v>
                </c:pt>
                <c:pt idx="3">
                  <c:v>13.6</c:v>
                </c:pt>
                <c:pt idx="4">
                  <c:v>11</c:v>
                </c:pt>
                <c:pt idx="5">
                  <c:v>11.3</c:v>
                </c:pt>
                <c:pt idx="6">
                  <c:v>10.2</c:v>
                </c:pt>
                <c:pt idx="7">
                  <c:v>11.1</c:v>
                </c:pt>
                <c:pt idx="8">
                  <c:v>11.3</c:v>
                </c:pt>
                <c:pt idx="9">
                  <c:v>10.2</c:v>
                </c:pt>
                <c:pt idx="10">
                  <c:v>11.4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1B1D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B1D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B1D3A"/>
                </a:solidFill>
                <a:latin typeface="+mn-lt"/>
              </a:defRPr>
            </a:pPr>
            <a:r>
              <a:rPr sz="1050" b="0" i="0" u="none" strike="noStrike">
                <a:solidFill>
                  <a:srgbClr val="1B1D3A"/>
                </a:solidFill>
                <a:latin typeface="+mn-lt"/>
              </a:rPr>
              <a:t>Stabilised OPEX split — A05 retail colocation 10 MW  稳定期运营成本构成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OPEX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A93B"/>
              </a:solidFill>
              <a:effectLst/>
            </c:spPr>
          </c:dPt>
          <c:dPt>
            <c:idx val="1"/>
            <c:bubble3D val="0"/>
            <c:spPr>
              <a:solidFill>
                <a:srgbClr val="3F3CBB"/>
              </a:solidFill>
              <a:effectLst/>
            </c:spPr>
          </c:dPt>
          <c:dPt>
            <c:idx val="2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bubble3D val="0"/>
            <c:spPr>
              <a:solidFill>
                <a:srgbClr val="6B6F8A"/>
              </a:solidFill>
              <a:effectLst/>
            </c:spPr>
          </c:dPt>
          <c:dPt>
            <c:idx val="4"/>
            <c:bubble3D val="0"/>
            <c:spPr>
              <a:solidFill>
                <a:srgbClr val="0EA5C6"/>
              </a:solidFill>
              <a:effectLst/>
            </c:spPr>
          </c:dPt>
          <c:dPt>
            <c:idx val="5"/>
            <c:bubble3D val="0"/>
            <c:spPr>
              <a:solidFill>
                <a:srgbClr val="16A34A"/>
              </a:solidFill>
              <a:effectLst/>
            </c:spPr>
          </c:dPt>
          <c:dPt>
            <c:idx val="6"/>
            <c:bubble3D val="0"/>
            <c:spPr>
              <a:solidFill>
                <a:srgbClr val="A3A6C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Energy 电费</c:v>
                </c:pt>
                <c:pt idx="1">
                  <c:v>Maintenance 维护</c:v>
                </c:pt>
                <c:pt idx="2">
                  <c:v>Staff 人员</c:v>
                </c:pt>
                <c:pt idx="3">
                  <c:v>Insurance 保险</c:v>
                </c:pt>
                <c:pt idx="4">
                  <c:v>Water 水费</c:v>
                </c:pt>
                <c:pt idx="5">
                  <c:v>RECs 绿证</c:v>
                </c:pt>
                <c:pt idx="6">
                  <c:v>Other G&amp;A 其他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7110916</c:v>
                </c:pt>
                <c:pt idx="1">
                  <c:v>1323000</c:v>
                </c:pt>
                <c:pt idx="2">
                  <c:v>666000</c:v>
                </c:pt>
                <c:pt idx="3">
                  <c:v>275625</c:v>
                </c:pt>
                <c:pt idx="4">
                  <c:v>141474</c:v>
                </c:pt>
                <c:pt idx="5">
                  <c:v>206096</c:v>
                </c:pt>
                <c:pt idx="6">
                  <c:v>275625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B1D3A"/>
                </a:solidFill>
                <a:latin typeface="+mn-lt"/>
              </a:defRPr>
            </a:pPr>
            <a:r>
              <a:rPr sz="1050" b="0" i="0" u="none" strike="noStrike">
                <a:solidFill>
                  <a:srgbClr val="1B1D3A"/>
                </a:solidFill>
                <a:latin typeface="+mn-lt"/>
              </a:rPr>
              <a:t>Project IRR incl. exit, unlevered after tax (WACC ≈ 10 %)  项目IRR（含终值，无杠杆税后）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IRR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D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A01 Edge micro</c:v>
                  </c:pt>
                  <c:pt idx="1">
                    <c:v>A05 Retail colocation</c:v>
                  </c:pt>
                  <c:pt idx="2">
                    <c:v>A06 Wholesale / build-to-suit</c:v>
                  </c:pt>
                  <c:pt idx="3">
                    <c:v>A07 Hyperscale cloud campus</c:v>
                  </c:pt>
                  <c:pt idx="4">
                    <c:v>A08 AI factory</c:v>
                  </c:pt>
                  <c:pt idx="5">
                    <c:v>A09 Highland high-efficiency DC</c:v>
                  </c:pt>
                  <c:pt idx="6">
                    <c:v>A10 AI gigawatt-class campus</c:v>
                  </c:pt>
                  <c:pt idx="7">
                    <c:v>A11 Regional edge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5.9</c:v>
                </c:pt>
                <c:pt idx="1">
                  <c:v>8</c:v>
                </c:pt>
                <c:pt idx="2">
                  <c:v>7.4</c:v>
                </c:pt>
                <c:pt idx="3">
                  <c:v>7</c:v>
                </c:pt>
                <c:pt idx="4">
                  <c:v>11</c:v>
                </c:pt>
                <c:pt idx="5">
                  <c:v>6.8</c:v>
                </c:pt>
                <c:pt idx="6">
                  <c:v>11.5</c:v>
                </c:pt>
                <c:pt idx="7">
                  <c:v>9.6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B1D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D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8A"/>
                </a:solidFill>
              </a:rPr>
              <a:t>Data Center Knowledge Base  ·  数据中心知识库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715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88920"/>
            <a:ext cx="69494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69494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BDEFFA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A3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15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pn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png"/><Relationship Id="rId15" Type="http://schemas.openxmlformats.org/officeDocument/2006/relationships/image" Target="../media/image-21-15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image" Target="../media/image-41-5.png"/><Relationship Id="rId6" Type="http://schemas.openxmlformats.org/officeDocument/2006/relationships/image" Target="../media/image-41-6.png"/><Relationship Id="rId7" Type="http://schemas.openxmlformats.org/officeDocument/2006/relationships/image" Target="../media/image-41-7.png"/><Relationship Id="rId8" Type="http://schemas.openxmlformats.org/officeDocument/2006/relationships/image" Target="../media/image-41-8.png"/><Relationship Id="rId9" Type="http://schemas.openxmlformats.org/officeDocument/2006/relationships/image" Target="../media/image-41-9.png"/><Relationship Id="rId10" Type="http://schemas.openxmlformats.org/officeDocument/2006/relationships/image" Target="../media/image-41-10.png"/><Relationship Id="rId11" Type="http://schemas.openxmlformats.org/officeDocument/2006/relationships/image" Target="../media/image-41-11.png"/><Relationship Id="rId12" Type="http://schemas.openxmlformats.org/officeDocument/2006/relationships/image" Target="../media/image-41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6" Type="http://schemas.openxmlformats.org/officeDocument/2006/relationships/image" Target="../media/image-46-6.png"/><Relationship Id="rId7" Type="http://schemas.openxmlformats.org/officeDocument/2006/relationships/image" Target="../media/image-46-7.png"/><Relationship Id="rId8" Type="http://schemas.openxmlformats.org/officeDocument/2006/relationships/image" Target="../media/image-46-8.png"/><Relationship Id="rId9" Type="http://schemas.openxmlformats.org/officeDocument/2006/relationships/image" Target="../media/image-46-9.png"/><Relationship Id="rId10" Type="http://schemas.openxmlformats.org/officeDocument/2006/relationships/image" Target="../media/image-46-10.png"/><Relationship Id="rId11" Type="http://schemas.openxmlformats.org/officeDocument/2006/relationships/image" Target="../media/image-46-11.png"/><Relationship Id="rId12" Type="http://schemas.openxmlformats.org/officeDocument/2006/relationships/image" Target="../media/image-46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image" Target="../media/image-5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09728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0EA5C6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10972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53F"/>
                </a:solidFill>
              </a:rPr>
              <a:t>KNOWLEDGE BASE  ·  知识库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Center Fundamentals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060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DEFFA"/>
                </a:solidFill>
              </a:rPr>
              <a:t>数据中心基础知识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474720"/>
            <a:ext cx="566928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D6D8F5"/>
                </a:solidFill>
              </a:rPr>
              <a:t>What a data center is, how it is classified, its spaces, major and secondary equipment, supporting systems and the project lifecycle — the common basis for project technical assessment.</a:t>
            </a:r>
            <a:endParaRPr lang="en-US" sz="15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BDEFFA"/>
                </a:solidFill>
              </a:rPr>
              <a:t>什么是数据中心、如何分类、功能区、主要与次要设备、支持系统及项目全生命周期——项目技术评估的共同知识基础。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89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3D9"/>
                </a:solidFill>
              </a:rPr>
              <a:t>Project Technical Assessment  ·  项目技术评估   |   Rev. 3   |   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this deck covers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本演示文稿内容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9359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64208"/>
            <a:ext cx="512064" cy="512064"/>
          </a:xfrm>
          <a:prstGeom prst="ellipse">
            <a:avLst/>
          </a:prstGeom>
          <a:solidFill>
            <a:srgbClr val="3F3CB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415" y="1787103"/>
            <a:ext cx="266273" cy="2662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364992" y="15727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CCE6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591056"/>
            <a:ext cx="203911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What is a Data Center?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什么是数据中心？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2249424"/>
            <a:ext cx="263347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B6F8A"/>
                </a:solidFill>
              </a:rPr>
              <a:t>Definition, how it works, key metrics</a:t>
            </a:r>
            <a:endParaRPr lang="en-US" sz="10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定义、工作原理、关键指标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97680" y="1463040"/>
            <a:ext cx="359359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1664208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455" y="1787103"/>
            <a:ext cx="266273" cy="26627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14032" y="15727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CCE6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5120640" y="1591056"/>
            <a:ext cx="203911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Classification &amp; Tiers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分类与等级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5120640" y="2249424"/>
            <a:ext cx="263347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B6F8A"/>
                </a:solidFill>
              </a:rPr>
              <a:t>Types, sizes, Tier I–IV, standards</a:t>
            </a:r>
            <a:endParaRPr lang="en-US" sz="10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类型、规模、Tier I–IV、标准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046720" y="1463040"/>
            <a:ext cx="359359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0" y="1664208"/>
            <a:ext cx="512064" cy="512064"/>
          </a:xfrm>
          <a:prstGeom prst="ellipse">
            <a:avLst/>
          </a:prstGeom>
          <a:solidFill>
            <a:srgbClr val="0EA5C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495" y="1787103"/>
            <a:ext cx="266273" cy="26627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863072" y="15727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CCE6"/>
                </a:solidFill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869680" y="1591056"/>
            <a:ext cx="203911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Spaces &amp; Layout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功能区与布局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8869680" y="2249424"/>
            <a:ext cx="263347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B6F8A"/>
                </a:solidFill>
              </a:rPr>
              <a:t>White, grey, support &amp; site areas</a:t>
            </a:r>
            <a:endParaRPr lang="en-US" sz="10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白区、灰区、支持区与场地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48640" y="3108960"/>
            <a:ext cx="359359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0" y="3310128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15" y="3433023"/>
            <a:ext cx="266273" cy="26627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364992" y="321868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CCE6"/>
                </a:solidFill>
              </a:rPr>
              <a:t>04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1371600" y="3236976"/>
            <a:ext cx="203911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Electrical Systems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电气系统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1371600" y="3895344"/>
            <a:ext cx="263347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B6F8A"/>
                </a:solidFill>
              </a:rPr>
              <a:t>Utility to rack: MV, UPS, generators</a:t>
            </a:r>
            <a:endParaRPr lang="en-US" sz="10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从市电到机柜：中压、UPS、发电机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297680" y="3108960"/>
            <a:ext cx="359359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480560" y="3310128"/>
            <a:ext cx="512064" cy="512064"/>
          </a:xfrm>
          <a:prstGeom prst="ellipse">
            <a:avLst/>
          </a:prstGeom>
          <a:solidFill>
            <a:srgbClr val="0EA5C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3455" y="3433023"/>
            <a:ext cx="266273" cy="26627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114032" y="321868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CCE6"/>
                </a:solidFill>
              </a:rPr>
              <a:t>05</a:t>
            </a:r>
            <a:endParaRPr lang="en-US" sz="2000" dirty="0"/>
          </a:p>
        </p:txBody>
      </p:sp>
      <p:sp>
        <p:nvSpPr>
          <p:cNvPr id="32" name="Text 25"/>
          <p:cNvSpPr txBox="1"/>
          <p:nvPr/>
        </p:nvSpPr>
        <p:spPr>
          <a:xfrm>
            <a:off x="5120640" y="3236976"/>
            <a:ext cx="203911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Cooling Systems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制冷系统</a:t>
            </a:r>
            <a:endParaRPr lang="en-US" sz="1350" dirty="0"/>
          </a:p>
        </p:txBody>
      </p:sp>
      <p:sp>
        <p:nvSpPr>
          <p:cNvPr id="33" name="Text 26"/>
          <p:cNvSpPr txBox="1"/>
          <p:nvPr/>
        </p:nvSpPr>
        <p:spPr>
          <a:xfrm>
            <a:off x="5120640" y="3895344"/>
            <a:ext cx="263347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B6F8A"/>
                </a:solidFill>
              </a:rPr>
              <a:t>Chillers, CRAH, liquid cooling, PUE</a:t>
            </a:r>
            <a:endParaRPr lang="en-US" sz="10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冷机、精密空调、液冷、PUE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046720" y="3108960"/>
            <a:ext cx="359359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229600" y="3310128"/>
            <a:ext cx="512064" cy="512064"/>
          </a:xfrm>
          <a:prstGeom prst="ellipse">
            <a:avLst/>
          </a:prstGeom>
          <a:solidFill>
            <a:srgbClr val="3F3CBB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2495" y="3433023"/>
            <a:ext cx="266273" cy="266273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863072" y="321868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CCE6"/>
                </a:solidFill>
              </a:rPr>
              <a:t>06</a:t>
            </a:r>
            <a:endParaRPr lang="en-US" sz="2000" dirty="0"/>
          </a:p>
        </p:txBody>
      </p:sp>
      <p:sp>
        <p:nvSpPr>
          <p:cNvPr id="38" name="Text 30"/>
          <p:cNvSpPr txBox="1"/>
          <p:nvPr/>
        </p:nvSpPr>
        <p:spPr>
          <a:xfrm>
            <a:off x="8869680" y="3236976"/>
            <a:ext cx="203911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IT &amp; Network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IT与网络</a:t>
            </a:r>
            <a:endParaRPr lang="en-US" sz="1350" dirty="0"/>
          </a:p>
        </p:txBody>
      </p:sp>
      <p:sp>
        <p:nvSpPr>
          <p:cNvPr id="39" name="Text 31"/>
          <p:cNvSpPr txBox="1"/>
          <p:nvPr/>
        </p:nvSpPr>
        <p:spPr>
          <a:xfrm>
            <a:off x="8869680" y="3895344"/>
            <a:ext cx="263347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B6F8A"/>
                </a:solidFill>
              </a:rPr>
              <a:t>Racks, cabling, connectivity</a:t>
            </a:r>
            <a:endParaRPr lang="en-US" sz="10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机柜、布线、网络连接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548640" y="4754880"/>
            <a:ext cx="359359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731520" y="4956048"/>
            <a:ext cx="512064" cy="512064"/>
          </a:xfrm>
          <a:prstGeom prst="ellipse">
            <a:avLst/>
          </a:prstGeom>
          <a:solidFill>
            <a:srgbClr val="F0544F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415" y="5078943"/>
            <a:ext cx="266273" cy="266273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3364992" y="486460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CCE6"/>
                </a:solidFill>
              </a:rPr>
              <a:t>07</a:t>
            </a:r>
            <a:endParaRPr lang="en-US" sz="2000" dirty="0"/>
          </a:p>
        </p:txBody>
      </p:sp>
      <p:sp>
        <p:nvSpPr>
          <p:cNvPr id="44" name="Text 35"/>
          <p:cNvSpPr txBox="1"/>
          <p:nvPr/>
        </p:nvSpPr>
        <p:spPr>
          <a:xfrm>
            <a:off x="1371600" y="4882896"/>
            <a:ext cx="203911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Safety, Security &amp; Monitoring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安全、安防与监控</a:t>
            </a:r>
            <a:endParaRPr lang="en-US" sz="1350" dirty="0"/>
          </a:p>
        </p:txBody>
      </p:sp>
      <p:sp>
        <p:nvSpPr>
          <p:cNvPr id="45" name="Text 36"/>
          <p:cNvSpPr txBox="1"/>
          <p:nvPr/>
        </p:nvSpPr>
        <p:spPr>
          <a:xfrm>
            <a:off x="1371600" y="5541264"/>
            <a:ext cx="263347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B6F8A"/>
                </a:solidFill>
              </a:rPr>
              <a:t>Fire, physical security, BMS/DCIM</a:t>
            </a:r>
            <a:endParaRPr lang="en-US" sz="10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消防、物理安防、BMS/DCIM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4297680" y="4754880"/>
            <a:ext cx="359359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4480560" y="4956048"/>
            <a:ext cx="512064" cy="512064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3455" y="5078943"/>
            <a:ext cx="266273" cy="266273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7114032" y="486460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CCE6"/>
                </a:solidFill>
              </a:rPr>
              <a:t>08</a:t>
            </a:r>
            <a:endParaRPr lang="en-US" sz="2000" dirty="0"/>
          </a:p>
        </p:txBody>
      </p:sp>
      <p:sp>
        <p:nvSpPr>
          <p:cNvPr id="50" name="Text 40"/>
          <p:cNvSpPr txBox="1"/>
          <p:nvPr/>
        </p:nvSpPr>
        <p:spPr>
          <a:xfrm>
            <a:off x="5120640" y="4882896"/>
            <a:ext cx="203911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Supporting Systems &amp; Lifecycle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支持系统与生命周期</a:t>
            </a:r>
            <a:endParaRPr lang="en-US" sz="1350" dirty="0"/>
          </a:p>
        </p:txBody>
      </p:sp>
      <p:sp>
        <p:nvSpPr>
          <p:cNvPr id="51" name="Text 41"/>
          <p:cNvSpPr txBox="1"/>
          <p:nvPr/>
        </p:nvSpPr>
        <p:spPr>
          <a:xfrm>
            <a:off x="5120640" y="5541264"/>
            <a:ext cx="263347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B6F8A"/>
                </a:solidFill>
              </a:rPr>
              <a:t>Civil, cost, schedule, commissioning</a:t>
            </a:r>
            <a:endParaRPr lang="en-US" sz="10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土建、投资、进度、调试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8046720" y="4754880"/>
            <a:ext cx="359359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53" name="Shape 43"/>
          <p:cNvSpPr/>
          <p:nvPr/>
        </p:nvSpPr>
        <p:spPr>
          <a:xfrm>
            <a:off x="8229600" y="4956048"/>
            <a:ext cx="512064" cy="512064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2495" y="5078943"/>
            <a:ext cx="266273" cy="266273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10863072" y="486460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CCE6"/>
                </a:solidFill>
              </a:rPr>
              <a:t>09</a:t>
            </a:r>
            <a:endParaRPr lang="en-US" sz="2000" dirty="0"/>
          </a:p>
        </p:txBody>
      </p:sp>
      <p:sp>
        <p:nvSpPr>
          <p:cNvPr id="56" name="Text 45"/>
          <p:cNvSpPr txBox="1"/>
          <p:nvPr/>
        </p:nvSpPr>
        <p:spPr>
          <a:xfrm>
            <a:off x="8869680" y="4882896"/>
            <a:ext cx="203911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Project Development (2026)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项目开发（2026）</a:t>
            </a:r>
            <a:endParaRPr lang="en-US" sz="1350" dirty="0"/>
          </a:p>
        </p:txBody>
      </p:sp>
      <p:sp>
        <p:nvSpPr>
          <p:cNvPr id="57" name="Text 46"/>
          <p:cNvSpPr txBox="1"/>
          <p:nvPr/>
        </p:nvSpPr>
        <p:spPr>
          <a:xfrm>
            <a:off x="8869680" y="5541264"/>
            <a:ext cx="263347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B6F8A"/>
                </a:solidFill>
              </a:rPr>
              <a:t>PLN, platforms, cooling, BESS, cost, returns, permits</a:t>
            </a:r>
            <a:endParaRPr lang="en-US" sz="10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PLN、平台、制冷、储能、投资、回报、许可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223760" y="822960"/>
            <a:ext cx="4937760" cy="4937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2344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0EA5C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7889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What is a Data Center?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8404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BDEFFA"/>
                </a:solidFill>
              </a:rPr>
              <a:t>什么是数据中心？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663440"/>
            <a:ext cx="65836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D6D8F5"/>
                </a:solidFill>
              </a:rPr>
              <a:t>A purpose-built facility that keeps computing, storage and network equipment running 24/7.</a:t>
            </a:r>
            <a:endParaRPr lang="en-US" sz="14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BDEFFA"/>
                </a:solidFill>
              </a:rPr>
              <a:t>为计算、存储和网络设备提供7×24不间断运行环境的专用设施。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A3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 building engineered around uninterrupted IT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围绕“不间断IT”而设计的建筑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493776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A data center houses IT equipment and provides everything it needs to run continuously: conditioned power, cooling, connectivity, security and 24/7 operations.</a:t>
            </a:r>
            <a:endParaRPr lang="en-US" sz="14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50" dirty="0">
                <a:solidFill>
                  <a:schemeClr val="accent1"/>
                </a:solidFill>
              </a:rPr>
              <a:t>数据中心容纳IT设备，并提供其持续运行所需的一切：稳定电力、制冷、网络连接、安全保障及7×24运维。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493776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IT load (MW) — the electrical power consumed by servers — is the basic unit of size.</a:t>
            </a:r>
            <a:endParaRPr lang="en-US" sz="1250" dirty="0"/>
          </a:p>
          <a:p>
            <a:pPr marL="177800" indent="-177800">
              <a:lnSpc>
                <a:spcPct val="95000"/>
              </a:lnSpc>
              <a:spcAft>
                <a:spcPts val="700"/>
              </a:spcAft>
              <a:buSzPct val="100000"/>
              <a:buChar char=" "/>
            </a:pPr>
            <a:r>
              <a:rPr lang="en-US" sz="1150" dirty="0">
                <a:solidFill>
                  <a:schemeClr val="accent1"/>
                </a:solidFill>
              </a:rPr>
              <a:t>IT负载（MW）——服务器消耗的电功率——是衡量规模的基本单位。</a:t>
            </a:r>
            <a:endParaRPr lang="en-US" sz="12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Almost every watt delivered to IT becomes heat that must be removed.</a:t>
            </a:r>
            <a:endParaRPr lang="en-US" sz="1250" dirty="0"/>
          </a:p>
          <a:p>
            <a:pPr marL="177800" indent="-177800">
              <a:lnSpc>
                <a:spcPct val="95000"/>
              </a:lnSpc>
              <a:spcAft>
                <a:spcPts val="700"/>
              </a:spcAft>
              <a:buSzPct val="100000"/>
              <a:buChar char=" "/>
            </a:pPr>
            <a:r>
              <a:rPr lang="en-US" sz="1150" dirty="0">
                <a:solidFill>
                  <a:schemeClr val="accent1"/>
                </a:solidFill>
              </a:rPr>
              <a:t>输送给IT的几乎每一瓦电力都会变成必须排除的热量。</a:t>
            </a:r>
            <a:endParaRPr lang="en-US" sz="12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Availability is designed in through redundancy (N+1, 2N) and maintainability.</a:t>
            </a:r>
            <a:endParaRPr lang="en-US" sz="1250" dirty="0"/>
          </a:p>
          <a:p>
            <a:pPr marL="177800" indent="-177800">
              <a:lnSpc>
                <a:spcPct val="95000"/>
              </a:lnSpc>
              <a:spcAft>
                <a:spcPts val="700"/>
              </a:spcAft>
              <a:buSzPct val="100000"/>
              <a:buChar char=" "/>
            </a:pPr>
            <a:r>
              <a:rPr lang="en-US" sz="1150" dirty="0">
                <a:solidFill>
                  <a:schemeClr val="accent1"/>
                </a:solidFill>
              </a:rPr>
              <a:t>可用性通过冗余（N+1、2N）及可维护性设计来实现。</a:t>
            </a:r>
            <a:endParaRPr lang="en-US" sz="12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Data centres used ≈ 415 TWh in 2024 (≈ 1.5% of world electricity), projected to roughly double by 2030 (IEA).</a:t>
            </a:r>
            <a:endParaRPr lang="en-US" sz="1250" dirty="0"/>
          </a:p>
          <a:p>
            <a:pPr marL="177800" indent="-177800">
              <a:lnSpc>
                <a:spcPct val="95000"/>
              </a:lnSpc>
              <a:spcAft>
                <a:spcPts val="700"/>
              </a:spcAft>
              <a:buSzPct val="100000"/>
              <a:buChar char=" "/>
            </a:pPr>
            <a:r>
              <a:rPr lang="en-US" sz="1150" dirty="0">
                <a:solidFill>
                  <a:schemeClr val="accent1"/>
                </a:solidFill>
              </a:rPr>
              <a:t>2024年数据中心用电约415 TWh（约占全球1.5%），预计到2030年约翻一番（IEA）。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 flipH="1" flipV="1">
            <a:off x="6675120" y="2331720"/>
            <a:ext cx="1874520" cy="1463040"/>
          </a:xfrm>
          <a:prstGeom prst="line">
            <a:avLst/>
          </a:prstGeom>
          <a:noFill/>
          <a:ln w="19050">
            <a:solidFill>
              <a:srgbClr val="C9CC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8549640" y="2331720"/>
            <a:ext cx="1874520" cy="1463040"/>
          </a:xfrm>
          <a:prstGeom prst="line">
            <a:avLst/>
          </a:prstGeom>
          <a:noFill/>
          <a:ln w="19050">
            <a:solidFill>
              <a:srgbClr val="C9CC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49640" y="3794760"/>
            <a:ext cx="2606040" cy="502920"/>
          </a:xfrm>
          <a:prstGeom prst="line">
            <a:avLst/>
          </a:prstGeom>
          <a:noFill/>
          <a:ln w="19050">
            <a:solidFill>
              <a:srgbClr val="C9CC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3794760"/>
            <a:ext cx="1874520" cy="1920240"/>
          </a:xfrm>
          <a:prstGeom prst="line">
            <a:avLst/>
          </a:prstGeom>
          <a:noFill/>
          <a:ln w="19050">
            <a:solidFill>
              <a:srgbClr val="C9CC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6675120" y="3794760"/>
            <a:ext cx="1874520" cy="1920240"/>
          </a:xfrm>
          <a:prstGeom prst="line">
            <a:avLst/>
          </a:prstGeom>
          <a:noFill/>
          <a:ln w="19050">
            <a:solidFill>
              <a:srgbClr val="C9CC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5943600" y="3794760"/>
            <a:ext cx="2606040" cy="502920"/>
          </a:xfrm>
          <a:prstGeom prst="line">
            <a:avLst/>
          </a:prstGeom>
          <a:noFill/>
          <a:ln w="19050">
            <a:solidFill>
              <a:srgbClr val="C9C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0" y="2834640"/>
            <a:ext cx="1920240" cy="1920240"/>
          </a:xfrm>
          <a:prstGeom prst="ellipse">
            <a:avLst/>
          </a:prstGeom>
          <a:solidFill>
            <a:srgbClr val="17153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2" y="3081528"/>
            <a:ext cx="768096" cy="76809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680960" y="3904488"/>
            <a:ext cx="17373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IT equipment</a:t>
            </a:r>
            <a:endParaRPr lang="en-US" sz="13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BDEFFA"/>
                </a:solidFill>
              </a:rPr>
              <a:t>IT设备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35040" y="201168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F2A93B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159813"/>
            <a:ext cx="362102" cy="36210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506870" y="2011680"/>
            <a:ext cx="90891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Power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FFFFFF"/>
                </a:solidFill>
              </a:rPr>
              <a:t>电力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784080" y="201168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0EA5C6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2159813"/>
            <a:ext cx="362102" cy="3621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255910" y="2011680"/>
            <a:ext cx="90891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Cooling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FFFFFF"/>
                </a:solidFill>
              </a:rPr>
              <a:t>制冷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10515600" y="397764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3F3CBB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4125773"/>
            <a:ext cx="362102" cy="3621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987430" y="3977640"/>
            <a:ext cx="90891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Connectivity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FFFFFF"/>
                </a:solidFill>
              </a:rPr>
              <a:t>网络连接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784080" y="539496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F0544F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0" y="5543093"/>
            <a:ext cx="362102" cy="3621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255910" y="5394960"/>
            <a:ext cx="90891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Security &amp; fire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FFFFFF"/>
                </a:solidFill>
              </a:rPr>
              <a:t>安防与消防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6035040" y="539496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5543093"/>
            <a:ext cx="362102" cy="36210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506870" y="5394960"/>
            <a:ext cx="90891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Operations 24/7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FFFFFF"/>
                </a:solidFill>
              </a:rPr>
              <a:t>7×24运维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5303520" y="397764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B45309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0" y="4125773"/>
            <a:ext cx="362102" cy="36210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5775350" y="3977640"/>
            <a:ext cx="90891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Building &amp; site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FFFFFF"/>
                </a:solidFill>
              </a:rPr>
              <a:t>建筑与场地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How a data center works: power in, heat out, data through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工作原理：电力输入、热量排出、数据流通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737360" cy="868680"/>
          </a:xfrm>
          <a:prstGeom prst="roundRect">
            <a:avLst>
              <a:gd name="adj" fmla="val 7368"/>
            </a:avLst>
          </a:prstGeom>
          <a:solidFill>
            <a:srgbClr val="F2A93B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7111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42416" y="1828800"/>
            <a:ext cx="120700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Utility grid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FFFFFF"/>
                </a:solidFill>
              </a:rPr>
              <a:t>市电电网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304288" y="2263140"/>
            <a:ext cx="118872" cy="91"/>
          </a:xfrm>
          <a:prstGeom prst="line">
            <a:avLst/>
          </a:prstGeom>
          <a:noFill/>
          <a:ln w="22225">
            <a:solidFill>
              <a:srgbClr val="1B1D3A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441448" y="1828800"/>
            <a:ext cx="1737360" cy="868680"/>
          </a:xfrm>
          <a:prstGeom prst="roundRect">
            <a:avLst>
              <a:gd name="adj" fmla="val 7368"/>
            </a:avLst>
          </a:prstGeom>
          <a:solidFill>
            <a:srgbClr val="F2A93B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207111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935224" y="1828800"/>
            <a:ext cx="120700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Power chain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FFFFFF"/>
                </a:solidFill>
              </a:rPr>
              <a:t>供电链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197096" y="2263140"/>
            <a:ext cx="118872" cy="91"/>
          </a:xfrm>
          <a:prstGeom prst="line">
            <a:avLst/>
          </a:prstGeom>
          <a:noFill/>
          <a:ln w="22225">
            <a:solidFill>
              <a:srgbClr val="1B1D3A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4334256" y="1828800"/>
            <a:ext cx="1737360" cy="868680"/>
          </a:xfrm>
          <a:prstGeom prst="roundRect">
            <a:avLst>
              <a:gd name="adj" fmla="val 7368"/>
            </a:avLst>
          </a:prstGeom>
          <a:solidFill>
            <a:srgbClr val="3F3CBB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207111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828032" y="1828800"/>
            <a:ext cx="120700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IT racks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FFFFFF"/>
                </a:solidFill>
              </a:rPr>
              <a:t>IT机柜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089904" y="2263140"/>
            <a:ext cx="118872" cy="91"/>
          </a:xfrm>
          <a:prstGeom prst="line">
            <a:avLst/>
          </a:prstGeom>
          <a:noFill/>
          <a:ln w="22225">
            <a:solidFill>
              <a:srgbClr val="1B1D3A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6227064" y="1828800"/>
            <a:ext cx="1737360" cy="868680"/>
          </a:xfrm>
          <a:prstGeom prst="roundRect">
            <a:avLst>
              <a:gd name="adj" fmla="val 7368"/>
            </a:avLst>
          </a:prstGeom>
          <a:solidFill>
            <a:srgbClr val="F0544F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04" y="207111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720840" y="1828800"/>
            <a:ext cx="120700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Heat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FFFFFF"/>
                </a:solidFill>
              </a:rPr>
              <a:t>热量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7982712" y="2263140"/>
            <a:ext cx="118872" cy="91"/>
          </a:xfrm>
          <a:prstGeom prst="line">
            <a:avLst/>
          </a:prstGeom>
          <a:noFill/>
          <a:ln w="22225">
            <a:solidFill>
              <a:srgbClr val="1B1D3A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8119872" y="1828800"/>
            <a:ext cx="1737360" cy="868680"/>
          </a:xfrm>
          <a:prstGeom prst="roundRect">
            <a:avLst>
              <a:gd name="adj" fmla="val 7368"/>
            </a:avLst>
          </a:prstGeom>
          <a:solidFill>
            <a:srgbClr val="0EA5C6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2071116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613648" y="1828800"/>
            <a:ext cx="120700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Cooling chain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FFFFFF"/>
                </a:solidFill>
              </a:rPr>
              <a:t>制冷链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9875520" y="2263140"/>
            <a:ext cx="118872" cy="91"/>
          </a:xfrm>
          <a:prstGeom prst="line">
            <a:avLst/>
          </a:prstGeom>
          <a:noFill/>
          <a:ln w="22225">
            <a:solidFill>
              <a:srgbClr val="1B1D3A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10012680" y="1828800"/>
            <a:ext cx="1737360" cy="868680"/>
          </a:xfrm>
          <a:prstGeom prst="roundRect">
            <a:avLst>
              <a:gd name="adj" fmla="val 7368"/>
            </a:avLst>
          </a:prstGeom>
          <a:solidFill>
            <a:srgbClr val="0EA5C6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4120" y="2071116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0506456" y="1828800"/>
            <a:ext cx="120700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Atmosphere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FFFFFF"/>
                </a:solidFill>
              </a:rPr>
              <a:t>大气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2441448" y="2788920"/>
            <a:ext cx="182880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B6F8A"/>
                </a:solidFill>
              </a:rPr>
              <a:t>Transformers, switchgear, UPS + batteries and generators condition and back up power.</a:t>
            </a:r>
            <a:endParaRPr lang="en-US" sz="10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变压器、开关柜、UPS+电池及发电机负责电力调理与备用。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4334256" y="2788920"/>
            <a:ext cx="182880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B6F8A"/>
                </a:solidFill>
              </a:rPr>
              <a:t>Servers, storage and switches turn ≈ 100% of input power into heat.</a:t>
            </a:r>
            <a:endParaRPr lang="en-US" sz="10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服务器、存储与交换机几乎将100%输入功率转化为热量。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8119872" y="2788920"/>
            <a:ext cx="182880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B6F8A"/>
                </a:solidFill>
              </a:rPr>
              <a:t>CRAH / CDU → chillers → cooling towers or dry coolers reject heat outside.</a:t>
            </a:r>
            <a:endParaRPr lang="en-US" sz="10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精密空调/CDU→冷机→冷却塔或干冷器将热量排至室外。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548640" y="4023360"/>
            <a:ext cx="11094415" cy="1920240"/>
          </a:xfrm>
          <a:prstGeom prst="rect">
            <a:avLst/>
          </a:prstGeom>
          <a:solidFill>
            <a:srgbClr val="F1F2FA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73152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DATA PATH  ·  数据路径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777240" y="4480560"/>
            <a:ext cx="18745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C9CCE6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677156"/>
            <a:ext cx="384048" cy="38404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271016" y="4480560"/>
            <a:ext cx="1344168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Carriers &amp; internet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运营商与互联网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2670048" y="4869180"/>
            <a:ext cx="310896" cy="91"/>
          </a:xfrm>
          <a:prstGeom prst="line">
            <a:avLst/>
          </a:prstGeom>
          <a:noFill/>
          <a:ln w="22225">
            <a:solidFill>
              <a:srgbClr val="3F3CBB"/>
            </a:solidFill>
            <a:prstDash val="solid"/>
            <a:headEnd type="triangle"/>
            <a:tailEnd type="triangle"/>
          </a:ln>
        </p:spPr>
      </p:sp>
      <p:sp>
        <p:nvSpPr>
          <p:cNvPr id="36" name="Shape 27"/>
          <p:cNvSpPr/>
          <p:nvPr/>
        </p:nvSpPr>
        <p:spPr>
          <a:xfrm>
            <a:off x="2999232" y="4480560"/>
            <a:ext cx="18745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C9CCE6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0672" y="4677156"/>
            <a:ext cx="384048" cy="384048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3493008" y="4480560"/>
            <a:ext cx="1344168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Diverse fibre entries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分离光纤入口</a:t>
            </a:r>
            <a:endParaRPr lang="en-US" sz="1200" dirty="0"/>
          </a:p>
        </p:txBody>
      </p:sp>
      <p:sp>
        <p:nvSpPr>
          <p:cNvPr id="39" name="Shape 29"/>
          <p:cNvSpPr/>
          <p:nvPr/>
        </p:nvSpPr>
        <p:spPr>
          <a:xfrm>
            <a:off x="4892040" y="4869180"/>
            <a:ext cx="310896" cy="91"/>
          </a:xfrm>
          <a:prstGeom prst="line">
            <a:avLst/>
          </a:prstGeom>
          <a:noFill/>
          <a:ln w="22225">
            <a:solidFill>
              <a:srgbClr val="3F3CBB"/>
            </a:solidFill>
            <a:prstDash val="solid"/>
            <a:headEnd type="triangle"/>
            <a:tailEnd type="triangle"/>
          </a:ln>
        </p:spPr>
      </p:sp>
      <p:sp>
        <p:nvSpPr>
          <p:cNvPr id="40" name="Shape 30"/>
          <p:cNvSpPr/>
          <p:nvPr/>
        </p:nvSpPr>
        <p:spPr>
          <a:xfrm>
            <a:off x="5221224" y="4480560"/>
            <a:ext cx="18745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C9CCE6"/>
            </a:solidFill>
            <a:prstDash val="solid"/>
          </a:ln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12664" y="4677156"/>
            <a:ext cx="384048" cy="384048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5715000" y="4480560"/>
            <a:ext cx="1344168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Meet-Me Room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运营商交汇间</a:t>
            </a:r>
            <a:endParaRPr lang="en-US" sz="1200" dirty="0"/>
          </a:p>
        </p:txBody>
      </p:sp>
      <p:sp>
        <p:nvSpPr>
          <p:cNvPr id="43" name="Shape 32"/>
          <p:cNvSpPr/>
          <p:nvPr/>
        </p:nvSpPr>
        <p:spPr>
          <a:xfrm>
            <a:off x="7114032" y="4869180"/>
            <a:ext cx="310896" cy="91"/>
          </a:xfrm>
          <a:prstGeom prst="line">
            <a:avLst/>
          </a:prstGeom>
          <a:noFill/>
          <a:ln w="22225">
            <a:solidFill>
              <a:srgbClr val="3F3CBB"/>
            </a:solidFill>
            <a:prstDash val="solid"/>
            <a:headEnd type="triangle"/>
            <a:tailEnd type="triangle"/>
          </a:ln>
        </p:spPr>
      </p:sp>
      <p:sp>
        <p:nvSpPr>
          <p:cNvPr id="44" name="Shape 33"/>
          <p:cNvSpPr/>
          <p:nvPr/>
        </p:nvSpPr>
        <p:spPr>
          <a:xfrm>
            <a:off x="7443216" y="4480560"/>
            <a:ext cx="18745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C9CCE6"/>
            </a:solidFill>
            <a:prstDash val="solid"/>
          </a:ln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4656" y="4677156"/>
            <a:ext cx="384048" cy="384048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7936992" y="4480560"/>
            <a:ext cx="1344168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Core / spine-leaf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核心/叶脊网络</a:t>
            </a:r>
            <a:endParaRPr lang="en-US" sz="1200" dirty="0"/>
          </a:p>
        </p:txBody>
      </p:sp>
      <p:sp>
        <p:nvSpPr>
          <p:cNvPr id="47" name="Shape 35"/>
          <p:cNvSpPr/>
          <p:nvPr/>
        </p:nvSpPr>
        <p:spPr>
          <a:xfrm>
            <a:off x="9336024" y="4869180"/>
            <a:ext cx="310896" cy="91"/>
          </a:xfrm>
          <a:prstGeom prst="line">
            <a:avLst/>
          </a:prstGeom>
          <a:noFill/>
          <a:ln w="22225">
            <a:solidFill>
              <a:srgbClr val="3F3CBB"/>
            </a:solidFill>
            <a:prstDash val="solid"/>
            <a:headEnd type="triangle"/>
            <a:tailEnd type="triangle"/>
          </a:ln>
        </p:spPr>
      </p:sp>
      <p:sp>
        <p:nvSpPr>
          <p:cNvPr id="48" name="Shape 36"/>
          <p:cNvSpPr/>
          <p:nvPr/>
        </p:nvSpPr>
        <p:spPr>
          <a:xfrm>
            <a:off x="9665208" y="4480560"/>
            <a:ext cx="18745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C9CCE6"/>
            </a:solidFill>
            <a:prstDash val="solid"/>
          </a:ln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56648" y="4677156"/>
            <a:ext cx="384048" cy="384048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10158984" y="4480560"/>
            <a:ext cx="1344168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Servers &amp; storage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服务器与存储</a:t>
            </a:r>
            <a:endParaRPr lang="en-US" sz="1200" dirty="0"/>
          </a:p>
        </p:txBody>
      </p:sp>
      <p:sp>
        <p:nvSpPr>
          <p:cNvPr id="51" name="Text 38"/>
          <p:cNvSpPr txBox="1"/>
          <p:nvPr/>
        </p:nvSpPr>
        <p:spPr>
          <a:xfrm>
            <a:off x="77724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B1D3A"/>
                </a:solidFill>
              </a:rPr>
              <a:t>Redundant paths everywhere: two power paths, N+1 cooling, two fibre routes.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处处冗余：双供电路径、N+1制冷、双光纤路由。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Five numbers that describe any data center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描述任何数据中心的五个关键数字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57400" cy="443484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502920" cy="73152"/>
          </a:xfrm>
          <a:prstGeom prst="rect">
            <a:avLst/>
          </a:prstGeom>
          <a:solidFill>
            <a:srgbClr val="3F3CB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0574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3CB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MW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971800"/>
            <a:ext cx="17373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IT load</a:t>
            </a:r>
            <a:endParaRPr lang="en-US" sz="14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300" b="1" dirty="0">
                <a:solidFill>
                  <a:schemeClr val="accent1"/>
                </a:solidFill>
              </a:rPr>
              <a:t>IT负载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794760"/>
            <a:ext cx="173736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6B6F8A"/>
                </a:solidFill>
              </a:rPr>
              <a:t>Design power for IT equipment — sets the size of everything else.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IT设备设计功率——决定其他一切的规模。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88920" y="1600200"/>
            <a:ext cx="2057400" cy="443484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17520" y="1874520"/>
            <a:ext cx="50292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71800" y="20574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kW/rack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2990088" y="2971800"/>
            <a:ext cx="17373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Rack density</a:t>
            </a:r>
            <a:endParaRPr lang="en-US" sz="14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300" b="1" dirty="0">
                <a:solidFill>
                  <a:schemeClr val="accent1"/>
                </a:solidFill>
              </a:rPr>
              <a:t>机柜功率密度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90088" y="3794760"/>
            <a:ext cx="173736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6B6F8A"/>
                </a:solidFill>
              </a:rPr>
              <a:t>5–15 kW enterprise / cloud; 40–140 kW AI GPU racks.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企业/云5–15 kW；AI GPU机柜40–140 kW。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1600200"/>
            <a:ext cx="2057400" cy="443484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57800" y="1874520"/>
            <a:ext cx="502920" cy="73152"/>
          </a:xfrm>
          <a:prstGeom prst="rect">
            <a:avLst/>
          </a:prstGeom>
          <a:solidFill>
            <a:srgbClr val="0EA5C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12080" y="20574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A5C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PUE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5230368" y="2971800"/>
            <a:ext cx="17373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Power Usage Effectiveness</a:t>
            </a:r>
            <a:endParaRPr lang="en-US" sz="14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300" b="1" dirty="0">
                <a:solidFill>
                  <a:schemeClr val="accent1"/>
                </a:solidFill>
              </a:rPr>
              <a:t>电能利用效率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30368" y="3794760"/>
            <a:ext cx="173736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6B6F8A"/>
                </a:solidFill>
              </a:rPr>
              <a:t>Total ÷ IT energy. Global average ≈ 1.5; best ≈ 1.1.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总能耗÷IT能耗。全球平均约1.5；最佳约1.1。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69480" y="1600200"/>
            <a:ext cx="2057400" cy="443484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0" y="1874520"/>
            <a:ext cx="50292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52360" y="20574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WUE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7470648" y="2971800"/>
            <a:ext cx="17373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Water Usage Effectiveness</a:t>
            </a:r>
            <a:endParaRPr lang="en-US" sz="14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300" b="1" dirty="0">
                <a:solidFill>
                  <a:schemeClr val="accent1"/>
                </a:solidFill>
              </a:rPr>
              <a:t>水利用效率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470648" y="3794760"/>
            <a:ext cx="173736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6B6F8A"/>
                </a:solidFill>
              </a:rPr>
              <a:t>Litres of water per kWh of IT energy (0 – 2+).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每kWh IT能耗的用水量（0–2+升）。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09760" y="1600200"/>
            <a:ext cx="2057400" cy="443484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38360" y="1874520"/>
            <a:ext cx="502920" cy="73152"/>
          </a:xfrm>
          <a:prstGeom prst="rect">
            <a:avLst/>
          </a:prstGeom>
          <a:solidFill>
            <a:srgbClr val="F054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0" y="20574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54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99.982%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9710928" y="2971800"/>
            <a:ext cx="17373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Availability (Tier III)</a:t>
            </a:r>
            <a:endParaRPr lang="en-US" sz="14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300" b="1" dirty="0">
                <a:solidFill>
                  <a:schemeClr val="accent1"/>
                </a:solidFill>
              </a:rPr>
              <a:t>可用性（Tier III）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710928" y="3794760"/>
            <a:ext cx="173736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6B6F8A"/>
                </a:solidFill>
              </a:rPr>
              <a:t>≈ 1.6 h/year of downtime — designed via redundancy.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每年约1.6小时停机——通过冗余设计实现。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223760" y="822960"/>
            <a:ext cx="4937760" cy="4937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2344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0EA5C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7889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Classification &amp; Tier Standards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8404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BDEFFA"/>
                </a:solidFill>
              </a:rPr>
              <a:t>分类与等级标准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663440"/>
            <a:ext cx="65836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D6D8F5"/>
                </a:solidFill>
              </a:rPr>
              <a:t>By business model, by size and by resilience (Tier / Rated / Class).</a:t>
            </a:r>
            <a:endParaRPr lang="en-US" sz="14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BDEFFA"/>
                </a:solidFill>
              </a:rPr>
              <a:t>按商业模式、按规模、按韧性（Tier / Rated / Class）分类。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A3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Eight common types of data center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八种常见数据中心类型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334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3F3CB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81234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636776"/>
            <a:ext cx="176479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Enterprise (Owner-operated)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企业自建（自用）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31720"/>
            <a:ext cx="2313432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F8A"/>
                </a:solidFill>
              </a:rPr>
              <a:t>Built and operated by one organisation for its own IT.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由单一机构为自身IT建设并运营。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31520" y="3364992"/>
            <a:ext cx="2267712" cy="256032"/>
          </a:xfrm>
          <a:prstGeom prst="roundRect">
            <a:avLst>
              <a:gd name="adj" fmla="val 50000"/>
            </a:avLst>
          </a:prstGeom>
          <a:solidFill>
            <a:srgbClr val="E4E6F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33649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785"/>
                </a:solidFill>
              </a:rPr>
              <a:t>200 kW – 10 MW   |   5–12 kW/rack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55848" y="1508760"/>
            <a:ext cx="26334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38728" y="1691640"/>
            <a:ext cx="502920" cy="502920"/>
          </a:xfrm>
          <a:prstGeom prst="ellipse">
            <a:avLst/>
          </a:prstGeom>
          <a:solidFill>
            <a:srgbClr val="0EA5C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429" y="181234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33088" y="1636776"/>
            <a:ext cx="176479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Retail Colocation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零售型托管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538728" y="2331720"/>
            <a:ext cx="2313432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F8A"/>
                </a:solidFill>
              </a:rPr>
              <a:t>Operator leases racks, cages and suites to many tenants; carrier-neutral interconnection is a key value.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运营商向众多租户出租机柜、笼位和包间；运营商中立的互联是核心价值。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538728" y="3364992"/>
            <a:ext cx="2267712" cy="256032"/>
          </a:xfrm>
          <a:prstGeom prst="roundRect">
            <a:avLst>
              <a:gd name="adj" fmla="val 50000"/>
            </a:avLst>
          </a:prstGeom>
          <a:solidFill>
            <a:srgbClr val="E4E6F6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3538728" y="33649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785"/>
                </a:solidFill>
              </a:rPr>
              <a:t>2 MW – 30 MW   |   6–15 kW/rack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163056" y="1508760"/>
            <a:ext cx="26334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45936" y="169164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637" y="1812341"/>
            <a:ext cx="261518" cy="26151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940296" y="1636776"/>
            <a:ext cx="176479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Wholesale / Build-to-Suit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批发型 / 定制建设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345936" y="2331720"/>
            <a:ext cx="2313432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F8A"/>
                </a:solidFill>
              </a:rPr>
              <a:t>Whole data halls or buildings leased to a single large tenant (often a cloud provider) on long terms.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整个机房或整栋楼长期租给单一大租户（通常为云服务商）。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345936" y="3364992"/>
            <a:ext cx="2267712" cy="256032"/>
          </a:xfrm>
          <a:prstGeom prst="roundRect">
            <a:avLst>
              <a:gd name="adj" fmla="val 50000"/>
            </a:avLst>
          </a:prstGeom>
          <a:solidFill>
            <a:srgbClr val="E4E6F6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345936" y="33649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785"/>
                </a:solidFill>
              </a:rPr>
              <a:t>10 MW – 100 MW   |   10–25 kW/rack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8970264" y="1508760"/>
            <a:ext cx="26334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153144" y="1691640"/>
            <a:ext cx="502920" cy="502920"/>
          </a:xfrm>
          <a:prstGeom prst="ellipse">
            <a:avLst/>
          </a:prstGeom>
          <a:solidFill>
            <a:srgbClr val="3F3CB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3845" y="1812341"/>
            <a:ext cx="261518" cy="26151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747504" y="1636776"/>
            <a:ext cx="176479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Hyperscale / Cloud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超大规模 / 云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9153144" y="2331720"/>
            <a:ext cx="2313432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F8A"/>
                </a:solidFill>
              </a:rPr>
              <a:t>Campus-scale facilities owned or leased by cloud and internet giants, highly standardised and efficient.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云与互联网巨头自有或租赁的园区级设施，高度标准化、高能效。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9153144" y="3364992"/>
            <a:ext cx="2267712" cy="256032"/>
          </a:xfrm>
          <a:prstGeom prst="roundRect">
            <a:avLst>
              <a:gd name="adj" fmla="val 50000"/>
            </a:avLst>
          </a:prstGeom>
          <a:solidFill>
            <a:srgbClr val="E4E6F6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9153144" y="33649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785"/>
                </a:solidFill>
              </a:rPr>
              <a:t>30 MW – 500 MW   |   12–30 kW/rack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548640" y="3904488"/>
            <a:ext cx="26334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31520" y="4087368"/>
            <a:ext cx="502920" cy="502920"/>
          </a:xfrm>
          <a:prstGeom prst="ellipse">
            <a:avLst/>
          </a:prstGeom>
          <a:solidFill>
            <a:srgbClr val="F0544F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1" y="4208069"/>
            <a:ext cx="261518" cy="261518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325880" y="4032504"/>
            <a:ext cx="176479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AI Factory / HPC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AI算力中心 / 高性能计算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731520" y="4727448"/>
            <a:ext cx="2313432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F8A"/>
                </a:solidFill>
              </a:rPr>
              <a:t>GPU clusters for AI training and inference; 40–140 kW per rack, liquid cooling, very large single-site power.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用于AI训练和推理的GPU集群；单柜40–140 kW，液冷，单站点用电极大。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731520" y="5760720"/>
            <a:ext cx="2267712" cy="256032"/>
          </a:xfrm>
          <a:prstGeom prst="roundRect">
            <a:avLst>
              <a:gd name="adj" fmla="val 50000"/>
            </a:avLst>
          </a:prstGeom>
          <a:solidFill>
            <a:srgbClr val="E4E6F6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731520" y="576072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785"/>
                </a:solidFill>
              </a:rPr>
              <a:t>5 MW – 1 GW   |   40–140 kW/rack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3355848" y="3904488"/>
            <a:ext cx="26334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3538728" y="4087368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9429" y="4208069"/>
            <a:ext cx="261518" cy="261518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4133088" y="4032504"/>
            <a:ext cx="176479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Edge / Micro Data Center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边缘 / 微型数据中心</a:t>
            </a:r>
            <a:endParaRPr lang="en-US" sz="1300" dirty="0"/>
          </a:p>
        </p:txBody>
      </p:sp>
      <p:sp>
        <p:nvSpPr>
          <p:cNvPr id="43" name="Text 35"/>
          <p:cNvSpPr txBox="1"/>
          <p:nvPr/>
        </p:nvSpPr>
        <p:spPr>
          <a:xfrm>
            <a:off x="3538728" y="4727448"/>
            <a:ext cx="2313432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F8A"/>
                </a:solidFill>
              </a:rPr>
              <a:t>Sites close to users or devices for low latency (5G, CDN, IoT, AI inference) — from micro sites to regional edge campuses; often prefabricated.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靠近用户或设备以降低时延的站点（5G、CDN、物联网、AI推理）——从微型站点到区域边缘园区；常为预制式。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3538728" y="5760720"/>
            <a:ext cx="2267712" cy="256032"/>
          </a:xfrm>
          <a:prstGeom prst="roundRect">
            <a:avLst>
              <a:gd name="adj" fmla="val 50000"/>
            </a:avLst>
          </a:prstGeom>
          <a:solidFill>
            <a:srgbClr val="E4E6F6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3538728" y="576072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785"/>
                </a:solidFill>
              </a:rPr>
              <a:t>50 kW – 30 MW   |   5–20 kW/rack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6163056" y="3904488"/>
            <a:ext cx="26334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345936" y="4087368"/>
            <a:ext cx="502920" cy="50292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6637" y="4208069"/>
            <a:ext cx="261518" cy="261518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6940296" y="4032504"/>
            <a:ext cx="176479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Government / Sovereign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政府 / 主权数据中心</a:t>
            </a:r>
            <a:endParaRPr lang="en-US" sz="1300" dirty="0"/>
          </a:p>
        </p:txBody>
      </p:sp>
      <p:sp>
        <p:nvSpPr>
          <p:cNvPr id="50" name="Text 41"/>
          <p:cNvSpPr txBox="1"/>
          <p:nvPr/>
        </p:nvSpPr>
        <p:spPr>
          <a:xfrm>
            <a:off x="6345936" y="4727448"/>
            <a:ext cx="2313432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F8A"/>
                </a:solidFill>
              </a:rPr>
              <a:t>National or regional government facilities with data-sovereignty and high-security requirements.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具有数据主权及高安全要求的国家或地方政府设施。</a:t>
            </a:r>
            <a:endParaRPr lang="en-US" sz="1050" dirty="0"/>
          </a:p>
        </p:txBody>
      </p:sp>
      <p:sp>
        <p:nvSpPr>
          <p:cNvPr id="51" name="Shape 42"/>
          <p:cNvSpPr/>
          <p:nvPr/>
        </p:nvSpPr>
        <p:spPr>
          <a:xfrm>
            <a:off x="6345936" y="5760720"/>
            <a:ext cx="2267712" cy="256032"/>
          </a:xfrm>
          <a:prstGeom prst="roundRect">
            <a:avLst>
              <a:gd name="adj" fmla="val 50000"/>
            </a:avLst>
          </a:prstGeom>
          <a:solidFill>
            <a:srgbClr val="E4E6F6"/>
          </a:solidFill>
          <a:ln/>
        </p:spPr>
      </p:sp>
      <p:sp>
        <p:nvSpPr>
          <p:cNvPr id="52" name="Text 43"/>
          <p:cNvSpPr txBox="1"/>
          <p:nvPr/>
        </p:nvSpPr>
        <p:spPr>
          <a:xfrm>
            <a:off x="6345936" y="576072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785"/>
                </a:solidFill>
              </a:rPr>
              <a:t>1 MW – 50 MW   |   6–20 kW/rack</a:t>
            </a:r>
            <a:endParaRPr lang="en-US" sz="900" dirty="0"/>
          </a:p>
        </p:txBody>
      </p:sp>
      <p:sp>
        <p:nvSpPr>
          <p:cNvPr id="53" name="Shape 44"/>
          <p:cNvSpPr/>
          <p:nvPr/>
        </p:nvSpPr>
        <p:spPr>
          <a:xfrm>
            <a:off x="8970264" y="3904488"/>
            <a:ext cx="26334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9153144" y="4087368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3845" y="4208069"/>
            <a:ext cx="261518" cy="261518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9747504" y="4032504"/>
            <a:ext cx="176479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Modular / Prefabricated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模块化 / 预制式</a:t>
            </a:r>
            <a:endParaRPr lang="en-US" sz="1300" dirty="0"/>
          </a:p>
        </p:txBody>
      </p:sp>
      <p:sp>
        <p:nvSpPr>
          <p:cNvPr id="57" name="Text 47"/>
          <p:cNvSpPr txBox="1"/>
          <p:nvPr/>
        </p:nvSpPr>
        <p:spPr>
          <a:xfrm>
            <a:off x="9153144" y="4727448"/>
            <a:ext cx="2313432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F8A"/>
                </a:solidFill>
              </a:rPr>
              <a:t>Factory-built power, cooling and IT modules assembled on site — faster delivery and phased growth.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在工厂预制电力、制冷与IT模块并在现场拼装——交付更快、可分期扩展。</a:t>
            </a:r>
            <a:endParaRPr lang="en-US" sz="1050" dirty="0"/>
          </a:p>
        </p:txBody>
      </p:sp>
      <p:sp>
        <p:nvSpPr>
          <p:cNvPr id="58" name="Shape 48"/>
          <p:cNvSpPr/>
          <p:nvPr/>
        </p:nvSpPr>
        <p:spPr>
          <a:xfrm>
            <a:off x="9153144" y="5760720"/>
            <a:ext cx="2267712" cy="256032"/>
          </a:xfrm>
          <a:prstGeom prst="roundRect">
            <a:avLst>
              <a:gd name="adj" fmla="val 50000"/>
            </a:avLst>
          </a:prstGeom>
          <a:solidFill>
            <a:srgbClr val="E4E6F6"/>
          </a:solidFill>
          <a:ln/>
        </p:spPr>
      </p:sp>
      <p:sp>
        <p:nvSpPr>
          <p:cNvPr id="59" name="Text 49"/>
          <p:cNvSpPr txBox="1"/>
          <p:nvPr/>
        </p:nvSpPr>
        <p:spPr>
          <a:xfrm>
            <a:off x="9153144" y="576072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785"/>
                </a:solidFill>
              </a:rPr>
              <a:t>200 kW – 20 MW   |   8–40 kW/rack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Size classes by IT load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按IT负载划分的规模等级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3504" y="3474720"/>
            <a:ext cx="1739341" cy="731520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03504" y="3547872"/>
            <a:ext cx="17393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3F"/>
                </a:solidFill>
              </a:rPr>
              <a:t>&lt; 0.5 MW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297680"/>
            <a:ext cx="1757629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Micro / Edge</a:t>
            </a:r>
            <a:endParaRPr lang="en-US" sz="13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微型 / 边缘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4892040"/>
            <a:ext cx="1757629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F8A"/>
                </a:solidFill>
              </a:rPr>
              <a:t>≤ 100 racks</a:t>
            </a:r>
            <a:endParaRPr lang="en-US" sz="11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≤ 100 个机柜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2573" y="3090672"/>
            <a:ext cx="1739341" cy="1115568"/>
          </a:xfrm>
          <a:prstGeom prst="rect">
            <a:avLst/>
          </a:prstGeom>
          <a:solidFill>
            <a:srgbClr val="A5B4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52573" y="3163824"/>
            <a:ext cx="17393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3F"/>
                </a:solidFill>
              </a:rPr>
              <a:t>0.5 – 2 MW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443429" y="4297680"/>
            <a:ext cx="1757629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Small</a:t>
            </a:r>
            <a:endParaRPr lang="en-US" sz="13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小型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443429" y="4892040"/>
            <a:ext cx="1757629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F8A"/>
                </a:solidFill>
              </a:rPr>
              <a:t>100 – 400 racks</a:t>
            </a:r>
            <a:endParaRPr lang="en-US" sz="11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100 – 400 个机柜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01642" y="2706624"/>
            <a:ext cx="1739341" cy="149961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01642" y="2779776"/>
            <a:ext cx="17393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3F"/>
                </a:solidFill>
              </a:rPr>
              <a:t>2 – 10 MW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92498" y="4297680"/>
            <a:ext cx="1757629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Medium</a:t>
            </a:r>
            <a:endParaRPr lang="en-US" sz="13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中型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292498" y="4892040"/>
            <a:ext cx="1757629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F8A"/>
                </a:solidFill>
              </a:rPr>
              <a:t>400 – 1,500 racks</a:t>
            </a:r>
            <a:endParaRPr lang="en-US" sz="11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400 – 1,500 个机柜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50712" y="2322576"/>
            <a:ext cx="1739341" cy="18836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50712" y="2395728"/>
            <a:ext cx="17393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 – 30 MW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141568" y="4297680"/>
            <a:ext cx="1757629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Large</a:t>
            </a:r>
            <a:endParaRPr lang="en-US" sz="13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大型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141568" y="4892040"/>
            <a:ext cx="1757629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F8A"/>
                </a:solidFill>
              </a:rPr>
              <a:t>1,500 – 4,000 racks</a:t>
            </a:r>
            <a:endParaRPr lang="en-US" sz="11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1,500 – 4,000 个机柜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99781" y="1938528"/>
            <a:ext cx="1739341" cy="226771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999781" y="2011680"/>
            <a:ext cx="17393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30 – 100 MW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990637" y="4297680"/>
            <a:ext cx="1757629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Hyperscale building</a:t>
            </a:r>
            <a:endParaRPr lang="en-US" sz="13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超大规模单体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990637" y="4892040"/>
            <a:ext cx="1757629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F8A"/>
                </a:solidFill>
              </a:rPr>
              <a:t>4,000 – 10,000 racks</a:t>
            </a:r>
            <a:endParaRPr lang="en-US" sz="11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4,000 – 10,000 个机柜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848850" y="1554480"/>
            <a:ext cx="1739341" cy="265176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848850" y="1627632"/>
            <a:ext cx="17393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&gt; 100 MW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839706" y="4297680"/>
            <a:ext cx="1757629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Hyperscale / AI campus</a:t>
            </a:r>
            <a:endParaRPr lang="en-US" sz="13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超大规模 / AI园区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839706" y="4892040"/>
            <a:ext cx="1757629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F8A"/>
                </a:solidFill>
              </a:rPr>
              <a:t>&gt; 10,000 racks</a:t>
            </a:r>
            <a:endParaRPr lang="en-US" sz="11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&gt; 10,000 个机柜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B1D3A"/>
                </a:solidFill>
              </a:rPr>
              <a:t>Rack counts assume 5–10 kW per rack; AI racks at 100+ kW pack the same MW into far fewer racks and less floor area.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机柜数量按每柜5–10 kW估算；100 kW以上的AI机柜可用更少的机柜和更小的面积容纳同等MW。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Uptime Institute Tiers I–IV: resilience by design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Uptime Tier I–IV：通过设计实现韧性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2651760" cy="3429000"/>
          </a:xfrm>
          <a:prstGeom prst="roundRect">
            <a:avLst>
              <a:gd name="adj" fmla="val 2759"/>
            </a:avLst>
          </a:prstGeom>
          <a:solidFill>
            <a:srgbClr val="6B6F8A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TIER I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3310128"/>
            <a:ext cx="23317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Basic Capacity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BDEFFA"/>
                </a:solidFill>
              </a:rPr>
              <a:t>基本容量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91363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99.671%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BDEFFA"/>
                </a:solidFill>
              </a:rPr>
              <a:t>≈ 28.8 h downtime / yr  年停机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4663440"/>
            <a:ext cx="23317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Redundancy N · paths 1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BDEFFA"/>
                </a:solidFill>
              </a:rPr>
              <a:t>冗余 N · 路径 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5230368"/>
            <a:ext cx="233172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6E8FA"/>
                </a:solidFill>
              </a:rPr>
              <a:t>Single path, no redundant components. Any maintenance or failure causes an outage.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BDEFFA"/>
                </a:solidFill>
              </a:rPr>
              <a:t>单一路径，无冗余组件。任何维护或故障都会导致停机。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55848" y="2395728"/>
            <a:ext cx="2651760" cy="3776472"/>
          </a:xfrm>
          <a:prstGeom prst="roundRect">
            <a:avLst>
              <a:gd name="adj" fmla="val 2759"/>
            </a:avLst>
          </a:prstGeom>
          <a:solidFill>
            <a:srgbClr val="0EA5C6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57016" y="25328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TIER II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57016" y="2962656"/>
            <a:ext cx="23317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Redundant Capacity Components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BDEFFA"/>
                </a:solidFill>
              </a:rPr>
              <a:t>冗余容量组件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57016" y="3566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99.741%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BDEFFA"/>
                </a:solidFill>
              </a:rPr>
              <a:t>≈ 22.7 h downtime / yr  年停机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557016" y="4315968"/>
            <a:ext cx="23317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Redundancy N+1 · paths 1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BDEFFA"/>
                </a:solidFill>
              </a:rPr>
              <a:t>冗余 N+1 · 路径 1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557016" y="4882896"/>
            <a:ext cx="2331720" cy="11521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6E8FA"/>
                </a:solidFill>
              </a:rPr>
              <a:t>Redundant UPS, generators and chillers (N+1) on a single distribution path; path maintenance still needs shutdown.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BDEFFA"/>
                </a:solidFill>
              </a:rPr>
              <a:t>UPS、发电机、冷机冗余（N+1），但为单一配电路径；路径维护仍需停机。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63056" y="2048256"/>
            <a:ext cx="2651760" cy="4123944"/>
          </a:xfrm>
          <a:prstGeom prst="roundRect">
            <a:avLst>
              <a:gd name="adj" fmla="val 2759"/>
            </a:avLst>
          </a:prstGeom>
          <a:solidFill>
            <a:srgbClr val="3F3CBB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64224" y="21854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TIER III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2615184"/>
            <a:ext cx="23317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Concurrently Maintainable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BDEFFA"/>
                </a:solidFill>
              </a:rPr>
              <a:t>可同时维护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64224" y="32186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99.982%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BDEFFA"/>
                </a:solidFill>
              </a:rPr>
              <a:t>≈ 1.6 h downtime / yr  年停机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364224" y="3968496"/>
            <a:ext cx="23317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Redundancy N+1 · paths 1 active + 1 alternate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BDEFFA"/>
                </a:solidFill>
              </a:rPr>
              <a:t>冗余 N+1 · 路径 1 主用 + 1 备用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364224" y="4535424"/>
            <a:ext cx="2331720" cy="1499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6E8FA"/>
                </a:solidFill>
              </a:rPr>
              <a:t>Every component and distribution path can be removed for planned maintenance without impacting IT. Dual-corded IT; ≥ 12 h on-site fuel.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BDEFFA"/>
                </a:solidFill>
              </a:rPr>
              <a:t>任一组件和配电路径均可在计划维护时退出而不影响IT。IT双电源；现场燃油≥12 h。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70264" y="1700784"/>
            <a:ext cx="2651760" cy="4471416"/>
          </a:xfrm>
          <a:prstGeom prst="roundRect">
            <a:avLst>
              <a:gd name="adj" fmla="val 2759"/>
            </a:avLst>
          </a:prstGeom>
          <a:solidFill>
            <a:srgbClr val="17153F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71432" y="18379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TIER IV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171432" y="2267712"/>
            <a:ext cx="23317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Fault Tolerant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BDEFFA"/>
                </a:solidFill>
              </a:rPr>
              <a:t>容错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171432" y="287121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99.995%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BDEFFA"/>
                </a:solidFill>
              </a:rPr>
              <a:t>≈ 26.3 min downtime / yr  年停机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171432" y="3621024"/>
            <a:ext cx="23317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Redundancy 2N / 2(N+1) · paths 2 active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BDEFFA"/>
                </a:solidFill>
              </a:rPr>
              <a:t>冗余 2N / 2(N+1) · 路径 2 主用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171432" y="4187952"/>
            <a:ext cx="2331720" cy="18470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6E8FA"/>
                </a:solidFill>
              </a:rPr>
              <a:t>Any single unplanned failure is tolerated automatically. Two simultaneously active paths, compartmentalisation and continuous cooling.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BDEFFA"/>
                </a:solidFill>
              </a:rPr>
              <a:t>可自动承受任何单一非计划故障。两条同时运行的路径、物理分区隔离及连续制冷。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1417320"/>
            <a:ext cx="54864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F8A"/>
                </a:solidFill>
              </a:rPr>
              <a:t>Availability figures are the commonly cited Uptime benchmarks; real availability depends equally on operations.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可用性数值为常用的Uptime参考值；实际可用性同样取决于运维水平。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Redundancy explained: N, N+1, 2N, 2(N+1)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冗余释义：N、N+1、2N、2(N+1)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1024128"/>
          </a:xfrm>
          <a:prstGeom prst="roundRect">
            <a:avLst>
              <a:gd name="adj" fmla="val 7143"/>
            </a:avLst>
          </a:prstGeom>
          <a:solidFill>
            <a:srgbClr val="F1F2FA"/>
          </a:solidFill>
          <a:ln w="12700">
            <a:solidFill>
              <a:srgbClr val="E1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1600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3CBB"/>
                </a:solidFill>
              </a:rPr>
              <a:t>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697480" y="1828800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3F3CBB"/>
          </a:solidFill>
          <a:ln w="19050">
            <a:solidFill>
              <a:srgbClr val="3F3C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72968" y="1828800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3F3CBB"/>
          </a:solidFill>
          <a:ln w="19050">
            <a:solidFill>
              <a:srgbClr val="3F3C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48456" y="1828800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3F3CBB"/>
          </a:solidFill>
          <a:ln w="19050">
            <a:solidFill>
              <a:srgbClr val="3F3CB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0" y="1664208"/>
            <a:ext cx="41605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Exactly the capacity needed. One failure = outage.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chemeClr val="accent1"/>
                </a:solidFill>
              </a:rPr>
              <a:t>恰好满足需求的容量。任一故障即停机。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11094415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1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2724912"/>
            <a:ext cx="1600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3CBB"/>
                </a:solidFill>
              </a:rPr>
              <a:t>N+1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2697480" y="2999232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3F3CBB"/>
          </a:solidFill>
          <a:ln w="19050">
            <a:solidFill>
              <a:srgbClr val="3F3C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72968" y="2999232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3F3CBB"/>
          </a:solidFill>
          <a:ln w="19050">
            <a:solidFill>
              <a:srgbClr val="3F3C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48456" y="2999232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3F3CBB"/>
          </a:solidFill>
          <a:ln w="19050">
            <a:solidFill>
              <a:srgbClr val="3F3C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23944" y="2999232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F3CBB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7315200" y="2834640"/>
            <a:ext cx="41605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One spare unit. Survives one component failure or maintenance.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chemeClr val="accent1"/>
                </a:solidFill>
              </a:rPr>
              <a:t>一台备用。可承受一个组件故障或维护。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895344"/>
            <a:ext cx="11094415" cy="1024128"/>
          </a:xfrm>
          <a:prstGeom prst="roundRect">
            <a:avLst>
              <a:gd name="adj" fmla="val 7143"/>
            </a:avLst>
          </a:prstGeom>
          <a:solidFill>
            <a:srgbClr val="F1F2FA"/>
          </a:solidFill>
          <a:ln w="12700">
            <a:solidFill>
              <a:srgbClr val="E1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7240" y="3895344"/>
            <a:ext cx="1600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3CBB"/>
                </a:solidFill>
              </a:rPr>
              <a:t>2N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2404872" y="416966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CBB"/>
                </a:solidFill>
              </a:rPr>
              <a:t>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697480" y="4169664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3F3CBB"/>
          </a:solidFill>
          <a:ln w="19050">
            <a:solidFill>
              <a:srgbClr val="3F3C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72968" y="4169664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3F3CBB"/>
          </a:solidFill>
          <a:ln w="19050">
            <a:solidFill>
              <a:srgbClr val="3F3C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48456" y="4169664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3F3CBB"/>
          </a:solidFill>
          <a:ln w="19050">
            <a:solidFill>
              <a:srgbClr val="3F3CB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45152" y="416966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C6"/>
                </a:solidFill>
              </a:rPr>
              <a:t>B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37760" y="4169664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0EA5C6"/>
          </a:solidFill>
          <a:ln w="19050">
            <a:solidFill>
              <a:srgbClr val="0EA5C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13248" y="4169664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0EA5C6"/>
          </a:solidFill>
          <a:ln w="19050">
            <a:solidFill>
              <a:srgbClr val="0EA5C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88736" y="4169664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0EA5C6"/>
          </a:solidFill>
          <a:ln w="19050">
            <a:solidFill>
              <a:srgbClr val="0EA5C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0" y="4005072"/>
            <a:ext cx="41605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Two complete, independent systems (A + B). Survives loss of a whole path.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chemeClr val="accent1"/>
                </a:solidFill>
              </a:rPr>
              <a:t>两套完整独立系统（A+B）。可承受整路失效。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065776"/>
            <a:ext cx="11094415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1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77240" y="5065776"/>
            <a:ext cx="1600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3CBB"/>
                </a:solidFill>
              </a:rPr>
              <a:t>2(N+1)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2404872" y="534009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CBB"/>
                </a:solidFill>
              </a:rPr>
              <a:t>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697480" y="5340096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3F3CBB"/>
          </a:solidFill>
          <a:ln w="19050">
            <a:solidFill>
              <a:srgbClr val="3F3CB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72968" y="5340096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3F3CBB"/>
          </a:solidFill>
          <a:ln w="19050">
            <a:solidFill>
              <a:srgbClr val="3F3CB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48456" y="5340096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3F3CBB"/>
          </a:solidFill>
          <a:ln w="19050">
            <a:solidFill>
              <a:srgbClr val="3F3CB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23944" y="5340096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F3CBB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4645152" y="534009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C6"/>
                </a:solidFill>
              </a:rPr>
              <a:t>B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937760" y="5340096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0EA5C6"/>
          </a:solidFill>
          <a:ln w="19050">
            <a:solidFill>
              <a:srgbClr val="0EA5C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13248" y="5340096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0EA5C6"/>
          </a:solidFill>
          <a:ln w="19050">
            <a:solidFill>
              <a:srgbClr val="0EA5C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88736" y="5340096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0EA5C6"/>
          </a:solidFill>
          <a:ln w="19050">
            <a:solidFill>
              <a:srgbClr val="0EA5C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64224" y="5340096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0EA5C6"/>
            </a:solidFill>
            <a:prstDash val="dash"/>
          </a:ln>
        </p:spPr>
      </p:sp>
      <p:sp>
        <p:nvSpPr>
          <p:cNvPr id="40" name="Text 38"/>
          <p:cNvSpPr txBox="1"/>
          <p:nvPr/>
        </p:nvSpPr>
        <p:spPr>
          <a:xfrm>
            <a:off x="7315200" y="5175504"/>
            <a:ext cx="41605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Two independent systems, each with its own spare. Highest resilience.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chemeClr val="accent1"/>
                </a:solidFill>
              </a:rPr>
              <a:t>两套独立系统，各自带备用。韧性最高。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One concept, many standards: classification cross-reference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同一概念、多套标准：分级对照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645920"/>
                <a:gridCol w="1600200"/>
                <a:gridCol w="1600200"/>
                <a:gridCol w="1234440"/>
                <a:gridCol w="2270455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Uptime Institute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TIA-942-C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 50600 / ISO 22237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GB 50174 (China)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SNI 8799 (Indonesia)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BICSI 002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Design intent / 设计意图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3CBB"/>
                          </a:solidFill>
                        </a:rPr>
                        <a:t>Tier I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Rated-1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Class 1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 级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Strata I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Class F1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Basic, single path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accent1"/>
                          </a:solidFill>
                        </a:rPr>
                        <a:t>基本，单路径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3CBB"/>
                          </a:solidFill>
                        </a:rPr>
                        <a:t>Tier II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Rated-2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Class 2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 级 (partial)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Strata II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Class F2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Redundant components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accent1"/>
                          </a:solidFill>
                        </a:rPr>
                        <a:t>组件冗余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3CBB"/>
                          </a:solidFill>
                        </a:rPr>
                        <a:t>Tier III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Rated-3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Class 3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 级 / A 级 (partial)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Strata III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Class F3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Concurrently maintainable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accent1"/>
                          </a:solidFill>
                        </a:rPr>
                        <a:t>可同时维护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3CBB"/>
                          </a:solidFill>
                        </a:rPr>
                        <a:t>Tier IV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Rated-4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Class 4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 级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Strata IV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Class F4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Fault tolerant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accent1"/>
                          </a:solidFill>
                        </a:rPr>
                        <a:t>容错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572000"/>
            <a:ext cx="11094415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Mappings are approximate — each scheme has its own detailed criteria and certification process.</a:t>
            </a:r>
            <a:endParaRPr lang="en-US" sz="1300" dirty="0"/>
          </a:p>
          <a:p>
            <a:pPr marL="177800" indent="-177800">
              <a:lnSpc>
                <a:spcPct val="95000"/>
              </a:lnSpc>
              <a:spcAft>
                <a:spcPts val="700"/>
              </a:spcAft>
              <a:buSzPct val="100000"/>
              <a:buChar char=" "/>
            </a:pPr>
            <a:r>
              <a:rPr lang="en-US" sz="1200" dirty="0">
                <a:solidFill>
                  <a:schemeClr val="accent1"/>
                </a:solidFill>
              </a:rPr>
              <a:t>对照为近似关系——各体系有各自的详细准则和认证流程。</a:t>
            </a:r>
            <a:endParaRPr lang="en-US" sz="13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Uptime certifies Design, Constructed Facility and Operational Sustainability separately.</a:t>
            </a:r>
            <a:endParaRPr lang="en-US" sz="1300" dirty="0"/>
          </a:p>
          <a:p>
            <a:pPr marL="177800" indent="-177800">
              <a:lnSpc>
                <a:spcPct val="95000"/>
              </a:lnSpc>
              <a:spcAft>
                <a:spcPts val="700"/>
              </a:spcAft>
              <a:buSzPct val="100000"/>
              <a:buChar char=" "/>
            </a:pPr>
            <a:r>
              <a:rPr lang="en-US" sz="1200" dirty="0">
                <a:solidFill>
                  <a:schemeClr val="accent1"/>
                </a:solidFill>
              </a:rPr>
              <a:t>Uptime分别认证设计、建成设施和运营可持续性。</a:t>
            </a:r>
            <a:endParaRPr lang="en-US" sz="13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Chinese GB 50174 Class A broadly aligns with fault-tolerant design; SNI 8799 Strata IV requires 2N with automatic failover.</a:t>
            </a:r>
            <a:endParaRPr lang="en-US" sz="1300" dirty="0"/>
          </a:p>
          <a:p>
            <a:pPr marL="177800" indent="-177800">
              <a:lnSpc>
                <a:spcPct val="95000"/>
              </a:lnSpc>
              <a:spcAft>
                <a:spcPts val="700"/>
              </a:spcAft>
              <a:buSzPct val="100000"/>
              <a:buChar char=" "/>
            </a:pPr>
            <a:r>
              <a:rPr lang="en-US" sz="1200" dirty="0">
                <a:solidFill>
                  <a:schemeClr val="accent1"/>
                </a:solidFill>
              </a:rPr>
              <a:t>中国GB 50174 A级大致对应容错设计；SNI 8799 Strata IV要求2N及自动切换。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codes &amp; standards by discipline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各专业主要规范与标准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37360"/>
            <a:ext cx="548640" cy="548640"/>
          </a:xfrm>
          <a:prstGeom prst="ellipse">
            <a:avLst/>
          </a:prstGeom>
          <a:solidFill>
            <a:srgbClr val="3F3CB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18690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45920"/>
            <a:ext cx="43434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Design &amp; topology</a:t>
            </a:r>
            <a:endParaRPr lang="en-US" sz="15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300" b="1" dirty="0">
                <a:solidFill>
                  <a:schemeClr val="accent1"/>
                </a:solidFill>
              </a:rPr>
              <a:t>设计与拓扑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221992"/>
            <a:ext cx="43434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D3A"/>
                </a:solidFill>
              </a:rPr>
              <a:t>Uptime Tier Standard · TIA-942-C · EN 50600 / ISO 22237 · BICSI 002 · GB 50174 · SNI 8799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53912" y="150876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173736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754" y="18690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68312" y="1645920"/>
            <a:ext cx="43434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Electrical</a:t>
            </a:r>
            <a:endParaRPr lang="en-US" sz="15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300" b="1" dirty="0">
                <a:solidFill>
                  <a:schemeClr val="accent1"/>
                </a:solidFill>
              </a:rPr>
              <a:t>电气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068312" y="2221992"/>
            <a:ext cx="43434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D3A"/>
                </a:solidFill>
              </a:rPr>
              <a:t>IEC 62271 · IEC 61439 · IEC 60076 · IEC 62040 (UPS) · ISO 8528 (gensets) · IEC 62305 · NFPA 70/110 · PUIL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10896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337560"/>
            <a:ext cx="548640" cy="548640"/>
          </a:xfrm>
          <a:prstGeom prst="ellipse">
            <a:avLst/>
          </a:prstGeom>
          <a:solidFill>
            <a:srgbClr val="0EA5C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34692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246120"/>
            <a:ext cx="43434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Mechanical</a:t>
            </a:r>
            <a:endParaRPr lang="en-US" sz="15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300" b="1" dirty="0">
                <a:solidFill>
                  <a:schemeClr val="accent1"/>
                </a:solidFill>
              </a:rPr>
              <a:t>暖通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3822192"/>
            <a:ext cx="43434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D3A"/>
                </a:solidFill>
              </a:rPr>
              <a:t>ASHRAE TC 9.9 Thermal Guidelines · ASHRAE 90.4 · AHRI 550/590 · ASHRAE 127 · GB 50019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53912" y="310896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3337560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754" y="34692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68312" y="3246120"/>
            <a:ext cx="43434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Fire &amp; life safety</a:t>
            </a:r>
            <a:endParaRPr lang="en-US" sz="15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300" b="1" dirty="0">
                <a:solidFill>
                  <a:schemeClr val="accent1"/>
                </a:solidFill>
              </a:rPr>
              <a:t>消防与生命安全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068312" y="3822192"/>
            <a:ext cx="43434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D3A"/>
                </a:solidFill>
              </a:rPr>
              <a:t>NFPA 75 / 76 · NFPA 2001 · NFPA 72 / 13 · NFPA 855 (Li-ion) · GB 50370 · GB 50116 · SNI 03-3985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70916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493776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2" y="506943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63040" y="4846320"/>
            <a:ext cx="43434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IT &amp; cabling</a:t>
            </a:r>
            <a:endParaRPr lang="en-US" sz="15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300" b="1" dirty="0">
                <a:solidFill>
                  <a:schemeClr val="accent1"/>
                </a:solidFill>
              </a:rPr>
              <a:t>IT与布线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463040" y="5422392"/>
            <a:ext cx="43434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D3A"/>
                </a:solidFill>
              </a:rPr>
              <a:t>TIA-568 · TIA-569 · TIA-606 · TIA-607 · ISO/IEC 11801 · GB 50311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53912" y="470916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55080" y="493776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754" y="506943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068312" y="4846320"/>
            <a:ext cx="43434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Energy &amp; sustainability</a:t>
            </a:r>
            <a:endParaRPr lang="en-US" sz="15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300" b="1" dirty="0">
                <a:solidFill>
                  <a:schemeClr val="accent1"/>
                </a:solidFill>
              </a:rPr>
              <a:t>能效与可持续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7068312" y="5422392"/>
            <a:ext cx="43434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D3A"/>
                </a:solidFill>
              </a:rPr>
              <a:t>ISO/IEC 30134 (PUE, WUE, CUE) · ISO 50001 · GB 40879 (PUE grades) · EU EED reporting · SS 564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223760" y="822960"/>
            <a:ext cx="4937760" cy="4937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2344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0EA5C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7889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Spaces &amp; Layout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8404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BDEFFA"/>
                </a:solidFill>
              </a:rPr>
              <a:t>功能区与布局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663440"/>
            <a:ext cx="65836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D6D8F5"/>
                </a:solidFill>
              </a:rPr>
              <a:t>White space hosts IT; grey space hosts the plant that keeps it alive.</a:t>
            </a:r>
            <a:endParaRPr lang="en-US" sz="14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BDEFFA"/>
                </a:solidFill>
              </a:rPr>
              <a:t>白区承载IT；灰区承载维持其运行的设备。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A3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Four zones of a data center facility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数据中心设施的四大区域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51760" cy="47548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81912"/>
            <a:ext cx="23774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White Space</a:t>
            </a:r>
            <a:endParaRPr lang="en-US" sz="16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FFFFFF"/>
                </a:solidFill>
              </a:rPr>
              <a:t>白区（IT空间）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23317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F8A"/>
                </a:solidFill>
              </a:rPr>
              <a:t>Where IT equipment lives. Clean, secure, precisely cooled.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IT设备所在区域。洁净、安全、精密制冷。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383280"/>
            <a:ext cx="2423160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Data hall / computer room</a:t>
            </a:r>
            <a:endParaRPr lang="en-US" sz="105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数据机房 / 主机房</a:t>
            </a:r>
            <a:endParaRPr lang="en-US" sz="1050" dirty="0"/>
          </a:p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Entrance room / Meet-Me Room (MMR)</a:t>
            </a:r>
            <a:endParaRPr lang="en-US" sz="105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进线间 / 运营商交汇间</a:t>
            </a:r>
            <a:endParaRPr lang="en-US" sz="1050" dirty="0"/>
          </a:p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Main Distribution Area (MDA)</a:t>
            </a:r>
            <a:endParaRPr lang="en-US" sz="105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主配线区（MDA）</a:t>
            </a:r>
            <a:endParaRPr lang="en-US" sz="1050" dirty="0"/>
          </a:p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Horizontal / Zone Distribution Area (HDA/ZDA)</a:t>
            </a:r>
            <a:endParaRPr lang="en-US" sz="105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水平 / 区域配线区（HDA/ZDA）</a:t>
            </a:r>
            <a:endParaRPr lang="en-US" sz="1050" dirty="0"/>
          </a:p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Equipment Distribution Area (EDA) — rack rows</a:t>
            </a:r>
            <a:endParaRPr lang="en-US" sz="105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设备配线区（EDA）——机柜列</a:t>
            </a:r>
            <a:endParaRPr lang="en-US" sz="1050" dirty="0"/>
          </a:p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Customer cages &amp; suites</a:t>
            </a:r>
            <a:endParaRPr lang="en-US" sz="105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客户笼位及包间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55848" y="1508760"/>
            <a:ext cx="2651760" cy="47548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5848" y="15087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E850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8728" y="1581912"/>
            <a:ext cx="23774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Grey Space</a:t>
            </a:r>
            <a:endParaRPr lang="en-US" sz="16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FFFFFF"/>
                </a:solidFill>
              </a:rPr>
              <a:t>灰区（基础设施空间）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38728" y="2560320"/>
            <a:ext cx="23317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F8A"/>
                </a:solidFill>
              </a:rPr>
              <a:t>Plant rooms housing power and cooling infrastructure that support the white space.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容纳支持白区的电力与制冷基础设施的设备间。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3383280"/>
            <a:ext cx="2423160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MV switchgear room / utility intake</a:t>
            </a:r>
            <a:endParaRPr lang="en-US" sz="105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中压开关室 / 市电进线</a:t>
            </a:r>
            <a:endParaRPr lang="en-US" sz="1050" dirty="0"/>
          </a:p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Transformer room / yard</a:t>
            </a:r>
            <a:endParaRPr lang="en-US" sz="105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变压器室 / 变压器场</a:t>
            </a:r>
            <a:endParaRPr lang="en-US" sz="1050" dirty="0"/>
          </a:p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LV switchboard room</a:t>
            </a:r>
            <a:endParaRPr lang="en-US" sz="105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低压配电室</a:t>
            </a:r>
            <a:endParaRPr lang="en-US" sz="1050" dirty="0"/>
          </a:p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UPS room</a:t>
            </a:r>
            <a:endParaRPr lang="en-US" sz="105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UPS室</a:t>
            </a:r>
            <a:endParaRPr lang="en-US" sz="1050" dirty="0"/>
          </a:p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Battery room</a:t>
            </a:r>
            <a:endParaRPr lang="en-US" sz="105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电池室</a:t>
            </a:r>
            <a:endParaRPr lang="en-US" sz="1050" dirty="0"/>
          </a:p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Generator hall / yard &amp; fuel farm</a:t>
            </a:r>
            <a:endParaRPr lang="en-US" sz="105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发电机房 / 发电机场地及油库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1508760"/>
            <a:ext cx="2651760" cy="47548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15087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0891B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45936" y="1581912"/>
            <a:ext cx="23774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Support Space</a:t>
            </a:r>
            <a:endParaRPr lang="en-US" sz="16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FFFFFF"/>
                </a:solidFill>
              </a:rPr>
              <a:t>支持区（辅助空间）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45936" y="2560320"/>
            <a:ext cx="23317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F8A"/>
                </a:solidFill>
              </a:rPr>
              <a:t>Spaces for people, logistics and operations.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供人员、物流及运营使用的空间。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300216" y="3383280"/>
            <a:ext cx="2423160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Network/Security Operations Center (NOC/SOC)</a:t>
            </a:r>
            <a:endParaRPr lang="en-US" sz="105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网络/安全运营中心（NOC/SOC）</a:t>
            </a:r>
            <a:endParaRPr lang="en-US" sz="1050" dirty="0"/>
          </a:p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Loading dock &amp; freight lift</a:t>
            </a:r>
            <a:endParaRPr lang="en-US" sz="105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装卸平台及货梯</a:t>
            </a:r>
            <a:endParaRPr lang="en-US" sz="1050" dirty="0"/>
          </a:p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Staging, build &amp; burn-in room</a:t>
            </a:r>
            <a:endParaRPr lang="en-US" sz="105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设备预置、组装及老化测试间</a:t>
            </a:r>
            <a:endParaRPr lang="en-US" sz="1050" dirty="0"/>
          </a:p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Storage &amp; spare parts</a:t>
            </a:r>
            <a:endParaRPr lang="en-US" sz="105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库房及备品备件</a:t>
            </a:r>
            <a:endParaRPr lang="en-US" sz="1050" dirty="0"/>
          </a:p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Security control &amp; mantrap lobby</a:t>
            </a:r>
            <a:endParaRPr lang="en-US" sz="105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安保控制室及防尾随门厅</a:t>
            </a:r>
            <a:endParaRPr lang="en-US" sz="1050" dirty="0"/>
          </a:p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Offices, customer lounge, meeting rooms</a:t>
            </a:r>
            <a:endParaRPr lang="en-US" sz="105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办公室、客户休息区、会议室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70264" y="1508760"/>
            <a:ext cx="2651760" cy="47548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70264" y="15087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53144" y="1581912"/>
            <a:ext cx="23774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Site &amp; External Works</a:t>
            </a:r>
            <a:endParaRPr lang="en-US" sz="16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FFFFFF"/>
                </a:solidFill>
              </a:rPr>
              <a:t>场地及室外工程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153144" y="2560320"/>
            <a:ext cx="23317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F8A"/>
                </a:solidFill>
              </a:rPr>
              <a:t>Everything outside the building envelope.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建筑围护结构之外的一切。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107424" y="3383280"/>
            <a:ext cx="2423160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Perimeter fence, gatehouse &amp; vehicle barriers</a:t>
            </a:r>
            <a:endParaRPr lang="en-US" sz="105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周界围栏、门卫室及车辆拦阻</a:t>
            </a:r>
            <a:endParaRPr lang="en-US" sz="1050" dirty="0"/>
          </a:p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Utility substation (HV/MV)</a:t>
            </a:r>
            <a:endParaRPr lang="en-US" sz="105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变电站（高压/中压）</a:t>
            </a:r>
            <a:endParaRPr lang="en-US" sz="1050" dirty="0"/>
          </a:p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Diverse fibre duct banks &amp; manholes</a:t>
            </a:r>
            <a:endParaRPr lang="en-US" sz="105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分离光缆管群及人孔</a:t>
            </a:r>
            <a:endParaRPr lang="en-US" sz="1050" dirty="0"/>
          </a:p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Water storage &amp; treatment</a:t>
            </a:r>
            <a:endParaRPr lang="en-US" sz="105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储水及水处理</a:t>
            </a:r>
            <a:endParaRPr lang="en-US" sz="1050" dirty="0"/>
          </a:p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Roads, parking &amp; landscaping</a:t>
            </a:r>
            <a:endParaRPr lang="en-US" sz="105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道路、停车及景观</a:t>
            </a:r>
            <a:endParaRPr lang="en-US" sz="1050" dirty="0"/>
          </a:p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Future expansion land</a:t>
            </a:r>
            <a:endParaRPr lang="en-US" sz="105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未来扩建用地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Typical site plan of a Tier III campus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典型Tier III园区总平面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498080" cy="4800600"/>
          </a:xfrm>
          <a:prstGeom prst="rect">
            <a:avLst/>
          </a:prstGeom>
          <a:solidFill>
            <a:srgbClr val="EEF7EE"/>
          </a:solidFill>
          <a:ln w="25400">
            <a:solidFill>
              <a:srgbClr val="16A34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011680" y="2286000"/>
            <a:ext cx="2103120" cy="2377440"/>
          </a:xfrm>
          <a:prstGeom prst="rect">
            <a:avLst/>
          </a:prstGeom>
          <a:solidFill>
            <a:srgbClr val="3F3CB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57400" y="2304288"/>
            <a:ext cx="2011680" cy="2340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halls (white space)</a:t>
            </a:r>
            <a:endParaRPr lang="en-US" sz="10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FFFFFF"/>
                </a:solidFill>
              </a:rPr>
              <a:t>数据机房（白区）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0" y="2286000"/>
            <a:ext cx="1188720" cy="1371600"/>
          </a:xfrm>
          <a:prstGeom prst="rect">
            <a:avLst/>
          </a:prstGeom>
          <a:solidFill>
            <a:srgbClr val="F2A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60520" y="2304288"/>
            <a:ext cx="1097280" cy="1335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7153F"/>
                </a:solidFill>
              </a:rPr>
              <a:t>UPS &amp; LV rooms</a:t>
            </a:r>
            <a:endParaRPr lang="en-US" sz="10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17153F"/>
                </a:solidFill>
              </a:rPr>
              <a:t>UPS及低压室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0" y="3657600"/>
            <a:ext cx="1188720" cy="1005840"/>
          </a:xfrm>
          <a:prstGeom prst="rect">
            <a:avLst/>
          </a:prstGeom>
          <a:solidFill>
            <a:srgbClr val="0EA5C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60520" y="3675888"/>
            <a:ext cx="1097280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Chiller plant</a:t>
            </a:r>
            <a:endParaRPr lang="en-US" sz="10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FFFFFF"/>
                </a:solidFill>
              </a:rPr>
              <a:t>冷站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4663440"/>
            <a:ext cx="3291840" cy="594360"/>
          </a:xfrm>
          <a:prstGeom prst="rect">
            <a:avLst/>
          </a:prstGeom>
          <a:solidFill>
            <a:srgbClr val="8B8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57400" y="4681728"/>
            <a:ext cx="3200400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Support: NOC, loading dock, staging, offices</a:t>
            </a:r>
            <a:endParaRPr lang="en-US" sz="10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FFFFFF"/>
                </a:solidFill>
              </a:rPr>
              <a:t>支持区：NOC、装卸平台、预置区、办公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23560" y="2286000"/>
            <a:ext cx="1051560" cy="2011680"/>
          </a:xfrm>
          <a:prstGeom prst="rect">
            <a:avLst/>
          </a:prstGeom>
          <a:solidFill>
            <a:srgbClr val="E69A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0" y="2304288"/>
            <a:ext cx="960120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7153F"/>
                </a:solidFill>
              </a:rPr>
              <a:t>Generator yard</a:t>
            </a:r>
            <a:endParaRPr lang="en-US" sz="10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17153F"/>
                </a:solidFill>
              </a:rPr>
              <a:t>发电机场地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2286000"/>
            <a:ext cx="1005840" cy="914400"/>
          </a:xfrm>
          <a:prstGeom prst="rect">
            <a:avLst/>
          </a:prstGeom>
          <a:solidFill>
            <a:srgbClr val="C241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2304288"/>
            <a:ext cx="91440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Fuel farm</a:t>
            </a:r>
            <a:endParaRPr lang="en-US" sz="10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FFFFFF"/>
                </a:solidFill>
              </a:rPr>
              <a:t>油库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23560" y="4434840"/>
            <a:ext cx="105156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0" y="4453128"/>
            <a:ext cx="96012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Cooling towers</a:t>
            </a:r>
            <a:endParaRPr lang="en-US" sz="10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FFFFFF"/>
                </a:solidFill>
              </a:rPr>
              <a:t>冷却塔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3337560"/>
            <a:ext cx="1005840" cy="960120"/>
          </a:xfrm>
          <a:prstGeom prst="rect">
            <a:avLst/>
          </a:prstGeom>
          <a:solidFill>
            <a:srgbClr val="1715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0" y="3355848"/>
            <a:ext cx="914400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MV / HV substation</a:t>
            </a:r>
            <a:endParaRPr lang="en-US" sz="10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FFFFFF"/>
                </a:solidFill>
              </a:rPr>
              <a:t>中/高压变电站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2286000"/>
            <a:ext cx="1097280" cy="1554480"/>
          </a:xfrm>
          <a:prstGeom prst="rect">
            <a:avLst/>
          </a:prstGeom>
          <a:solidFill>
            <a:srgbClr val="A3A6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2304288"/>
            <a:ext cx="1005840" cy="1517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Parking</a:t>
            </a:r>
            <a:endParaRPr lang="en-US" sz="10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FFFFFF"/>
                </a:solidFill>
              </a:rPr>
              <a:t>停车场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5532120"/>
            <a:ext cx="914400" cy="548640"/>
          </a:xfrm>
          <a:prstGeom prst="rect">
            <a:avLst/>
          </a:prstGeom>
          <a:solidFill>
            <a:srgbClr val="F054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550408"/>
            <a:ext cx="8229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Gatehouse</a:t>
            </a:r>
            <a:endParaRPr lang="en-US" sz="10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FFFFFF"/>
                </a:solidFill>
              </a:rPr>
              <a:t>门卫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23560" y="5486400"/>
            <a:ext cx="2194560" cy="594360"/>
          </a:xfrm>
          <a:prstGeom prst="rect">
            <a:avLst/>
          </a:prstGeom>
          <a:solidFill>
            <a:srgbClr val="B8E0B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0" y="5504688"/>
            <a:ext cx="2103120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7153F"/>
                </a:solidFill>
              </a:rPr>
              <a:t>Future expansion</a:t>
            </a:r>
            <a:endParaRPr lang="en-US" sz="10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17153F"/>
                </a:solidFill>
              </a:rPr>
              <a:t>预留扩建用地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91640" y="5623560"/>
            <a:ext cx="3840480" cy="365760"/>
          </a:xfrm>
          <a:prstGeom prst="rect">
            <a:avLst/>
          </a:prstGeom>
          <a:solidFill>
            <a:srgbClr val="D9DCE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691640" y="5623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D3A"/>
                </a:solidFill>
              </a:rPr>
              <a:t>Ring road / 环形道路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" y="1874520"/>
            <a:ext cx="7406640" cy="0"/>
          </a:xfrm>
          <a:prstGeom prst="line">
            <a:avLst/>
          </a:prstGeom>
          <a:noFill/>
          <a:ln w="15875">
            <a:solidFill>
              <a:srgbClr val="7C3AED"/>
            </a:solidFill>
            <a:prstDash val="sysDot"/>
          </a:ln>
        </p:spPr>
      </p:sp>
      <p:sp>
        <p:nvSpPr>
          <p:cNvPr id="30" name="Text 28"/>
          <p:cNvSpPr txBox="1"/>
          <p:nvPr/>
        </p:nvSpPr>
        <p:spPr>
          <a:xfrm>
            <a:off x="64008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</a:rPr>
              <a:t>Fibre route A / 光纤路由A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874520" y="1874520"/>
            <a:ext cx="0" cy="4343400"/>
          </a:xfrm>
          <a:prstGeom prst="line">
            <a:avLst/>
          </a:prstGeom>
          <a:noFill/>
          <a:ln w="15875">
            <a:solidFill>
              <a:srgbClr val="7C3AED"/>
            </a:solidFill>
            <a:prstDash val="sysDot"/>
          </a:ln>
        </p:spPr>
      </p:sp>
      <p:sp>
        <p:nvSpPr>
          <p:cNvPr id="32" name="Text 30"/>
          <p:cNvSpPr txBox="1"/>
          <p:nvPr/>
        </p:nvSpPr>
        <p:spPr>
          <a:xfrm>
            <a:off x="621792" y="5230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</a:rPr>
              <a:t>Route B / 路由B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59710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Security fence + PIDS / 安全围栏+入侵探测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1508760"/>
            <a:ext cx="3383280" cy="4754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Separate the generator exhaust from cooling and fresh-air intakes (prevailing wind).</a:t>
            </a:r>
            <a:endParaRPr lang="en-US" sz="1200" dirty="0"/>
          </a:p>
          <a:p>
            <a:pPr marL="177800" indent="-177800">
              <a:lnSpc>
                <a:spcPct val="95000"/>
              </a:lnSpc>
              <a:spcAft>
                <a:spcPts val="700"/>
              </a:spcAft>
              <a:buSzPct val="100000"/>
              <a:buChar char=" "/>
            </a:pPr>
            <a:r>
              <a:rPr lang="en-US" sz="1100" dirty="0">
                <a:solidFill>
                  <a:schemeClr val="accent1"/>
                </a:solidFill>
              </a:rPr>
              <a:t>发电机排气与冷却及新风进风口分开（考虑主导风向）。</a:t>
            </a:r>
            <a:endParaRPr lang="en-US" sz="12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Two diverse utility feeds and two fibre entry routes ≥ 20 m apart.</a:t>
            </a:r>
            <a:endParaRPr lang="en-US" sz="1200" dirty="0"/>
          </a:p>
          <a:p>
            <a:pPr marL="177800" indent="-177800">
              <a:lnSpc>
                <a:spcPct val="95000"/>
              </a:lnSpc>
              <a:spcAft>
                <a:spcPts val="700"/>
              </a:spcAft>
              <a:buSzPct val="100000"/>
              <a:buChar char=" "/>
            </a:pPr>
            <a:r>
              <a:rPr lang="en-US" sz="1100" dirty="0">
                <a:solidFill>
                  <a:schemeClr val="accent1"/>
                </a:solidFill>
              </a:rPr>
              <a:t>两路分离市电进线及两条相距≥20 m的光纤入口路由。</a:t>
            </a:r>
            <a:endParaRPr lang="en-US" sz="12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Plant yards sized for crane access and future equipment replacement.</a:t>
            </a:r>
            <a:endParaRPr lang="en-US" sz="1200" dirty="0"/>
          </a:p>
          <a:p>
            <a:pPr marL="177800" indent="-177800">
              <a:lnSpc>
                <a:spcPct val="95000"/>
              </a:lnSpc>
              <a:spcAft>
                <a:spcPts val="700"/>
              </a:spcAft>
              <a:buSzPct val="100000"/>
              <a:buChar char=" "/>
            </a:pPr>
            <a:r>
              <a:rPr lang="en-US" sz="1100" dirty="0">
                <a:solidFill>
                  <a:schemeClr val="accent1"/>
                </a:solidFill>
              </a:rPr>
              <a:t>设备场地满足吊车通道及未来设备更换。</a:t>
            </a:r>
            <a:endParaRPr lang="en-US" sz="12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Reserve land for phases; pre-build shared infrastructure.</a:t>
            </a:r>
            <a:endParaRPr lang="en-US" sz="1200" dirty="0"/>
          </a:p>
          <a:p>
            <a:pPr marL="177800" indent="-177800">
              <a:lnSpc>
                <a:spcPct val="95000"/>
              </a:lnSpc>
              <a:spcAft>
                <a:spcPts val="700"/>
              </a:spcAft>
              <a:buSzPct val="100000"/>
              <a:buChar char=" "/>
            </a:pPr>
            <a:r>
              <a:rPr lang="en-US" sz="1100" dirty="0">
                <a:solidFill>
                  <a:schemeClr val="accent1"/>
                </a:solidFill>
              </a:rPr>
              <a:t>为后续分期预留用地；共享基础设施预先建设。</a:t>
            </a:r>
            <a:endParaRPr lang="en-US" sz="12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Stand-off distance and anti-ram barriers at the perimeter.</a:t>
            </a:r>
            <a:endParaRPr lang="en-US" sz="1200" dirty="0"/>
          </a:p>
          <a:p>
            <a:pPr marL="177800" indent="-177800">
              <a:lnSpc>
                <a:spcPct val="95000"/>
              </a:lnSpc>
              <a:spcAft>
                <a:spcPts val="700"/>
              </a:spcAft>
              <a:buSzPct val="100000"/>
              <a:buChar char=" "/>
            </a:pPr>
            <a:r>
              <a:rPr lang="en-US" sz="1100" dirty="0">
                <a:solidFill>
                  <a:schemeClr val="accent1"/>
                </a:solidFill>
              </a:rPr>
              <a:t>周界设安全距离及防冲撞设施。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Inside the data hall: hot aisle / cold aisle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数据机房内部：热通道 / 冷通道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949440" cy="4663440"/>
          </a:xfrm>
          <a:prstGeom prst="rect">
            <a:avLst/>
          </a:prstGeom>
          <a:solidFill>
            <a:srgbClr val="F7F8FD"/>
          </a:solidFill>
          <a:ln w="12700">
            <a:solidFill>
              <a:srgbClr val="C9C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411480" cy="4114800"/>
          </a:xfrm>
          <a:prstGeom prst="rect">
            <a:avLst/>
          </a:prstGeom>
          <a:solidFill>
            <a:srgbClr val="0EA5C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83080"/>
            <a:ext cx="411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Fan wall / CRAH  风墙/精密空调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63040" y="201168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201168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201168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201168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201168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201168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01168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201168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01168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201168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63040" y="310896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0" y="310896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310896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8960" y="310896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310896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310896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310896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0" y="310896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310896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10896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63040" y="420624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0" y="420624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0" y="420624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0" y="420624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0" y="420624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06240" y="420624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420624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0" y="420624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52160" y="420624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420624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63040" y="530352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11680" y="530352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0" y="530352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08960" y="530352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0" y="530352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06240" y="530352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530352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03520" y="530352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52160" y="530352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0" y="5303520"/>
            <a:ext cx="512064" cy="384048"/>
          </a:xfrm>
          <a:prstGeom prst="rect">
            <a:avLst/>
          </a:prstGeom>
          <a:solidFill>
            <a:srgbClr val="17153F"/>
          </a:solidFill>
          <a:ln w="9525">
            <a:solidFill>
              <a:srgbClr val="4B4C8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63040" y="2395728"/>
            <a:ext cx="5449824" cy="713232"/>
          </a:xfrm>
          <a:prstGeom prst="rect">
            <a:avLst/>
          </a:prstGeom>
          <a:solidFill>
            <a:srgbClr val="BDEFFA">
              <a:alpha val="80000"/>
            </a:srgbClr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463040" y="2395728"/>
            <a:ext cx="5449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490"/>
                </a:solidFill>
              </a:rPr>
              <a:t>COLD AISLE 22–27 °C   冷通道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463040" y="3493008"/>
            <a:ext cx="5449824" cy="713232"/>
          </a:xfrm>
          <a:prstGeom prst="rect">
            <a:avLst/>
          </a:prstGeom>
          <a:solidFill>
            <a:srgbClr val="FFD3D1">
              <a:alpha val="80000"/>
            </a:srgbClr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1463040" y="3493008"/>
            <a:ext cx="5449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2318"/>
                </a:solidFill>
              </a:rPr>
              <a:t>HOT AISLE 35–45 °C (contained)   热通道（封闭）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463040" y="4590288"/>
            <a:ext cx="5449824" cy="713232"/>
          </a:xfrm>
          <a:prstGeom prst="rect">
            <a:avLst/>
          </a:prstGeom>
          <a:solidFill>
            <a:srgbClr val="BDEFFA">
              <a:alpha val="80000"/>
            </a:srgbClr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1463040" y="4590288"/>
            <a:ext cx="5449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490"/>
                </a:solidFill>
              </a:rPr>
              <a:t>COLD AISLE 22–27 °C   冷通道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97280" y="2752344"/>
            <a:ext cx="347472" cy="91"/>
          </a:xfrm>
          <a:prstGeom prst="line">
            <a:avLst/>
          </a:prstGeom>
          <a:noFill/>
          <a:ln w="31750">
            <a:solidFill>
              <a:srgbClr val="0EA5C6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1097280" y="2752344"/>
            <a:ext cx="347472" cy="91"/>
          </a:xfrm>
          <a:prstGeom prst="line">
            <a:avLst/>
          </a:prstGeom>
          <a:noFill/>
          <a:ln w="31750">
            <a:solidFill>
              <a:srgbClr val="0EA5C6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1097280" y="3849624"/>
            <a:ext cx="347472" cy="91"/>
          </a:xfrm>
          <a:prstGeom prst="line">
            <a:avLst/>
          </a:prstGeom>
          <a:noFill/>
          <a:ln w="31750">
            <a:solidFill>
              <a:srgbClr val="0EA5C6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1097280" y="3849624"/>
            <a:ext cx="347472" cy="91"/>
          </a:xfrm>
          <a:prstGeom prst="line">
            <a:avLst/>
          </a:prstGeom>
          <a:noFill/>
          <a:ln w="31750">
            <a:solidFill>
              <a:srgbClr val="0EA5C6"/>
            </a:solidFill>
            <a:prstDash val="solid"/>
            <a:tailEnd type="triangle"/>
          </a:ln>
        </p:spPr>
      </p:sp>
      <p:sp>
        <p:nvSpPr>
          <p:cNvPr id="57" name="Text 55"/>
          <p:cNvSpPr txBox="1"/>
          <p:nvPr/>
        </p:nvSpPr>
        <p:spPr>
          <a:xfrm>
            <a:off x="1463040" y="57698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8A"/>
                </a:solidFill>
              </a:rPr>
              <a:t>Overhead busway &amp; fibre raceway above racks  ·  机柜上方：插接母线与光纤槽道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7772400" y="1508760"/>
            <a:ext cx="3886200" cy="4754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Racks face each other: fronts draw cold air, backs exhaust hot air.</a:t>
            </a:r>
            <a:endParaRPr lang="en-US" sz="1250" dirty="0"/>
          </a:p>
          <a:p>
            <a:pPr marL="177800" indent="-177800">
              <a:lnSpc>
                <a:spcPct val="95000"/>
              </a:lnSpc>
              <a:spcAft>
                <a:spcPts val="700"/>
              </a:spcAft>
              <a:buSzPct val="100000"/>
              <a:buChar char=" "/>
            </a:pPr>
            <a:r>
              <a:rPr lang="en-US" sz="1150" dirty="0">
                <a:solidFill>
                  <a:schemeClr val="accent1"/>
                </a:solidFill>
              </a:rPr>
              <a:t>机柜面对面布置：正面吸入冷风，背面排出热风。</a:t>
            </a:r>
            <a:endParaRPr lang="en-US" sz="12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Containment stops mixing — enabling warmer supply air and lower fan energy.</a:t>
            </a:r>
            <a:endParaRPr lang="en-US" sz="1250" dirty="0"/>
          </a:p>
          <a:p>
            <a:pPr marL="177800" indent="-177800">
              <a:lnSpc>
                <a:spcPct val="95000"/>
              </a:lnSpc>
              <a:spcAft>
                <a:spcPts val="700"/>
              </a:spcAft>
              <a:buSzPct val="100000"/>
              <a:buChar char=" "/>
            </a:pPr>
            <a:r>
              <a:rPr lang="en-US" sz="1150" dirty="0">
                <a:solidFill>
                  <a:schemeClr val="accent1"/>
                </a:solidFill>
              </a:rPr>
              <a:t>通道封闭防止混风——可提高送风温度、降低风机能耗。</a:t>
            </a:r>
            <a:endParaRPr lang="en-US" sz="12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Air cooling is practical to ≈ 25 kW/rack; above that use in-row, rear-door or liquid cooling.</a:t>
            </a:r>
            <a:endParaRPr lang="en-US" sz="1250" dirty="0"/>
          </a:p>
          <a:p>
            <a:pPr marL="177800" indent="-177800">
              <a:lnSpc>
                <a:spcPct val="95000"/>
              </a:lnSpc>
              <a:spcAft>
                <a:spcPts val="700"/>
              </a:spcAft>
              <a:buSzPct val="100000"/>
              <a:buChar char=" "/>
            </a:pPr>
            <a:r>
              <a:rPr lang="en-US" sz="1150" dirty="0">
                <a:solidFill>
                  <a:schemeClr val="accent1"/>
                </a:solidFill>
              </a:rPr>
              <a:t>风冷实际上限约25 kW/柜；更高密度采用列间、背板或液冷。</a:t>
            </a:r>
            <a:endParaRPr lang="en-US" sz="12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Typical pitch 2.4 m per row pair; ≈ 2.5–3.5 m² of white space per rack incl. circulation.</a:t>
            </a:r>
            <a:endParaRPr lang="en-US" sz="1250" dirty="0"/>
          </a:p>
          <a:p>
            <a:pPr marL="177800" indent="-177800">
              <a:lnSpc>
                <a:spcPct val="95000"/>
              </a:lnSpc>
              <a:spcAft>
                <a:spcPts val="700"/>
              </a:spcAft>
              <a:buSzPct val="100000"/>
              <a:buChar char=" "/>
            </a:pPr>
            <a:r>
              <a:rPr lang="en-US" sz="1150" dirty="0">
                <a:solidFill>
                  <a:schemeClr val="accent1"/>
                </a:solidFill>
              </a:rPr>
              <a:t>每对机柜列间距约2.4 m；含通道每柜约2.5–3.5 m²白区面积。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Telecom spaces &amp; cabling topology (TIA-942)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通信空间及布线拓扑（TIA-942）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2194560" cy="731520"/>
          </a:xfrm>
          <a:prstGeom prst="roundRect">
            <a:avLst>
              <a:gd name="adj" fmla="val 8750"/>
            </a:avLst>
          </a:prstGeom>
          <a:solidFill>
            <a:srgbClr val="6B6F8A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824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16736" y="1508760"/>
            <a:ext cx="166420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Carrier A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FFFFFF"/>
                </a:solidFill>
              </a:rPr>
              <a:t>运营商A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0" y="1508760"/>
            <a:ext cx="2194560" cy="731520"/>
          </a:xfrm>
          <a:prstGeom prst="roundRect">
            <a:avLst>
              <a:gd name="adj" fmla="val 8750"/>
            </a:avLst>
          </a:prstGeom>
          <a:solidFill>
            <a:srgbClr val="6B6F8A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682496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151376" y="1508760"/>
            <a:ext cx="166420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Carrier B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FFFFFF"/>
                </a:solidFill>
              </a:rPr>
              <a:t>运营商B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22960" y="2697480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9407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16736" y="2697480"/>
            <a:ext cx="1664208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Entrance Room / MMR 1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FFFFFF"/>
                </a:solidFill>
              </a:rPr>
              <a:t>进线间 / MMR 1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3657600" y="2697480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2894076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151376" y="2697480"/>
            <a:ext cx="1664208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Entrance Room / MMR 2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FFFFFF"/>
                </a:solidFill>
              </a:rPr>
              <a:t>进线间 / MMR 2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2240280" y="3886200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3F3CBB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720" y="4082796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734056" y="3886200"/>
            <a:ext cx="1664208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Main Distribution Area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FFFFFF"/>
                </a:solidFill>
              </a:rPr>
              <a:t>主配线区（MDA）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548640" y="5074920"/>
            <a:ext cx="1737360" cy="731520"/>
          </a:xfrm>
          <a:prstGeom prst="roundRect">
            <a:avLst>
              <a:gd name="adj" fmla="val 8750"/>
            </a:avLst>
          </a:prstGeom>
          <a:solidFill>
            <a:srgbClr val="0EA5C6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248656"/>
            <a:ext cx="384048" cy="38404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42416" y="5074920"/>
            <a:ext cx="120700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HDA (row)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FFFFFF"/>
                </a:solidFill>
              </a:rPr>
              <a:t>水平配线区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2468880" y="5074920"/>
            <a:ext cx="1737360" cy="731520"/>
          </a:xfrm>
          <a:prstGeom prst="roundRect">
            <a:avLst>
              <a:gd name="adj" fmla="val 8750"/>
            </a:avLst>
          </a:prstGeom>
          <a:solidFill>
            <a:srgbClr val="0EA5C6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5248656"/>
            <a:ext cx="384048" cy="38404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2962656" y="5074920"/>
            <a:ext cx="120700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HDA (row)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FFFFFF"/>
                </a:solidFill>
              </a:rPr>
              <a:t>水平配线区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4389120" y="5074920"/>
            <a:ext cx="1737360" cy="731520"/>
          </a:xfrm>
          <a:prstGeom prst="roundRect">
            <a:avLst>
              <a:gd name="adj" fmla="val 8750"/>
            </a:avLst>
          </a:prstGeom>
          <a:solidFill>
            <a:srgbClr val="0EA5C6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560" y="5248656"/>
            <a:ext cx="384048" cy="384048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4882896" y="5074920"/>
            <a:ext cx="120700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HDA (row)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FFFFFF"/>
                </a:solidFill>
              </a:rPr>
              <a:t>水平配线区</a:t>
            </a:r>
            <a:endParaRPr lang="en-US" sz="1100" dirty="0"/>
          </a:p>
        </p:txBody>
      </p:sp>
      <p:sp>
        <p:nvSpPr>
          <p:cNvPr id="28" name="Shape 18"/>
          <p:cNvSpPr/>
          <p:nvPr/>
        </p:nvSpPr>
        <p:spPr>
          <a:xfrm>
            <a:off x="1920240" y="2240280"/>
            <a:ext cx="91" cy="438912"/>
          </a:xfrm>
          <a:prstGeom prst="line">
            <a:avLst/>
          </a:prstGeom>
          <a:noFill/>
          <a:ln w="22225">
            <a:solidFill>
              <a:srgbClr val="1B1D3A"/>
            </a:solidFill>
            <a:prstDash val="solid"/>
            <a:tailEnd type="triangle"/>
          </a:ln>
        </p:spPr>
      </p:sp>
      <p:sp>
        <p:nvSpPr>
          <p:cNvPr id="29" name="Shape 19"/>
          <p:cNvSpPr/>
          <p:nvPr/>
        </p:nvSpPr>
        <p:spPr>
          <a:xfrm>
            <a:off x="4754880" y="2240280"/>
            <a:ext cx="91" cy="438912"/>
          </a:xfrm>
          <a:prstGeom prst="line">
            <a:avLst/>
          </a:prstGeom>
          <a:noFill/>
          <a:ln w="22225">
            <a:solidFill>
              <a:srgbClr val="1B1D3A"/>
            </a:solidFill>
            <a:prstDash val="solid"/>
            <a:tailEnd type="triangle"/>
          </a:ln>
        </p:spPr>
      </p:sp>
      <p:sp>
        <p:nvSpPr>
          <p:cNvPr id="30" name="Shape 20"/>
          <p:cNvSpPr/>
          <p:nvPr/>
        </p:nvSpPr>
        <p:spPr>
          <a:xfrm>
            <a:off x="1920240" y="3474720"/>
            <a:ext cx="1005840" cy="393192"/>
          </a:xfrm>
          <a:prstGeom prst="line">
            <a:avLst/>
          </a:prstGeom>
          <a:noFill/>
          <a:ln w="22225">
            <a:solidFill>
              <a:srgbClr val="1B1D3A"/>
            </a:solidFill>
            <a:prstDash val="solid"/>
            <a:tailEnd type="triangle"/>
          </a:ln>
        </p:spPr>
      </p:sp>
      <p:sp>
        <p:nvSpPr>
          <p:cNvPr id="31" name="Shape 21"/>
          <p:cNvSpPr/>
          <p:nvPr/>
        </p:nvSpPr>
        <p:spPr>
          <a:xfrm flipH="1">
            <a:off x="3749040" y="3474720"/>
            <a:ext cx="1005840" cy="393192"/>
          </a:xfrm>
          <a:prstGeom prst="line">
            <a:avLst/>
          </a:prstGeom>
          <a:noFill/>
          <a:ln w="22225">
            <a:solidFill>
              <a:srgbClr val="1B1D3A"/>
            </a:solidFill>
            <a:prstDash val="solid"/>
            <a:tailEnd type="triangle"/>
          </a:ln>
        </p:spPr>
      </p:sp>
      <p:sp>
        <p:nvSpPr>
          <p:cNvPr id="32" name="Shape 22"/>
          <p:cNvSpPr/>
          <p:nvPr/>
        </p:nvSpPr>
        <p:spPr>
          <a:xfrm flipH="1">
            <a:off x="1417320" y="4663440"/>
            <a:ext cx="1920240" cy="393192"/>
          </a:xfrm>
          <a:prstGeom prst="line">
            <a:avLst/>
          </a:prstGeom>
          <a:noFill/>
          <a:ln w="22225">
            <a:solidFill>
              <a:srgbClr val="1B1D3A"/>
            </a:solidFill>
            <a:prstDash val="solid"/>
            <a:tailEnd type="triangle"/>
          </a:ln>
        </p:spPr>
      </p:sp>
      <p:sp>
        <p:nvSpPr>
          <p:cNvPr id="33" name="Shape 23"/>
          <p:cNvSpPr/>
          <p:nvPr/>
        </p:nvSpPr>
        <p:spPr>
          <a:xfrm>
            <a:off x="3337560" y="4663440"/>
            <a:ext cx="91" cy="393192"/>
          </a:xfrm>
          <a:prstGeom prst="line">
            <a:avLst/>
          </a:prstGeom>
          <a:noFill/>
          <a:ln w="22225">
            <a:solidFill>
              <a:srgbClr val="1B1D3A"/>
            </a:solidFill>
            <a:prstDash val="solid"/>
            <a:tailEnd type="triangle"/>
          </a:ln>
        </p:spPr>
      </p:sp>
      <p:sp>
        <p:nvSpPr>
          <p:cNvPr id="34" name="Shape 24"/>
          <p:cNvSpPr/>
          <p:nvPr/>
        </p:nvSpPr>
        <p:spPr>
          <a:xfrm>
            <a:off x="3337560" y="4663440"/>
            <a:ext cx="1920240" cy="393192"/>
          </a:xfrm>
          <a:prstGeom prst="line">
            <a:avLst/>
          </a:prstGeom>
          <a:noFill/>
          <a:ln w="22225">
            <a:solidFill>
              <a:srgbClr val="1B1D3A"/>
            </a:solidFill>
            <a:prstDash val="solid"/>
            <a:tailEnd type="triangle"/>
          </a:ln>
        </p:spPr>
      </p:sp>
      <p:sp>
        <p:nvSpPr>
          <p:cNvPr id="35" name="Text 25"/>
          <p:cNvSpPr txBox="1"/>
          <p:nvPr/>
        </p:nvSpPr>
        <p:spPr>
          <a:xfrm>
            <a:off x="548640" y="587044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A"/>
                </a:solidFill>
              </a:rPr>
              <a:t>→ EDA: equipment racks (servers, storage)  设备配线区：设备机柜</a:t>
            </a:r>
            <a:endParaRPr lang="en-US" sz="1000" dirty="0"/>
          </a:p>
        </p:txBody>
      </p:sp>
      <p:sp>
        <p:nvSpPr>
          <p:cNvPr id="36" name="Text 26"/>
          <p:cNvSpPr txBox="1"/>
          <p:nvPr/>
        </p:nvSpPr>
        <p:spPr>
          <a:xfrm>
            <a:off x="6766560" y="1554480"/>
            <a:ext cx="4892040" cy="4663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Entrance Room / MMR: carriers terminate here; carrier-neutral sites offer many carriers and cross-connects.</a:t>
            </a:r>
            <a:endParaRPr lang="en-US" sz="1250" dirty="0"/>
          </a:p>
          <a:p>
            <a:pPr marL="177800" indent="-177800">
              <a:lnSpc>
                <a:spcPct val="95000"/>
              </a:lnSpc>
              <a:spcAft>
                <a:spcPts val="700"/>
              </a:spcAft>
              <a:buSzPct val="100000"/>
              <a:buChar char=" "/>
            </a:pPr>
            <a:r>
              <a:rPr lang="en-US" sz="1150" dirty="0">
                <a:solidFill>
                  <a:schemeClr val="accent1"/>
                </a:solidFill>
              </a:rPr>
              <a:t>进线间/MMR：运营商在此成端；运营商中立的场地可提供多家运营商及交叉连接。</a:t>
            </a:r>
            <a:endParaRPr lang="en-US" sz="12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MDA: core routers &amp; switches and the main cross-connect for the whole facility.</a:t>
            </a:r>
            <a:endParaRPr lang="en-US" sz="1250" dirty="0"/>
          </a:p>
          <a:p>
            <a:pPr marL="177800" indent="-177800">
              <a:lnSpc>
                <a:spcPct val="95000"/>
              </a:lnSpc>
              <a:spcAft>
                <a:spcPts val="700"/>
              </a:spcAft>
              <a:buSzPct val="100000"/>
              <a:buChar char=" "/>
            </a:pPr>
            <a:r>
              <a:rPr lang="en-US" sz="1150" dirty="0">
                <a:solidFill>
                  <a:schemeClr val="accent1"/>
                </a:solidFill>
              </a:rPr>
              <a:t>MDA：核心路由器、交换机及全设施主交叉连接。</a:t>
            </a:r>
            <a:endParaRPr lang="en-US" sz="12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HDA / ZDA: row- or zone-level distribution to the Equipment Distribution Areas (racks).</a:t>
            </a:r>
            <a:endParaRPr lang="en-US" sz="1250" dirty="0"/>
          </a:p>
          <a:p>
            <a:pPr marL="177800" indent="-177800">
              <a:lnSpc>
                <a:spcPct val="95000"/>
              </a:lnSpc>
              <a:spcAft>
                <a:spcPts val="700"/>
              </a:spcAft>
              <a:buSzPct val="100000"/>
              <a:buChar char=" "/>
            </a:pPr>
            <a:r>
              <a:rPr lang="en-US" sz="1150" dirty="0">
                <a:solidFill>
                  <a:schemeClr val="accent1"/>
                </a:solidFill>
              </a:rPr>
              <a:t>HDA/ZDA：列级或区域级配线，连接至设备配线区（机柜）。</a:t>
            </a:r>
            <a:endParaRPr lang="en-US" sz="12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Rated-3/4: two entrance rooms, diverse pathways and redundant backbone cabling.</a:t>
            </a:r>
            <a:endParaRPr lang="en-US" sz="1250" dirty="0"/>
          </a:p>
          <a:p>
            <a:pPr marL="177800" indent="-177800">
              <a:lnSpc>
                <a:spcPct val="95000"/>
              </a:lnSpc>
              <a:spcAft>
                <a:spcPts val="700"/>
              </a:spcAft>
              <a:buSzPct val="100000"/>
              <a:buChar char=" "/>
            </a:pPr>
            <a:r>
              <a:rPr lang="en-US" sz="1150" dirty="0">
                <a:solidFill>
                  <a:schemeClr val="accent1"/>
                </a:solidFill>
              </a:rPr>
              <a:t>Rated-3/4：两个进线间、分离路由及冗余主干布线。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Space planning rules of thumb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空间规划经验值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2.5–3.5 m²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31136"/>
            <a:ext cx="26517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White space per rack (incl. aisles)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每柜白区面积（含通道）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463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4.5–6 m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231136"/>
            <a:ext cx="26517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Clear height in data halls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机房净高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91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15–25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59936"/>
            <a:ext cx="26517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kN/m² floor load (AI up to 25)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kN/m²楼面荷载（AI可达25）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3291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500–1,500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4059936"/>
            <a:ext cx="26517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m² gross floor area per MW IT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每MW IT对应总建筑面积m²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074920"/>
            <a:ext cx="539496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6B6F8A"/>
                </a:solidFill>
              </a:rPr>
              <a:t>Ratios vary with density, Tier and battery type: Tier IV roughly doubles electrical rooms; Li-ion batteries need ≈ 1/3 of VRLA space.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比例随密度、等级及电池类型变化：Tier IV电气房间约翻倍；锂电所需空间约为铅酸的1/3。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309360" y="1417320"/>
          <a:ext cx="53492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223760" y="822960"/>
            <a:ext cx="4937760" cy="4937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2344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0EA5C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7889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Electrical Power Systems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8404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BDEFFA"/>
                </a:solidFill>
              </a:rPr>
              <a:t>电气供配电系统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663440"/>
            <a:ext cx="65836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D6D8F5"/>
                </a:solidFill>
              </a:rPr>
              <a:t>From the utility substation to the server power supply — with no single point of failure.</a:t>
            </a:r>
            <a:endParaRPr lang="en-US" sz="14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BDEFFA"/>
                </a:solidFill>
              </a:rPr>
              <a:t>从变电站到服务器电源——无单点故障。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A3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 critical power chain (2N “A/B” example)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关键供电链（2N“A/B”示例）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207008" cy="914400"/>
          </a:xfrm>
          <a:prstGeom prst="roundRect">
            <a:avLst>
              <a:gd name="adj" fmla="val 7000"/>
            </a:avLst>
          </a:prstGeom>
          <a:solidFill>
            <a:srgbClr val="3F3CBB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7647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76072" y="2093976"/>
            <a:ext cx="115214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Utility feed</a:t>
            </a:r>
            <a:endParaRPr lang="en-US" sz="105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BDEFFA"/>
                </a:solidFill>
              </a:rPr>
              <a:t>市电进线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3794760"/>
            <a:ext cx="1207008" cy="914400"/>
          </a:xfrm>
          <a:prstGeom prst="roundRect">
            <a:avLst>
              <a:gd name="adj" fmla="val 7000"/>
            </a:avLst>
          </a:prstGeom>
          <a:solidFill>
            <a:srgbClr val="0EA5C6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3867912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76072" y="4197096"/>
            <a:ext cx="115214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Utility feed</a:t>
            </a:r>
            <a:endParaRPr lang="en-US" sz="105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FFFFFF"/>
                </a:solidFill>
              </a:rPr>
              <a:t>市电进线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1755648" y="2148840"/>
            <a:ext cx="164592" cy="91"/>
          </a:xfrm>
          <a:prstGeom prst="line">
            <a:avLst/>
          </a:prstGeom>
          <a:noFill/>
          <a:ln w="22225">
            <a:solidFill>
              <a:srgbClr val="3F3CBB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1755648" y="4251960"/>
            <a:ext cx="164592" cy="91"/>
          </a:xfrm>
          <a:prstGeom prst="line">
            <a:avLst/>
          </a:prstGeom>
          <a:noFill/>
          <a:ln w="22225">
            <a:solidFill>
              <a:srgbClr val="0EA5C6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1938528" y="1691640"/>
            <a:ext cx="1207008" cy="914400"/>
          </a:xfrm>
          <a:prstGeom prst="roundRect">
            <a:avLst>
              <a:gd name="adj" fmla="val 7000"/>
            </a:avLst>
          </a:prstGeom>
          <a:solidFill>
            <a:srgbClr val="3F3CBB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584" y="176479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965960" y="2093976"/>
            <a:ext cx="115214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MV switchgear</a:t>
            </a:r>
            <a:endParaRPr lang="en-US" sz="105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BDEFFA"/>
                </a:solidFill>
              </a:rPr>
              <a:t>中压开关柜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1938528" y="3794760"/>
            <a:ext cx="1207008" cy="914400"/>
          </a:xfrm>
          <a:prstGeom prst="roundRect">
            <a:avLst>
              <a:gd name="adj" fmla="val 7000"/>
            </a:avLst>
          </a:prstGeom>
          <a:solidFill>
            <a:srgbClr val="0EA5C6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6584" y="3867912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965960" y="4197096"/>
            <a:ext cx="115214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MV switchgear</a:t>
            </a:r>
            <a:endParaRPr lang="en-US" sz="105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FFFFFF"/>
                </a:solidFill>
              </a:rPr>
              <a:t>中压开关柜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3145536" y="2148840"/>
            <a:ext cx="164592" cy="91"/>
          </a:xfrm>
          <a:prstGeom prst="line">
            <a:avLst/>
          </a:prstGeom>
          <a:noFill/>
          <a:ln w="22225">
            <a:solidFill>
              <a:srgbClr val="3F3CBB"/>
            </a:solidFill>
            <a:prstDash val="solid"/>
            <a:tailEnd type="triangle"/>
          </a:ln>
        </p:spPr>
      </p:sp>
      <p:sp>
        <p:nvSpPr>
          <p:cNvPr id="19" name="Shape 13"/>
          <p:cNvSpPr/>
          <p:nvPr/>
        </p:nvSpPr>
        <p:spPr>
          <a:xfrm>
            <a:off x="3145536" y="4251960"/>
            <a:ext cx="164592" cy="91"/>
          </a:xfrm>
          <a:prstGeom prst="line">
            <a:avLst/>
          </a:prstGeom>
          <a:noFill/>
          <a:ln w="22225">
            <a:solidFill>
              <a:srgbClr val="0EA5C6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3328416" y="1691640"/>
            <a:ext cx="1207008" cy="914400"/>
          </a:xfrm>
          <a:prstGeom prst="roundRect">
            <a:avLst>
              <a:gd name="adj" fmla="val 7000"/>
            </a:avLst>
          </a:prstGeom>
          <a:solidFill>
            <a:srgbClr val="3F3CBB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6472" y="1764792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355848" y="2093976"/>
            <a:ext cx="115214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Transformer</a:t>
            </a:r>
            <a:endParaRPr lang="en-US" sz="105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BDEFFA"/>
                </a:solidFill>
              </a:rPr>
              <a:t>变压器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3328416" y="3794760"/>
            <a:ext cx="1207008" cy="914400"/>
          </a:xfrm>
          <a:prstGeom prst="roundRect">
            <a:avLst>
              <a:gd name="adj" fmla="val 7000"/>
            </a:avLst>
          </a:prstGeom>
          <a:solidFill>
            <a:srgbClr val="0EA5C6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6472" y="3867912"/>
            <a:ext cx="310896" cy="31089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3355848" y="4197096"/>
            <a:ext cx="115214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Transformer</a:t>
            </a:r>
            <a:endParaRPr lang="en-US" sz="105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FFFFFF"/>
                </a:solidFill>
              </a:rPr>
              <a:t>变压器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4535424" y="2148840"/>
            <a:ext cx="164592" cy="91"/>
          </a:xfrm>
          <a:prstGeom prst="line">
            <a:avLst/>
          </a:prstGeom>
          <a:noFill/>
          <a:ln w="22225">
            <a:solidFill>
              <a:srgbClr val="3F3CBB"/>
            </a:solidFill>
            <a:prstDash val="solid"/>
            <a:tailEnd type="triangle"/>
          </a:ln>
        </p:spPr>
      </p:sp>
      <p:sp>
        <p:nvSpPr>
          <p:cNvPr id="27" name="Shape 19"/>
          <p:cNvSpPr/>
          <p:nvPr/>
        </p:nvSpPr>
        <p:spPr>
          <a:xfrm>
            <a:off x="4535424" y="4251960"/>
            <a:ext cx="164592" cy="91"/>
          </a:xfrm>
          <a:prstGeom prst="line">
            <a:avLst/>
          </a:prstGeom>
          <a:noFill/>
          <a:ln w="22225">
            <a:solidFill>
              <a:srgbClr val="0EA5C6"/>
            </a:solidFill>
            <a:prstDash val="solid"/>
            <a:tailEnd type="triangle"/>
          </a:ln>
        </p:spPr>
      </p:sp>
      <p:sp>
        <p:nvSpPr>
          <p:cNvPr id="28" name="Shape 20"/>
          <p:cNvSpPr/>
          <p:nvPr/>
        </p:nvSpPr>
        <p:spPr>
          <a:xfrm>
            <a:off x="4718304" y="1691640"/>
            <a:ext cx="1207008" cy="914400"/>
          </a:xfrm>
          <a:prstGeom prst="roundRect">
            <a:avLst>
              <a:gd name="adj" fmla="val 7000"/>
            </a:avLst>
          </a:prstGeom>
          <a:solidFill>
            <a:srgbClr val="3F3CBB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1764792"/>
            <a:ext cx="310896" cy="31089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4745736" y="2093976"/>
            <a:ext cx="115214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LV switchboard</a:t>
            </a:r>
            <a:endParaRPr lang="en-US" sz="105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BDEFFA"/>
                </a:solidFill>
              </a:rPr>
              <a:t>低压配电柜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4718304" y="3794760"/>
            <a:ext cx="1207008" cy="914400"/>
          </a:xfrm>
          <a:prstGeom prst="roundRect">
            <a:avLst>
              <a:gd name="adj" fmla="val 7000"/>
            </a:avLst>
          </a:prstGeom>
          <a:solidFill>
            <a:srgbClr val="0EA5C6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360" y="3867912"/>
            <a:ext cx="310896" cy="31089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4745736" y="4197096"/>
            <a:ext cx="115214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LV switchboard</a:t>
            </a:r>
            <a:endParaRPr lang="en-US" sz="105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FFFFFF"/>
                </a:solidFill>
              </a:rPr>
              <a:t>低压配电柜</a:t>
            </a:r>
            <a:endParaRPr lang="en-US" sz="1050" dirty="0"/>
          </a:p>
        </p:txBody>
      </p:sp>
      <p:sp>
        <p:nvSpPr>
          <p:cNvPr id="34" name="Shape 24"/>
          <p:cNvSpPr/>
          <p:nvPr/>
        </p:nvSpPr>
        <p:spPr>
          <a:xfrm>
            <a:off x="5925312" y="2148840"/>
            <a:ext cx="164592" cy="91"/>
          </a:xfrm>
          <a:prstGeom prst="line">
            <a:avLst/>
          </a:prstGeom>
          <a:noFill/>
          <a:ln w="22225">
            <a:solidFill>
              <a:srgbClr val="3F3CBB"/>
            </a:solidFill>
            <a:prstDash val="solid"/>
            <a:tailEnd type="triangle"/>
          </a:ln>
        </p:spPr>
      </p:sp>
      <p:sp>
        <p:nvSpPr>
          <p:cNvPr id="35" name="Shape 25"/>
          <p:cNvSpPr/>
          <p:nvPr/>
        </p:nvSpPr>
        <p:spPr>
          <a:xfrm>
            <a:off x="5925312" y="4251960"/>
            <a:ext cx="164592" cy="91"/>
          </a:xfrm>
          <a:prstGeom prst="line">
            <a:avLst/>
          </a:prstGeom>
          <a:noFill/>
          <a:ln w="22225">
            <a:solidFill>
              <a:srgbClr val="0EA5C6"/>
            </a:solidFill>
            <a:prstDash val="solid"/>
            <a:tailEnd type="triangle"/>
          </a:ln>
        </p:spPr>
      </p:sp>
      <p:sp>
        <p:nvSpPr>
          <p:cNvPr id="36" name="Shape 26"/>
          <p:cNvSpPr/>
          <p:nvPr/>
        </p:nvSpPr>
        <p:spPr>
          <a:xfrm>
            <a:off x="6108192" y="1691640"/>
            <a:ext cx="1207008" cy="914400"/>
          </a:xfrm>
          <a:prstGeom prst="roundRect">
            <a:avLst>
              <a:gd name="adj" fmla="val 7000"/>
            </a:avLst>
          </a:prstGeom>
          <a:solidFill>
            <a:srgbClr val="3F3CBB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6248" y="1764792"/>
            <a:ext cx="310896" cy="310896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6135624" y="2093976"/>
            <a:ext cx="115214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UPS + battery</a:t>
            </a:r>
            <a:endParaRPr lang="en-US" sz="105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BDEFFA"/>
                </a:solidFill>
              </a:rPr>
              <a:t>UPS+电池</a:t>
            </a:r>
            <a:endParaRPr lang="en-US" sz="1050" dirty="0"/>
          </a:p>
        </p:txBody>
      </p:sp>
      <p:sp>
        <p:nvSpPr>
          <p:cNvPr id="39" name="Shape 28"/>
          <p:cNvSpPr/>
          <p:nvPr/>
        </p:nvSpPr>
        <p:spPr>
          <a:xfrm>
            <a:off x="6108192" y="3794760"/>
            <a:ext cx="1207008" cy="914400"/>
          </a:xfrm>
          <a:prstGeom prst="roundRect">
            <a:avLst>
              <a:gd name="adj" fmla="val 7000"/>
            </a:avLst>
          </a:prstGeom>
          <a:solidFill>
            <a:srgbClr val="0EA5C6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6248" y="3867912"/>
            <a:ext cx="310896" cy="310896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6135624" y="4197096"/>
            <a:ext cx="115214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UPS + battery</a:t>
            </a:r>
            <a:endParaRPr lang="en-US" sz="105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FFFFFF"/>
                </a:solidFill>
              </a:rPr>
              <a:t>UPS+电池</a:t>
            </a:r>
            <a:endParaRPr lang="en-US" sz="1050" dirty="0"/>
          </a:p>
        </p:txBody>
      </p:sp>
      <p:sp>
        <p:nvSpPr>
          <p:cNvPr id="42" name="Shape 30"/>
          <p:cNvSpPr/>
          <p:nvPr/>
        </p:nvSpPr>
        <p:spPr>
          <a:xfrm>
            <a:off x="7315200" y="2148840"/>
            <a:ext cx="164592" cy="91"/>
          </a:xfrm>
          <a:prstGeom prst="line">
            <a:avLst/>
          </a:prstGeom>
          <a:noFill/>
          <a:ln w="22225">
            <a:solidFill>
              <a:srgbClr val="3F3CBB"/>
            </a:solidFill>
            <a:prstDash val="solid"/>
            <a:tailEnd type="triangle"/>
          </a:ln>
        </p:spPr>
      </p:sp>
      <p:sp>
        <p:nvSpPr>
          <p:cNvPr id="43" name="Shape 31"/>
          <p:cNvSpPr/>
          <p:nvPr/>
        </p:nvSpPr>
        <p:spPr>
          <a:xfrm>
            <a:off x="7315200" y="4251960"/>
            <a:ext cx="164592" cy="91"/>
          </a:xfrm>
          <a:prstGeom prst="line">
            <a:avLst/>
          </a:prstGeom>
          <a:noFill/>
          <a:ln w="22225">
            <a:solidFill>
              <a:srgbClr val="0EA5C6"/>
            </a:solidFill>
            <a:prstDash val="solid"/>
            <a:tailEnd type="triangle"/>
          </a:ln>
        </p:spPr>
      </p:sp>
      <p:sp>
        <p:nvSpPr>
          <p:cNvPr id="44" name="Shape 32"/>
          <p:cNvSpPr/>
          <p:nvPr/>
        </p:nvSpPr>
        <p:spPr>
          <a:xfrm>
            <a:off x="7498080" y="1691640"/>
            <a:ext cx="1207008" cy="914400"/>
          </a:xfrm>
          <a:prstGeom prst="roundRect">
            <a:avLst>
              <a:gd name="adj" fmla="val 7000"/>
            </a:avLst>
          </a:prstGeom>
          <a:solidFill>
            <a:srgbClr val="3F3CBB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46136" y="1764792"/>
            <a:ext cx="310896" cy="310896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7525512" y="2093976"/>
            <a:ext cx="115214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PDU / busway</a:t>
            </a:r>
            <a:endParaRPr lang="en-US" sz="105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BDEFFA"/>
                </a:solidFill>
              </a:rPr>
              <a:t>PDU / 母线</a:t>
            </a:r>
            <a:endParaRPr lang="en-US" sz="1050" dirty="0"/>
          </a:p>
        </p:txBody>
      </p:sp>
      <p:sp>
        <p:nvSpPr>
          <p:cNvPr id="47" name="Shape 34"/>
          <p:cNvSpPr/>
          <p:nvPr/>
        </p:nvSpPr>
        <p:spPr>
          <a:xfrm>
            <a:off x="7498080" y="3794760"/>
            <a:ext cx="1207008" cy="914400"/>
          </a:xfrm>
          <a:prstGeom prst="roundRect">
            <a:avLst>
              <a:gd name="adj" fmla="val 7000"/>
            </a:avLst>
          </a:prstGeom>
          <a:solidFill>
            <a:srgbClr val="0EA5C6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46136" y="3867912"/>
            <a:ext cx="310896" cy="310896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7525512" y="4197096"/>
            <a:ext cx="115214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PDU / busway</a:t>
            </a:r>
            <a:endParaRPr lang="en-US" sz="105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FFFFFF"/>
                </a:solidFill>
              </a:rPr>
              <a:t>PDU / 母线</a:t>
            </a:r>
            <a:endParaRPr lang="en-US" sz="1050" dirty="0"/>
          </a:p>
        </p:txBody>
      </p:sp>
      <p:sp>
        <p:nvSpPr>
          <p:cNvPr id="50" name="Shape 36"/>
          <p:cNvSpPr/>
          <p:nvPr/>
        </p:nvSpPr>
        <p:spPr>
          <a:xfrm>
            <a:off x="8705088" y="2148840"/>
            <a:ext cx="164592" cy="91"/>
          </a:xfrm>
          <a:prstGeom prst="line">
            <a:avLst/>
          </a:prstGeom>
          <a:noFill/>
          <a:ln w="22225">
            <a:solidFill>
              <a:srgbClr val="3F3CBB"/>
            </a:solidFill>
            <a:prstDash val="solid"/>
            <a:tailEnd type="triangle"/>
          </a:ln>
        </p:spPr>
      </p:sp>
      <p:sp>
        <p:nvSpPr>
          <p:cNvPr id="51" name="Shape 37"/>
          <p:cNvSpPr/>
          <p:nvPr/>
        </p:nvSpPr>
        <p:spPr>
          <a:xfrm>
            <a:off x="8705088" y="4251960"/>
            <a:ext cx="164592" cy="91"/>
          </a:xfrm>
          <a:prstGeom prst="line">
            <a:avLst/>
          </a:prstGeom>
          <a:noFill/>
          <a:ln w="22225">
            <a:solidFill>
              <a:srgbClr val="0EA5C6"/>
            </a:solidFill>
            <a:prstDash val="solid"/>
            <a:tailEnd type="triangle"/>
          </a:ln>
        </p:spPr>
      </p:sp>
      <p:sp>
        <p:nvSpPr>
          <p:cNvPr id="52" name="Shape 38"/>
          <p:cNvSpPr/>
          <p:nvPr/>
        </p:nvSpPr>
        <p:spPr>
          <a:xfrm>
            <a:off x="8887968" y="1691640"/>
            <a:ext cx="1207008" cy="914400"/>
          </a:xfrm>
          <a:prstGeom prst="roundRect">
            <a:avLst>
              <a:gd name="adj" fmla="val 7000"/>
            </a:avLst>
          </a:prstGeom>
          <a:solidFill>
            <a:srgbClr val="3F3CBB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36024" y="1764792"/>
            <a:ext cx="310896" cy="310896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8915400" y="2093976"/>
            <a:ext cx="115214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Rack PDU</a:t>
            </a:r>
            <a:endParaRPr lang="en-US" sz="105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BDEFFA"/>
                </a:solidFill>
              </a:rPr>
              <a:t>机架PDU</a:t>
            </a:r>
            <a:endParaRPr lang="en-US" sz="1050" dirty="0"/>
          </a:p>
        </p:txBody>
      </p:sp>
      <p:sp>
        <p:nvSpPr>
          <p:cNvPr id="55" name="Shape 40"/>
          <p:cNvSpPr/>
          <p:nvPr/>
        </p:nvSpPr>
        <p:spPr>
          <a:xfrm>
            <a:off x="8887968" y="3794760"/>
            <a:ext cx="1207008" cy="914400"/>
          </a:xfrm>
          <a:prstGeom prst="roundRect">
            <a:avLst>
              <a:gd name="adj" fmla="val 7000"/>
            </a:avLst>
          </a:prstGeom>
          <a:solidFill>
            <a:srgbClr val="0EA5C6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36024" y="3867912"/>
            <a:ext cx="310896" cy="310896"/>
          </a:xfrm>
          <a:prstGeom prst="rect">
            <a:avLst/>
          </a:prstGeom>
        </p:spPr>
      </p:pic>
      <p:sp>
        <p:nvSpPr>
          <p:cNvPr id="57" name="Text 41"/>
          <p:cNvSpPr txBox="1"/>
          <p:nvPr/>
        </p:nvSpPr>
        <p:spPr>
          <a:xfrm>
            <a:off x="8915400" y="4197096"/>
            <a:ext cx="115214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Rack PDU</a:t>
            </a:r>
            <a:endParaRPr lang="en-US" sz="105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FFFFFF"/>
                </a:solidFill>
              </a:rPr>
              <a:t>机架PDU</a:t>
            </a:r>
            <a:endParaRPr lang="en-US" sz="1050" dirty="0"/>
          </a:p>
        </p:txBody>
      </p:sp>
      <p:sp>
        <p:nvSpPr>
          <p:cNvPr id="58" name="Shape 42"/>
          <p:cNvSpPr/>
          <p:nvPr/>
        </p:nvSpPr>
        <p:spPr>
          <a:xfrm>
            <a:off x="548640" y="135331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3F3CBB"/>
          </a:solidFill>
          <a:ln/>
        </p:spPr>
      </p:sp>
      <p:sp>
        <p:nvSpPr>
          <p:cNvPr id="59" name="Text 43"/>
          <p:cNvSpPr txBox="1"/>
          <p:nvPr/>
        </p:nvSpPr>
        <p:spPr>
          <a:xfrm>
            <a:off x="548640" y="13533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PATH A</a:t>
            </a:r>
            <a:endParaRPr lang="en-US" sz="1000" dirty="0"/>
          </a:p>
        </p:txBody>
      </p:sp>
      <p:sp>
        <p:nvSpPr>
          <p:cNvPr id="60" name="Shape 44"/>
          <p:cNvSpPr/>
          <p:nvPr/>
        </p:nvSpPr>
        <p:spPr>
          <a:xfrm>
            <a:off x="548640" y="345643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EA5C6"/>
          </a:solidFill>
          <a:ln/>
        </p:spPr>
      </p:sp>
      <p:sp>
        <p:nvSpPr>
          <p:cNvPr id="61" name="Text 45"/>
          <p:cNvSpPr txBox="1"/>
          <p:nvPr/>
        </p:nvSpPr>
        <p:spPr>
          <a:xfrm>
            <a:off x="548640" y="34564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PATH B</a:t>
            </a:r>
            <a:endParaRPr lang="en-US" sz="1000" dirty="0"/>
          </a:p>
        </p:txBody>
      </p:sp>
      <p:sp>
        <p:nvSpPr>
          <p:cNvPr id="62" name="Shape 46"/>
          <p:cNvSpPr/>
          <p:nvPr/>
        </p:nvSpPr>
        <p:spPr>
          <a:xfrm>
            <a:off x="4626864" y="2743200"/>
            <a:ext cx="1389888" cy="685800"/>
          </a:xfrm>
          <a:prstGeom prst="roundRect">
            <a:avLst>
              <a:gd name="adj" fmla="val 9333"/>
            </a:avLst>
          </a:prstGeom>
          <a:solidFill>
            <a:srgbClr val="F2A93B"/>
          </a:solidFill>
          <a:ln/>
        </p:spPr>
      </p:sp>
      <p:pic>
        <p:nvPicPr>
          <p:cNvPr id="6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18304" y="2897505"/>
            <a:ext cx="377190" cy="377190"/>
          </a:xfrm>
          <a:prstGeom prst="rect">
            <a:avLst/>
          </a:prstGeom>
        </p:spPr>
      </p:pic>
      <p:sp>
        <p:nvSpPr>
          <p:cNvPr id="64" name="Text 47"/>
          <p:cNvSpPr txBox="1"/>
          <p:nvPr/>
        </p:nvSpPr>
        <p:spPr>
          <a:xfrm>
            <a:off x="5113782" y="2743200"/>
            <a:ext cx="866394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7153F"/>
                </a:solidFill>
              </a:rPr>
              <a:t>Generators + ATS</a:t>
            </a:r>
            <a:endParaRPr lang="en-US" sz="10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17153F"/>
                </a:solidFill>
              </a:rPr>
              <a:t>发电机+ATS</a:t>
            </a:r>
            <a:endParaRPr lang="en-US" sz="1000" dirty="0"/>
          </a:p>
        </p:txBody>
      </p:sp>
      <p:sp>
        <p:nvSpPr>
          <p:cNvPr id="65" name="Shape 48"/>
          <p:cNvSpPr/>
          <p:nvPr/>
        </p:nvSpPr>
        <p:spPr>
          <a:xfrm flipV="1">
            <a:off x="5321808" y="2624328"/>
            <a:ext cx="91" cy="118872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66" name="Shape 49"/>
          <p:cNvSpPr/>
          <p:nvPr/>
        </p:nvSpPr>
        <p:spPr>
          <a:xfrm>
            <a:off x="5321808" y="3429000"/>
            <a:ext cx="91" cy="347472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67" name="Shape 50"/>
          <p:cNvSpPr/>
          <p:nvPr/>
        </p:nvSpPr>
        <p:spPr>
          <a:xfrm>
            <a:off x="10323576" y="2423160"/>
            <a:ext cx="1188720" cy="1508760"/>
          </a:xfrm>
          <a:prstGeom prst="roundRect">
            <a:avLst>
              <a:gd name="adj" fmla="val 5385"/>
            </a:avLst>
          </a:prstGeom>
          <a:solidFill>
            <a:srgbClr val="17153F"/>
          </a:solidFill>
          <a:ln/>
        </p:spPr>
      </p:sp>
      <p:sp>
        <p:nvSpPr>
          <p:cNvPr id="68" name="Text 51"/>
          <p:cNvSpPr txBox="1"/>
          <p:nvPr/>
        </p:nvSpPr>
        <p:spPr>
          <a:xfrm>
            <a:off x="10323576" y="2423160"/>
            <a:ext cx="118872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Dual-corded server</a:t>
            </a:r>
            <a:endParaRPr lang="en-US" sz="11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BDEFFA"/>
                </a:solidFill>
              </a:rPr>
              <a:t>双电源服务器</a:t>
            </a:r>
            <a:endParaRPr lang="en-US" sz="1100" dirty="0"/>
          </a:p>
        </p:txBody>
      </p:sp>
      <p:sp>
        <p:nvSpPr>
          <p:cNvPr id="69" name="Shape 52"/>
          <p:cNvSpPr/>
          <p:nvPr/>
        </p:nvSpPr>
        <p:spPr>
          <a:xfrm>
            <a:off x="10094976" y="2148840"/>
            <a:ext cx="822960" cy="256032"/>
          </a:xfrm>
          <a:prstGeom prst="line">
            <a:avLst/>
          </a:prstGeom>
          <a:noFill/>
          <a:ln w="22225">
            <a:solidFill>
              <a:srgbClr val="3F3CBB"/>
            </a:solidFill>
            <a:prstDash val="solid"/>
            <a:tailEnd type="triangle"/>
          </a:ln>
        </p:spPr>
      </p:sp>
      <p:sp>
        <p:nvSpPr>
          <p:cNvPr id="70" name="Shape 53"/>
          <p:cNvSpPr/>
          <p:nvPr/>
        </p:nvSpPr>
        <p:spPr>
          <a:xfrm flipV="1">
            <a:off x="10094976" y="3950208"/>
            <a:ext cx="822960" cy="301752"/>
          </a:xfrm>
          <a:prstGeom prst="line">
            <a:avLst/>
          </a:prstGeom>
          <a:noFill/>
          <a:ln w="22225">
            <a:solidFill>
              <a:srgbClr val="0EA5C6"/>
            </a:solidFill>
            <a:prstDash val="solid"/>
            <a:tailEnd type="triangle"/>
          </a:ln>
        </p:spPr>
      </p:sp>
      <p:sp>
        <p:nvSpPr>
          <p:cNvPr id="71" name="Text 54"/>
          <p:cNvSpPr txBox="1"/>
          <p:nvPr/>
        </p:nvSpPr>
        <p:spPr>
          <a:xfrm>
            <a:off x="548640" y="4892040"/>
            <a:ext cx="11094415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20 kV / 150 kV utility (PLN) — two feeds recommended for Tier III/IV</a:t>
            </a:r>
            <a:endParaRPr lang="en-US" sz="1200" dirty="0"/>
          </a:p>
          <a:p>
            <a:pPr marL="177800" indent="-177800">
              <a:lnSpc>
                <a:spcPct val="95000"/>
              </a:lnSpc>
              <a:spcAft>
                <a:spcPts val="300"/>
              </a:spcAft>
              <a:buSzPct val="100000"/>
              <a:buChar char=" "/>
            </a:pPr>
            <a:r>
              <a:rPr lang="en-US" sz="1100" dirty="0">
                <a:solidFill>
                  <a:schemeClr val="accent1"/>
                </a:solidFill>
              </a:rPr>
              <a:t>20 kV / 150 kV市电（PLN）——Tier III/IV建议双路</a:t>
            </a:r>
            <a:endParaRPr lang="en-US" sz="12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2,500 kVA dry-type, Dyn11, 20/0.4 kV</a:t>
            </a:r>
            <a:endParaRPr lang="en-US" sz="1200" dirty="0"/>
          </a:p>
          <a:p>
            <a:pPr marL="177800" indent="-177800">
              <a:lnSpc>
                <a:spcPct val="95000"/>
              </a:lnSpc>
              <a:spcAft>
                <a:spcPts val="300"/>
              </a:spcAft>
              <a:buSzPct val="100000"/>
              <a:buChar char=" "/>
            </a:pPr>
            <a:r>
              <a:rPr lang="en-US" sz="1100" dirty="0">
                <a:solidFill>
                  <a:schemeClr val="accent1"/>
                </a:solidFill>
              </a:rPr>
              <a:t>2,500 kVA干式变压器，Dyn11，20/0.4 kV</a:t>
            </a:r>
            <a:endParaRPr lang="en-US" sz="12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UPS bridges 10–60 s until generators carry the load; 5–10 min batteries</a:t>
            </a:r>
            <a:endParaRPr lang="en-US" sz="1200" dirty="0"/>
          </a:p>
          <a:p>
            <a:pPr marL="177800" indent="-177800">
              <a:lnSpc>
                <a:spcPct val="95000"/>
              </a:lnSpc>
              <a:spcAft>
                <a:spcPts val="300"/>
              </a:spcAft>
              <a:buSzPct val="100000"/>
              <a:buChar char=" "/>
            </a:pPr>
            <a:r>
              <a:rPr lang="en-US" sz="1100" dirty="0">
                <a:solidFill>
                  <a:schemeClr val="accent1"/>
                </a:solidFill>
              </a:rPr>
              <a:t>UPS在发电机接带前桥接10–60 s；电池5–10 min</a:t>
            </a:r>
            <a:endParaRPr lang="en-US" sz="12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Every component can be maintained (Tier III) or fail (Tier IV) without dropping IT</a:t>
            </a:r>
            <a:endParaRPr lang="en-US" sz="1200" dirty="0"/>
          </a:p>
          <a:p>
            <a:pPr marL="177800" indent="-177800">
              <a:lnSpc>
                <a:spcPct val="95000"/>
              </a:lnSpc>
              <a:spcAft>
                <a:spcPts val="300"/>
              </a:spcAft>
              <a:buSzPct val="100000"/>
              <a:buChar char=" "/>
            </a:pPr>
            <a:r>
              <a:rPr lang="en-US" sz="1100" dirty="0">
                <a:solidFill>
                  <a:schemeClr val="accent1"/>
                </a:solidFill>
              </a:rPr>
              <a:t>任一组件可维护（Tier III）或故障（Tier IV）而不影响IT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Major electrical equipment (1/2): MV, transformers, generators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主要电气设备（1/2）：中压、变压器、发电机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475488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594360" cy="594360"/>
          </a:xfrm>
          <a:prstGeom prst="ellipse">
            <a:avLst/>
          </a:prstGeom>
          <a:solidFill>
            <a:srgbClr val="3F3CB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880006"/>
            <a:ext cx="309067" cy="3090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91640"/>
            <a:ext cx="24688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Medium Voltage Switchgear</a:t>
            </a:r>
            <a:endParaRPr lang="en-US" sz="14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中压开关柜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14600"/>
            <a:ext cx="315468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B1D3A"/>
                </a:solidFill>
              </a:rPr>
              <a:t>Metal-clad, withdrawable VCB, 12 / 24 / 40.5 kV, 630–2500 A busbar, 25–31.5 kA. AIS or GIS where space is limited.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金属铠装、手车式真空断路器，12 / 24 / 40.5 kV，母线630–2500 A，25–31.5 kA；空间受限时采用GIS。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840480"/>
            <a:ext cx="324612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Switchgear shall be metal-enclosed, LSC2B-PM, with internal arc classification IAC AFLR and withdrawable vacuum circuit breakers.</a:t>
            </a:r>
            <a:endParaRPr lang="en-US" sz="1100" dirty="0"/>
          </a:p>
          <a:p>
            <a:pPr marL="127000" indent="-127000">
              <a:lnSpc>
                <a:spcPct val="95000"/>
              </a:lnSpc>
              <a:spcAft>
                <a:spcPts val="600"/>
              </a:spcAft>
              <a:buSzPct val="100000"/>
              <a:buChar char=" "/>
            </a:pPr>
            <a:r>
              <a:rPr lang="en-US" sz="1000" dirty="0">
                <a:solidFill>
                  <a:schemeClr val="accent1"/>
                </a:solidFill>
              </a:rPr>
              <a:t>开关柜应为金属封闭型，运行连续性等级LSC2B-PM，内部燃弧等级IAC AFLR，配手车式真空断路器。</a:t>
            </a:r>
            <a:endParaRPr lang="en-US" sz="1100" dirty="0"/>
          </a:p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Double incoming feeders with bus-section (bus-coupler) breaker and automatic changeover shall be provided for Tier III/IV designs.</a:t>
            </a:r>
            <a:endParaRPr lang="en-US" sz="1100" dirty="0"/>
          </a:p>
          <a:p>
            <a:pPr marL="127000" indent="-127000">
              <a:lnSpc>
                <a:spcPct val="95000"/>
              </a:lnSpc>
              <a:spcAft>
                <a:spcPts val="600"/>
              </a:spcAft>
              <a:buSzPct val="100000"/>
              <a:buChar char=" "/>
            </a:pPr>
            <a:r>
              <a:rPr lang="en-US" sz="1000" dirty="0">
                <a:solidFill>
                  <a:schemeClr val="accent1"/>
                </a:solidFill>
              </a:rPr>
              <a:t>Tier III/IV设计应设双路进线及母联断路器，并具备自动切换功能。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70248" y="1508760"/>
            <a:ext cx="3566160" cy="475488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98848" y="173736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494" y="1880006"/>
            <a:ext cx="309067" cy="30906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30368" y="1691640"/>
            <a:ext cx="24688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MV/LV Power Transformer (Cast-Resin Dry-Type)</a:t>
            </a:r>
            <a:endParaRPr lang="en-US" sz="14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中压/低压电力变压器（环氧树脂浇注干式）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498848" y="2514600"/>
            <a:ext cx="315468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B1D3A"/>
                </a:solidFill>
              </a:rPr>
              <a:t>1,600 – 3,150 kVA per unit (2,500 kVA most common); one transformer per “block” of ~1.5–2 MW facility load.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单台1,600–3,150 kVA（以2,500 kVA最常见）；每台对应约1.5–2 MW设施负荷的一个“供电模块”。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453128" y="3840480"/>
            <a:ext cx="324612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Indoor cast-resin, class F insulation (temperature rise limited to class B or 100 K) with E2-C2-F1 climatic/environmental/fire class.</a:t>
            </a:r>
            <a:endParaRPr lang="en-US" sz="1100" dirty="0"/>
          </a:p>
          <a:p>
            <a:pPr marL="127000" indent="-127000">
              <a:lnSpc>
                <a:spcPct val="95000"/>
              </a:lnSpc>
              <a:spcAft>
                <a:spcPts val="600"/>
              </a:spcAft>
              <a:buSzPct val="100000"/>
              <a:buChar char=" "/>
            </a:pPr>
            <a:r>
              <a:rPr lang="en-US" sz="1000" dirty="0">
                <a:solidFill>
                  <a:schemeClr val="accent1"/>
                </a:solidFill>
              </a:rPr>
              <a:t>户内环氧树脂浇注干式，F级绝缘（温升按B级或100 K考核），环境/气候/燃烧等级E2-C2-F1。</a:t>
            </a:r>
            <a:endParaRPr lang="en-US" sz="1100" dirty="0"/>
          </a:p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Losses shall comply with EU Ecodesign Tier 2 / GB 20052 energy efficiency grade 2 or better.</a:t>
            </a:r>
            <a:endParaRPr lang="en-US" sz="1100" dirty="0"/>
          </a:p>
          <a:p>
            <a:pPr marL="127000" indent="-127000">
              <a:lnSpc>
                <a:spcPct val="95000"/>
              </a:lnSpc>
              <a:spcAft>
                <a:spcPts val="600"/>
              </a:spcAft>
              <a:buSzPct val="100000"/>
              <a:buChar char=" "/>
            </a:pPr>
            <a:r>
              <a:rPr lang="en-US" sz="1000" dirty="0">
                <a:solidFill>
                  <a:schemeClr val="accent1"/>
                </a:solidFill>
              </a:rPr>
              <a:t>损耗应满足欧盟Ecodesign Tier 2或GB 20052二级能效及以上。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991856" y="1508760"/>
            <a:ext cx="3566160" cy="475488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0456" y="173736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3102" y="1880006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951976" y="1691640"/>
            <a:ext cx="24688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Diesel Generator Set</a:t>
            </a:r>
            <a:endParaRPr lang="en-US" sz="14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柴油发电机组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220456" y="2514600"/>
            <a:ext cx="315468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B1D3A"/>
                </a:solidFill>
              </a:rPr>
              <a:t>1,500 – 3,250 kVA per unit (2.0–2.5 MWe typical) at 400 V LV or 11/20 kV MV, containerised or in a generator hall.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单台1,500–3,250 kVA（典型2.0–2.5 MWe），低压400 V或中压11/20 kV，集装箱式或机房式。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8174736" y="3840480"/>
            <a:ext cx="324612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Rating shall be Continuous (COP) or Data Center Continuous (DCC) with no annual run-hour limit at site conditions to satisfy Tier III/IV.</a:t>
            </a:r>
            <a:endParaRPr lang="en-US" sz="1100" dirty="0"/>
          </a:p>
          <a:p>
            <a:pPr marL="127000" indent="-127000">
              <a:lnSpc>
                <a:spcPct val="95000"/>
              </a:lnSpc>
              <a:spcAft>
                <a:spcPts val="600"/>
              </a:spcAft>
              <a:buSzPct val="100000"/>
              <a:buChar char=" "/>
            </a:pPr>
            <a:r>
              <a:rPr lang="en-US" sz="1000" dirty="0">
                <a:solidFill>
                  <a:schemeClr val="accent1"/>
                </a:solidFill>
              </a:rPr>
              <a:t>为满足Tier III/IV，额定功率应为持续功率（COP）或数据中心持续功率（DCC），在现场条件下无年运行小时限制。</a:t>
            </a:r>
            <a:endParaRPr lang="en-US" sz="1100" dirty="0"/>
          </a:p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Start, synchronise and accept load within 10–15 s; single-step load acceptance per ISO 8528-5 performance class G3.</a:t>
            </a:r>
            <a:endParaRPr lang="en-US" sz="1100" dirty="0"/>
          </a:p>
          <a:p>
            <a:pPr marL="127000" indent="-127000">
              <a:lnSpc>
                <a:spcPct val="95000"/>
              </a:lnSpc>
              <a:spcAft>
                <a:spcPts val="600"/>
              </a:spcAft>
              <a:buSzPct val="100000"/>
              <a:buChar char=" "/>
            </a:pPr>
            <a:r>
              <a:rPr lang="en-US" sz="1000" dirty="0">
                <a:solidFill>
                  <a:schemeClr val="accent1"/>
                </a:solidFill>
              </a:rPr>
              <a:t>10–15 s内完成启动、同步并接带负荷；突加负荷性能满足ISO 8528-5 G3级。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Major electrical equipment (2/2): UPS &amp; batteries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主要电气设备（2/2）：UPS与电池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120640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594360" cy="594360"/>
          </a:xfrm>
          <a:prstGeom prst="ellipse">
            <a:avLst/>
          </a:prstGeom>
          <a:solidFill>
            <a:srgbClr val="3F3CB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880006"/>
            <a:ext cx="309067" cy="3090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91640"/>
            <a:ext cx="39319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Static UPS — double conversion</a:t>
            </a:r>
            <a:endParaRPr lang="en-US" sz="15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300" b="1" dirty="0">
                <a:solidFill>
                  <a:schemeClr val="accent1"/>
                </a:solidFill>
              </a:rPr>
              <a:t>静态UPS——双变换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14600"/>
            <a:ext cx="466344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Modular or monolithic double-conversion, 500–1,600 kW per system (modules 50–250 kW), 400/415 V, efficiency 96–97% (99% eco).</a:t>
            </a:r>
            <a:endParaRPr lang="en-US" sz="11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dirty="0">
                <a:solidFill>
                  <a:schemeClr val="accent1"/>
                </a:solidFill>
              </a:rPr>
              <a:t>模块化或塔式双变换，单系统500–1,600 kW（模块50–250 kW），400/415 V，效率96–97%（ECO模式99%）。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520440"/>
            <a:ext cx="4800600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Double conversion isolates IT from every grid disturbance (VFI-SS-111).</a:t>
            </a:r>
            <a:endParaRPr lang="en-US" sz="1150" dirty="0"/>
          </a:p>
          <a:p>
            <a:pPr marL="177800" indent="-177800">
              <a:lnSpc>
                <a:spcPct val="95000"/>
              </a:lnSpc>
              <a:spcAft>
                <a:spcPts val="500"/>
              </a:spcAft>
              <a:buSzPct val="100000"/>
              <a:buChar char=" "/>
            </a:pPr>
            <a:r>
              <a:rPr lang="en-US" sz="1050" dirty="0">
                <a:solidFill>
                  <a:schemeClr val="accent1"/>
                </a:solidFill>
              </a:rPr>
              <a:t>双变换将IT与电网扰动完全隔离（VFI-SS-111）。</a:t>
            </a:r>
            <a:endParaRPr lang="en-US" sz="11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Eco-mode raises efficiency to ≈ 99% but with less isolation.</a:t>
            </a:r>
            <a:endParaRPr lang="en-US" sz="1150" dirty="0"/>
          </a:p>
          <a:p>
            <a:pPr marL="177800" indent="-177800">
              <a:lnSpc>
                <a:spcPct val="95000"/>
              </a:lnSpc>
              <a:spcAft>
                <a:spcPts val="500"/>
              </a:spcAft>
              <a:buSzPct val="100000"/>
              <a:buChar char=" "/>
            </a:pPr>
            <a:r>
              <a:rPr lang="en-US" sz="1050" dirty="0">
                <a:solidFill>
                  <a:schemeClr val="accent1"/>
                </a:solidFill>
              </a:rPr>
              <a:t>ECO模式效率约99%，但隔离程度降低。</a:t>
            </a:r>
            <a:endParaRPr lang="en-US" sz="11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Rotary / DRUPS (flywheel + diesel) is an alternative with no batteries.</a:t>
            </a:r>
            <a:endParaRPr lang="en-US" sz="1150" dirty="0"/>
          </a:p>
          <a:p>
            <a:pPr marL="177800" indent="-177800">
              <a:lnSpc>
                <a:spcPct val="95000"/>
              </a:lnSpc>
              <a:spcAft>
                <a:spcPts val="500"/>
              </a:spcAft>
              <a:buSzPct val="100000"/>
              <a:buChar char=" "/>
            </a:pPr>
            <a:r>
              <a:rPr lang="en-US" sz="1050" dirty="0">
                <a:solidFill>
                  <a:schemeClr val="accent1"/>
                </a:solidFill>
              </a:rPr>
              <a:t>旋转式/柴油动态UPS（飞轮+柴油机）是无电池的替代方案。</a:t>
            </a:r>
            <a:endParaRPr lang="en-US" sz="11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Modular frames let capacity grow in 50–250 kW steps.</a:t>
            </a:r>
            <a:endParaRPr lang="en-US" sz="1150" dirty="0"/>
          </a:p>
          <a:p>
            <a:pPr marL="177800" indent="-177800">
              <a:lnSpc>
                <a:spcPct val="95000"/>
              </a:lnSpc>
              <a:spcAft>
                <a:spcPts val="500"/>
              </a:spcAft>
              <a:buSzPct val="100000"/>
              <a:buChar char=" "/>
            </a:pPr>
            <a:r>
              <a:rPr lang="en-US" sz="1050" dirty="0">
                <a:solidFill>
                  <a:schemeClr val="accent1"/>
                </a:solidFill>
              </a:rPr>
              <a:t>模块化机架可按50–250 kW逐步扩容。</a:t>
            </a:r>
            <a:endParaRPr lang="en-US" sz="11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508760"/>
          <a:ext cx="574243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728216"/>
                <a:gridCol w="2093976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Battery comparison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电池对比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VRLA lead-acid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阀控铅酸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Li-ion (LFP)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锂电（磷酸铁锂）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Design life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设计寿命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 – 10 yrs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12 – 15 yrs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Footprint &amp; weight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占地与重量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≈ 30–40%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Room temperature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室温要求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20–25 °C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18–30 °C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Initial cost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初投资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</a:rPr>
                        <a:t>Lower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较低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Higher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较高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Monitoring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监测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Per-block (optional)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按单体（可选）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Built-in BMS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内置BMS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Fire risk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火灾风险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Hydrogen venting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需排氢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42318"/>
                          </a:solidFill>
                        </a:rPr>
                        <a:t>Thermal runaway — NFPA 855, UL 9540A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热失控——NFPA 855、UL 9540A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Getting power to the rack — and sizing the plant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电力送达机柜——以及设备容量估算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03504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55648"/>
            <a:ext cx="566928" cy="566928"/>
          </a:xfrm>
          <a:prstGeom prst="ellipse">
            <a:avLst/>
          </a:prstGeom>
          <a:solidFill>
            <a:srgbClr val="3F3CB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83" y="1891711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81912"/>
            <a:ext cx="1600200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Floor PDU / RPP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落地PDU / RPP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108960" y="1581912"/>
            <a:ext cx="3383280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B1D3A"/>
                </a:solidFill>
              </a:rPr>
              <a:t>150–400 kVA cabinets with branch breakers; under-floor or overhead cables. Best ≤ 10 kW/rack.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150–400 kVA配电柜带分支断路器；地板下或上走线电缆。适合≤10 kW/柜。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715768"/>
            <a:ext cx="603504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962656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83" y="3098719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788920"/>
            <a:ext cx="1600200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Overhead busway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上走线插接母线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108960" y="2788920"/>
            <a:ext cx="3383280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B1D3A"/>
                </a:solidFill>
              </a:rPr>
              <a:t>400–800 A plug-in busbar per row, A + B; tap-off boxes per rack. Flexible for growth.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每列400–800 A插接母线，A+B双路；每柜插接箱。便于扩展。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922776"/>
            <a:ext cx="603504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4169664"/>
            <a:ext cx="566928" cy="566928"/>
          </a:xfrm>
          <a:prstGeom prst="ellipse">
            <a:avLst/>
          </a:prstGeom>
          <a:solidFill>
            <a:srgbClr val="0EA5C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583" y="4305727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995928"/>
            <a:ext cx="1600200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Rack PDU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机架PDU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3108960" y="3995928"/>
            <a:ext cx="3383280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B1D3A"/>
                </a:solidFill>
              </a:rPr>
              <a:t>1-ph 32 A (7.4 kW) · 3-ph 32 A (22 kW) · 3-ph 63 A (43 kW); two per rack (A/B).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单相32 A（7.4 kW）·三相32 A（22 kW）·三相63 A（43 kW）；每柜两条（A/B）。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812280" y="1508760"/>
            <a:ext cx="4828032" cy="4754880"/>
          </a:xfrm>
          <a:prstGeom prst="roundRect">
            <a:avLst>
              <a:gd name="adj" fmla="val 1538"/>
            </a:avLst>
          </a:prstGeom>
          <a:solidFill>
            <a:srgbClr val="17153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040880" y="1645920"/>
            <a:ext cx="4389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Quick sizing rules</a:t>
            </a:r>
            <a:endParaRPr lang="en-US" sz="16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BDEFFA"/>
                </a:solidFill>
              </a:rPr>
              <a:t>快速估算规则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995160" y="2331720"/>
            <a:ext cx="4526280" cy="3840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Facility demand ≈ IT × design-day PUE (+ battery recharge)</a:t>
            </a:r>
            <a:endParaRPr lang="en-US" sz="1200" dirty="0"/>
          </a:p>
          <a:p>
            <a:pPr marL="177800" indent="-177800">
              <a:lnSpc>
                <a:spcPct val="95000"/>
              </a:lnSpc>
              <a:spcAft>
                <a:spcPts val="600"/>
              </a:spcAft>
              <a:buSzPct val="100000"/>
              <a:buChar char=" "/>
            </a:pPr>
            <a:r>
              <a:rPr lang="en-US" sz="1100" dirty="0">
                <a:solidFill>
                  <a:srgbClr val="BDEFFA"/>
                </a:solidFill>
              </a:rPr>
              <a:t>设施需量 ≈ IT × 设计日PUE（+电池充电）</a:t>
            </a:r>
            <a:endParaRPr lang="en-US" sz="12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Utility MVA ≈ facility kW ÷ 0.95</a:t>
            </a:r>
            <a:endParaRPr lang="en-US" sz="1200" dirty="0"/>
          </a:p>
          <a:p>
            <a:pPr marL="177800" indent="-177800">
              <a:lnSpc>
                <a:spcPct val="95000"/>
              </a:lnSpc>
              <a:spcAft>
                <a:spcPts val="600"/>
              </a:spcAft>
              <a:buSzPct val="100000"/>
              <a:buChar char=" "/>
            </a:pPr>
            <a:r>
              <a:rPr lang="en-US" sz="1100" dirty="0">
                <a:solidFill>
                  <a:srgbClr val="BDEFFA"/>
                </a:solidFill>
              </a:rPr>
              <a:t>市电MVA ≈ 设施kW ÷ 0.95</a:t>
            </a:r>
            <a:endParaRPr lang="en-US" sz="12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Transformers: one 2,500 kVA per ≈ 2 MW facility load</a:t>
            </a:r>
            <a:endParaRPr lang="en-US" sz="1200" dirty="0"/>
          </a:p>
          <a:p>
            <a:pPr marL="177800" indent="-177800">
              <a:lnSpc>
                <a:spcPct val="95000"/>
              </a:lnSpc>
              <a:spcAft>
                <a:spcPts val="600"/>
              </a:spcAft>
              <a:buSzPct val="100000"/>
              <a:buChar char=" "/>
            </a:pPr>
            <a:r>
              <a:rPr lang="en-US" sz="1100" dirty="0">
                <a:solidFill>
                  <a:srgbClr val="BDEFFA"/>
                </a:solidFill>
              </a:rPr>
              <a:t>变压器：每约2 MW设施负荷配一台2,500 kVA</a:t>
            </a:r>
            <a:endParaRPr lang="en-US" sz="12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Generators: (facility kW ÷ unit kW) + redundancy</a:t>
            </a:r>
            <a:endParaRPr lang="en-US" sz="1200" dirty="0"/>
          </a:p>
          <a:p>
            <a:pPr marL="177800" indent="-177800">
              <a:lnSpc>
                <a:spcPct val="95000"/>
              </a:lnSpc>
              <a:spcAft>
                <a:spcPts val="600"/>
              </a:spcAft>
              <a:buSzPct val="100000"/>
              <a:buChar char=" "/>
            </a:pPr>
            <a:r>
              <a:rPr lang="en-US" sz="1100" dirty="0">
                <a:solidFill>
                  <a:srgbClr val="BDEFFA"/>
                </a:solidFill>
              </a:rPr>
              <a:t>发电机：（设施kW÷单机kW）+冗余</a:t>
            </a:r>
            <a:endParaRPr lang="en-US" sz="12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Diesel ≈ 0.27 L per kWh — 10 MW for 24 h ≈ 65 m³</a:t>
            </a:r>
            <a:endParaRPr lang="en-US" sz="1200" dirty="0"/>
          </a:p>
          <a:p>
            <a:pPr marL="177800" indent="-177800">
              <a:lnSpc>
                <a:spcPct val="95000"/>
              </a:lnSpc>
              <a:spcAft>
                <a:spcPts val="600"/>
              </a:spcAft>
              <a:buSzPct val="100000"/>
              <a:buChar char=" "/>
            </a:pPr>
            <a:r>
              <a:rPr lang="en-US" sz="1100" dirty="0">
                <a:solidFill>
                  <a:srgbClr val="BDEFFA"/>
                </a:solidFill>
              </a:rPr>
              <a:t>柴油约0.27 L/kWh——10 MW运行24 h约65 m³</a:t>
            </a:r>
            <a:endParaRPr lang="en-US" sz="12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Battery kWh ≈ UPS kW × minutes ÷ 60 × 1.3</a:t>
            </a:r>
            <a:endParaRPr lang="en-US" sz="1200" dirty="0"/>
          </a:p>
          <a:p>
            <a:pPr marL="177800" indent="-177800">
              <a:lnSpc>
                <a:spcPct val="95000"/>
              </a:lnSpc>
              <a:spcAft>
                <a:spcPts val="600"/>
              </a:spcAft>
              <a:buSzPct val="100000"/>
              <a:buChar char=" "/>
            </a:pPr>
            <a:r>
              <a:rPr lang="en-US" sz="1100" dirty="0">
                <a:solidFill>
                  <a:srgbClr val="BDEFFA"/>
                </a:solidFill>
              </a:rPr>
              <a:t>电池kWh ≈ UPS kW × 分钟数 ÷ 60 × 1.3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166360"/>
            <a:ext cx="60350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B6F8A"/>
                </a:solidFill>
              </a:rPr>
              <a:t>Earthing ≤ 1 Ω with mesh bonding, LPL I/II lightning protection and coordinated SPDs complete the electrical system.</a:t>
            </a:r>
            <a:endParaRPr lang="en-US" sz="11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dirty="0">
                <a:solidFill>
                  <a:schemeClr val="accent1"/>
                </a:solidFill>
              </a:rPr>
              <a:t>接地≤1 Ω并网状等电位联结，I/II级防雷及多级SPD配合，构成完整电气系统。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223760" y="822960"/>
            <a:ext cx="4937760" cy="4937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2344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0EA5C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9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7889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Mechanical &amp; Cooling Systems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8404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BDEFFA"/>
                </a:solidFill>
              </a:rPr>
              <a:t>暖通与制冷系统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663440"/>
            <a:ext cx="65836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D6D8F5"/>
                </a:solidFill>
              </a:rPr>
              <a:t>Every watt of IT becomes heat — cooling is the largest non-IT energy user.</a:t>
            </a:r>
            <a:endParaRPr lang="en-US" sz="14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BDEFFA"/>
                </a:solidFill>
              </a:rPr>
              <a:t>IT的每一瓦都变成热量——制冷是最大的非IT能耗。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A3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Following the heat: from chip to atmosphere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热量路径：从芯片到大气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777240" cy="777240"/>
          </a:xfrm>
          <a:prstGeom prst="ellipse">
            <a:avLst/>
          </a:prstGeom>
          <a:solidFill>
            <a:srgbClr val="F054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01533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2697480"/>
            <a:ext cx="15087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Chip &amp; server</a:t>
            </a:r>
            <a:endParaRPr lang="en-US" sz="12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芯片与服务器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3310128"/>
            <a:ext cx="15087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F8A"/>
                </a:solidFill>
              </a:rPr>
              <a:t>IT power → heat</a:t>
            </a:r>
            <a:endParaRPr lang="en-US" sz="105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IT电力→热量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687068" y="2217420"/>
            <a:ext cx="731520" cy="91"/>
          </a:xfrm>
          <a:prstGeom prst="line">
            <a:avLst/>
          </a:prstGeom>
          <a:noFill/>
          <a:ln w="22225">
            <a:solidFill>
              <a:srgbClr val="1B1D3A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459736" y="1828800"/>
            <a:ext cx="777240" cy="777240"/>
          </a:xfrm>
          <a:prstGeom prst="ellipse">
            <a:avLst/>
          </a:prstGeom>
          <a:solidFill>
            <a:srgbClr val="F0544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274" y="201533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93976" y="2697480"/>
            <a:ext cx="15087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Hot aisle</a:t>
            </a:r>
            <a:endParaRPr lang="en-US" sz="12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热通道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093976" y="3310128"/>
            <a:ext cx="15087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F8A"/>
                </a:solidFill>
              </a:rPr>
              <a:t>35–45 °C air</a:t>
            </a:r>
            <a:endParaRPr lang="en-US" sz="105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35–45 °C空气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278124" y="2217420"/>
            <a:ext cx="731520" cy="91"/>
          </a:xfrm>
          <a:prstGeom prst="line">
            <a:avLst/>
          </a:prstGeom>
          <a:noFill/>
          <a:ln w="22225">
            <a:solidFill>
              <a:srgbClr val="1B1D3A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050792" y="1828800"/>
            <a:ext cx="777240" cy="7772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330" y="2015338"/>
            <a:ext cx="404165" cy="40416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85032" y="2697480"/>
            <a:ext cx="15087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CRAH / fan wall</a:t>
            </a:r>
            <a:endParaRPr lang="en-US" sz="12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精密空调/风墙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685032" y="3310128"/>
            <a:ext cx="15087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F8A"/>
                </a:solidFill>
              </a:rPr>
              <a:t>Coil 18/26 °C</a:t>
            </a:r>
            <a:endParaRPr lang="en-US" sz="105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盘管18/26 °C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869180" y="2217420"/>
            <a:ext cx="731520" cy="91"/>
          </a:xfrm>
          <a:prstGeom prst="line">
            <a:avLst/>
          </a:prstGeom>
          <a:noFill/>
          <a:ln w="22225">
            <a:solidFill>
              <a:srgbClr val="1B1D3A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641848" y="1828800"/>
            <a:ext cx="777240" cy="777240"/>
          </a:xfrm>
          <a:prstGeom prst="ellipse">
            <a:avLst/>
          </a:prstGeom>
          <a:solidFill>
            <a:srgbClr val="0EA5C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8386" y="2015338"/>
            <a:ext cx="404165" cy="40416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276088" y="2697480"/>
            <a:ext cx="15087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Chilled water</a:t>
            </a:r>
            <a:endParaRPr lang="en-US" sz="12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冷冻水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276088" y="3310128"/>
            <a:ext cx="15087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F8A"/>
                </a:solidFill>
              </a:rPr>
              <a:t>18 °C supply</a:t>
            </a:r>
            <a:endParaRPr lang="en-US" sz="105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18 °C供水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460236" y="2217420"/>
            <a:ext cx="731520" cy="91"/>
          </a:xfrm>
          <a:prstGeom prst="line">
            <a:avLst/>
          </a:prstGeom>
          <a:noFill/>
          <a:ln w="22225">
            <a:solidFill>
              <a:srgbClr val="1B1D3A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232904" y="1828800"/>
            <a:ext cx="777240" cy="777240"/>
          </a:xfrm>
          <a:prstGeom prst="ellipse">
            <a:avLst/>
          </a:prstGeom>
          <a:solidFill>
            <a:srgbClr val="0EA5C6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9442" y="2015338"/>
            <a:ext cx="404165" cy="40416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867144" y="2697480"/>
            <a:ext cx="15087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Chiller</a:t>
            </a:r>
            <a:endParaRPr lang="en-US" sz="12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冷水机组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6867144" y="3310128"/>
            <a:ext cx="15087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F8A"/>
                </a:solidFill>
              </a:rPr>
              <a:t>COP 6–7</a:t>
            </a:r>
            <a:endParaRPr lang="en-US" sz="105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COP 6–7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8051292" y="2217420"/>
            <a:ext cx="731520" cy="91"/>
          </a:xfrm>
          <a:prstGeom prst="line">
            <a:avLst/>
          </a:prstGeom>
          <a:noFill/>
          <a:ln w="22225">
            <a:solidFill>
              <a:srgbClr val="1B1D3A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8823960" y="1828800"/>
            <a:ext cx="777240" cy="777240"/>
          </a:xfrm>
          <a:prstGeom prst="ellipse">
            <a:avLst/>
          </a:prstGeom>
          <a:solidFill>
            <a:srgbClr val="3F3CBB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0498" y="2015338"/>
            <a:ext cx="404165" cy="40416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458200" y="2697480"/>
            <a:ext cx="15087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Condenser water</a:t>
            </a:r>
            <a:endParaRPr lang="en-US" sz="12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冷却水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8458200" y="3310128"/>
            <a:ext cx="15087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F8A"/>
                </a:solidFill>
              </a:rPr>
              <a:t>32 / 37 °C</a:t>
            </a:r>
            <a:endParaRPr lang="en-US" sz="105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32 / 37 °C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9642348" y="2217420"/>
            <a:ext cx="731520" cy="91"/>
          </a:xfrm>
          <a:prstGeom prst="line">
            <a:avLst/>
          </a:prstGeom>
          <a:noFill/>
          <a:ln w="22225">
            <a:solidFill>
              <a:srgbClr val="1B1D3A"/>
            </a:solidFill>
            <a:prstDash val="solid"/>
            <a:tailEnd type="triangle"/>
          </a:ln>
        </p:spPr>
      </p:sp>
      <p:sp>
        <p:nvSpPr>
          <p:cNvPr id="34" name="Shape 26"/>
          <p:cNvSpPr/>
          <p:nvPr/>
        </p:nvSpPr>
        <p:spPr>
          <a:xfrm>
            <a:off x="10415016" y="1828800"/>
            <a:ext cx="777240" cy="777240"/>
          </a:xfrm>
          <a:prstGeom prst="ellipse">
            <a:avLst/>
          </a:prstGeom>
          <a:solidFill>
            <a:srgbClr val="3F3CBB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1554" y="2015338"/>
            <a:ext cx="404165" cy="40416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0049256" y="2697480"/>
            <a:ext cx="15087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Cooling tower</a:t>
            </a:r>
            <a:endParaRPr lang="en-US" sz="12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冷却塔</a:t>
            </a:r>
            <a:endParaRPr lang="en-US" sz="1200" dirty="0"/>
          </a:p>
        </p:txBody>
      </p:sp>
      <p:sp>
        <p:nvSpPr>
          <p:cNvPr id="37" name="Text 28"/>
          <p:cNvSpPr txBox="1"/>
          <p:nvPr/>
        </p:nvSpPr>
        <p:spPr>
          <a:xfrm>
            <a:off x="10049256" y="3310128"/>
            <a:ext cx="15087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F8A"/>
                </a:solidFill>
              </a:rPr>
              <a:t>Evaporation</a:t>
            </a:r>
            <a:endParaRPr lang="en-US" sz="105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蒸发散热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548640" y="4160520"/>
            <a:ext cx="11094415" cy="2057400"/>
          </a:xfrm>
          <a:prstGeom prst="roundRect">
            <a:avLst>
              <a:gd name="adj" fmla="val 3556"/>
            </a:avLst>
          </a:prstGeom>
          <a:solidFill>
            <a:srgbClr val="F1F2FA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39" name="Text 30"/>
          <p:cNvSpPr txBox="1"/>
          <p:nvPr/>
        </p:nvSpPr>
        <p:spPr>
          <a:xfrm>
            <a:off x="731520" y="4297680"/>
            <a:ext cx="10728655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Raising supply temperatures (ASHRAE 18–27 °C inlet, 18–20 °C chilled water) saves chiller energy and unlocks free cooling.</a:t>
            </a:r>
            <a:endParaRPr lang="en-US" sz="1250" dirty="0"/>
          </a:p>
          <a:p>
            <a:pPr marL="177800" indent="-177800">
              <a:lnSpc>
                <a:spcPct val="95000"/>
              </a:lnSpc>
              <a:spcAft>
                <a:spcPts val="500"/>
              </a:spcAft>
              <a:buSzPct val="100000"/>
              <a:buChar char=" "/>
            </a:pPr>
            <a:r>
              <a:rPr lang="en-US" sz="1150" dirty="0">
                <a:solidFill>
                  <a:schemeClr val="accent1"/>
                </a:solidFill>
              </a:rPr>
              <a:t>提高送风/供水温度（ASHRAE进风18–27 °C、冷冻水18–20 °C）可节省冷机能耗并实现自然冷却。</a:t>
            </a:r>
            <a:endParaRPr lang="en-US" sz="12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In tropical climates (wet-bulb ≈ 28 °C) free cooling is rare — efficient water-cooled chillers or liquid cooling matter most.</a:t>
            </a:r>
            <a:endParaRPr lang="en-US" sz="1250" dirty="0"/>
          </a:p>
          <a:p>
            <a:pPr marL="177800" indent="-177800">
              <a:lnSpc>
                <a:spcPct val="95000"/>
              </a:lnSpc>
              <a:spcAft>
                <a:spcPts val="500"/>
              </a:spcAft>
              <a:buSzPct val="100000"/>
              <a:buChar char=" "/>
            </a:pPr>
            <a:r>
              <a:rPr lang="en-US" sz="1150" dirty="0">
                <a:solidFill>
                  <a:schemeClr val="accent1"/>
                </a:solidFill>
              </a:rPr>
              <a:t>热带气候（湿球约28 °C）几乎无自然冷却——高效水冷冷机或液冷最为关键。</a:t>
            </a:r>
            <a:endParaRPr lang="en-US" sz="12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Air-cooled chillers or dry coolers avoid evaporative water use where water is scarce.</a:t>
            </a:r>
            <a:endParaRPr lang="en-US" sz="1250" dirty="0"/>
          </a:p>
          <a:p>
            <a:pPr marL="177800" indent="-177800">
              <a:lnSpc>
                <a:spcPct val="95000"/>
              </a:lnSpc>
              <a:spcAft>
                <a:spcPts val="500"/>
              </a:spcAft>
              <a:buSzPct val="100000"/>
              <a:buChar char=" "/>
            </a:pPr>
            <a:r>
              <a:rPr lang="en-US" sz="1150" dirty="0">
                <a:solidFill>
                  <a:schemeClr val="accent1"/>
                </a:solidFill>
              </a:rPr>
              <a:t>缺水地区可采用风冷冷机或干冷器以避免蒸发耗水。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Choosing cooling by rack density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按机柜密度选择制冷方式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840480" y="1600200"/>
            <a:ext cx="0" cy="3886200"/>
          </a:xfrm>
          <a:prstGeom prst="line">
            <a:avLst/>
          </a:prstGeom>
          <a:noFill/>
          <a:ln w="12700">
            <a:solidFill>
              <a:srgbClr val="E1E3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566160" y="55046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A"/>
                </a:solidFill>
              </a:rPr>
              <a:t>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120640" y="1600200"/>
            <a:ext cx="0" cy="3886200"/>
          </a:xfrm>
          <a:prstGeom prst="line">
            <a:avLst/>
          </a:prstGeom>
          <a:noFill/>
          <a:ln w="12700">
            <a:solidFill>
              <a:srgbClr val="E1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55046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A"/>
                </a:solidFill>
              </a:rPr>
              <a:t>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0" cy="3886200"/>
          </a:xfrm>
          <a:prstGeom prst="line">
            <a:avLst/>
          </a:prstGeom>
          <a:noFill/>
          <a:ln w="12700">
            <a:solidFill>
              <a:srgbClr val="E1E3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26480" y="55046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A"/>
                </a:solidFill>
              </a:rPr>
              <a:t>50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80960" y="1600200"/>
            <a:ext cx="0" cy="3886200"/>
          </a:xfrm>
          <a:prstGeom prst="line">
            <a:avLst/>
          </a:prstGeom>
          <a:noFill/>
          <a:ln w="12700">
            <a:solidFill>
              <a:srgbClr val="E1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0" y="55046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A"/>
                </a:solidFill>
              </a:rPr>
              <a:t>75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961120" y="1600200"/>
            <a:ext cx="0" cy="3886200"/>
          </a:xfrm>
          <a:prstGeom prst="line">
            <a:avLst/>
          </a:prstGeom>
          <a:noFill/>
          <a:ln w="12700">
            <a:solidFill>
              <a:srgbClr val="E1E3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0" y="55046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A"/>
                </a:solidFill>
              </a:rPr>
              <a:t>100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241280" y="1600200"/>
            <a:ext cx="0" cy="3886200"/>
          </a:xfrm>
          <a:prstGeom prst="line">
            <a:avLst/>
          </a:prstGeom>
          <a:noFill/>
          <a:ln w="12700">
            <a:solidFill>
              <a:srgbClr val="E1E3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966960" y="55046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A"/>
                </a:solidFill>
              </a:rPr>
              <a:t>125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521440" y="1600200"/>
            <a:ext cx="0" cy="3886200"/>
          </a:xfrm>
          <a:prstGeom prst="line">
            <a:avLst/>
          </a:prstGeom>
          <a:noFill/>
          <a:ln w="12700">
            <a:solidFill>
              <a:srgbClr val="E1E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55046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A"/>
                </a:solidFill>
              </a:rPr>
              <a:t>150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5760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A"/>
                </a:solidFill>
              </a:rPr>
              <a:t>kW per rack  每柜千瓦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1655064"/>
            <a:ext cx="32004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chemeClr val="tx1"/>
                </a:solidFill>
              </a:rPr>
              <a:t>DX precision AC (CRAC)</a:t>
            </a:r>
            <a:endParaRPr lang="en-US" sz="11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b="1" dirty="0">
                <a:solidFill>
                  <a:schemeClr val="accent1"/>
                </a:solidFill>
              </a:rPr>
              <a:t>直膨式精密空调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994099" y="1764792"/>
            <a:ext cx="358445" cy="384048"/>
          </a:xfrm>
          <a:prstGeom prst="roundRect">
            <a:avLst>
              <a:gd name="adj" fmla="val 53571"/>
            </a:avLst>
          </a:prstGeom>
          <a:solidFill>
            <a:srgbClr val="6B6F8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25696" y="17647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D3A"/>
                </a:solidFill>
              </a:rPr>
              <a:t>3–10 kW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276856"/>
            <a:ext cx="32004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chemeClr val="tx1"/>
                </a:solidFill>
              </a:rPr>
              <a:t>CRAH / fan wall + containment</a:t>
            </a:r>
            <a:endParaRPr lang="en-US" sz="11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b="1" dirty="0">
                <a:solidFill>
                  <a:schemeClr val="accent1"/>
                </a:solidFill>
              </a:rPr>
              <a:t>冷冻水精密空调/风墙+封闭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096512" y="2386584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3F3CB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096512" y="238658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5–25 kW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2898648"/>
            <a:ext cx="32004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chemeClr val="tx1"/>
                </a:solidFill>
              </a:rPr>
              <a:t>In-row cooling</a:t>
            </a:r>
            <a:endParaRPr lang="en-US" sz="11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b="1" dirty="0">
                <a:solidFill>
                  <a:schemeClr val="accent1"/>
                </a:solidFill>
              </a:rPr>
              <a:t>列间空调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08576" y="3008376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608576" y="30083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15–40 kW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520440"/>
            <a:ext cx="32004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chemeClr val="tx1"/>
                </a:solidFill>
              </a:rPr>
              <a:t>Rear-door heat exchanger</a:t>
            </a:r>
            <a:endParaRPr lang="en-US" sz="11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b="1" dirty="0">
                <a:solidFill>
                  <a:schemeClr val="accent1"/>
                </a:solidFill>
              </a:rPr>
              <a:t>背板热交换器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64608" y="3630168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0EA5C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64608" y="3630168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20–75 kW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142232"/>
            <a:ext cx="32004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chemeClr val="tx1"/>
                </a:solidFill>
              </a:rPr>
              <a:t>Direct-to-chip liquid (cold plate)</a:t>
            </a:r>
            <a:endParaRPr lang="en-US" sz="11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b="1" dirty="0">
                <a:solidFill>
                  <a:schemeClr val="accent1"/>
                </a:solidFill>
              </a:rPr>
              <a:t>冷板式液冷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888736" y="4251960"/>
            <a:ext cx="5632704" cy="384048"/>
          </a:xfrm>
          <a:prstGeom prst="roundRect">
            <a:avLst>
              <a:gd name="adj" fmla="val 50000"/>
            </a:avLst>
          </a:prstGeom>
          <a:solidFill>
            <a:srgbClr val="F054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888736" y="4251960"/>
            <a:ext cx="5632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40–150+ kW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764024"/>
            <a:ext cx="32004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chemeClr val="tx1"/>
                </a:solidFill>
              </a:rPr>
              <a:t>Immersion cooling</a:t>
            </a:r>
            <a:endParaRPr lang="en-US" sz="11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b="1" dirty="0">
                <a:solidFill>
                  <a:schemeClr val="accent1"/>
                </a:solidFill>
              </a:rPr>
              <a:t>浸没式液冷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0" y="4873752"/>
            <a:ext cx="5120640" cy="38404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00800" y="487375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50–150+ kW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88736" y="1600200"/>
            <a:ext cx="5632704" cy="3886200"/>
          </a:xfrm>
          <a:prstGeom prst="rect">
            <a:avLst/>
          </a:prstGeom>
          <a:solidFill>
            <a:srgbClr val="F0544F">
              <a:alpha val="8000"/>
            </a:srgbClr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888736" y="1325880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2318"/>
                </a:solidFill>
              </a:rPr>
              <a:t>AI / GPU zone  AI/GPU区间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B1D3A"/>
                </a:solidFill>
              </a:rPr>
              <a:t>Ranges are practical design envelopes; hybrid designs combine liquid for GPUs with air for the residual 10–25% of heat.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范围为实际设计区间；混合方案以液冷处理GPU热量，以风冷处理剩余10–25%热量。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Central cooling plant &amp; heat rejection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中央冷站与散热设备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9928"/>
            <a:ext cx="548640" cy="548640"/>
          </a:xfrm>
          <a:prstGeom prst="ellipse">
            <a:avLst/>
          </a:prstGeom>
          <a:solidFill>
            <a:srgbClr val="0EA5C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1841602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18488"/>
            <a:ext cx="43434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Water-Cooled Centrifugal Chiller (Oil-Free Magnetic Bearing)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水冷离心式冷水机组（无油磁悬浮）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04872"/>
            <a:ext cx="50292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B1D3A"/>
                </a:solidFill>
              </a:rPr>
              <a:t>Produces chilled water for CRAHs/fan walls by rejecting heat to condenser water and cooling towers. Highest efficiency option for large plants in hot-humid climates.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为精密空调/风墙制取冷冻水，并通过冷却水和冷却塔排热。是湿热地区大型冷站效率最高的方案。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46120"/>
            <a:ext cx="5029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A5C6"/>
                </a:solidFill>
              </a:rPr>
              <a:t>500 – 1,500 RT (1.75 – 5.3 MW) per unit; elevated chilled water 16–20 °C supply for data centres; N+1 or 2N.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153912" y="150876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55080" y="1709928"/>
            <a:ext cx="548640" cy="548640"/>
          </a:xfrm>
          <a:prstGeom prst="ellipse">
            <a:avLst/>
          </a:prstGeom>
          <a:solidFill>
            <a:srgbClr val="3F3CB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754" y="1841602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68312" y="1618488"/>
            <a:ext cx="43434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Air-Cooled Chiller with Integrated Free Cooling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风冷冷水机组（带集成自然冷却）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6382512" y="2404872"/>
            <a:ext cx="50292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B1D3A"/>
                </a:solidFill>
              </a:rPr>
              <a:t>Produces chilled water rejecting heat directly to air (no cooling tower, no evaporative water). Integrated free-cooling coils use cool ambient air when available.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直接向空气排热制取冷冻水（无冷却塔、无蒸发耗水）；环境温度低时由集成自然冷却盘管利用室外冷空气。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6382512" y="3246120"/>
            <a:ext cx="5029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A5C6"/>
                </a:solidFill>
              </a:rPr>
              <a:t>300 – 2,000 kW per unit; screw or centrifugal compressor; roof or yard mounted.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904488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49808" y="4105656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4237330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63040" y="4014216"/>
            <a:ext cx="43434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Cooling Tower (Induced-Draft)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冷却塔（机械引风式）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4800600"/>
            <a:ext cx="50292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B1D3A"/>
                </a:solidFill>
              </a:rPr>
              <a:t>Rejects condenser heat to atmosphere by evaporation; the main consumer of water in a water-cooled plant.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通过蒸发将冷凝热排至大气；是水冷冷站的主要耗水设备。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777240" y="5641848"/>
            <a:ext cx="5029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A5C6"/>
                </a:solidFill>
              </a:rPr>
              <a:t>Modular FRP/steel cells 1,000–2,500 RT each; design wet-bulb 28 °C (tropical), approach 3–4 K.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153912" y="3904488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55080" y="4105656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754" y="4237330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068312" y="4014216"/>
            <a:ext cx="43434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Thermal Energy Storage (Chilled-Water Buffer Tank)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蓄冷罐（冷冻水缓冲罐）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6382512" y="4800600"/>
            <a:ext cx="50292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B1D3A"/>
                </a:solidFill>
              </a:rPr>
              <a:t>Provides continuous cooling during chiller restart after a power interruption (ride-through) and stabilises the plant.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在断电后冷机重启期间提供连续制冷（穿越），并稳定冷站运行。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6382512" y="5641848"/>
            <a:ext cx="5029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A5C6"/>
                </a:solidFill>
              </a:rPr>
              <a:t>Stratified steel tank sized for 10–15 min of full cooling load.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Liquid cooling for AI: the CDU and two loops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AI液冷：CDU与两个环路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011680" cy="1097280"/>
          </a:xfrm>
          <a:prstGeom prst="roundRect">
            <a:avLst>
              <a:gd name="adj" fmla="val 5833"/>
            </a:avLst>
          </a:prstGeom>
          <a:solidFill>
            <a:srgbClr val="3F3CBB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682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42416" y="2011680"/>
            <a:ext cx="1481328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Heat rejection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BDEFFA"/>
                </a:solidFill>
              </a:rPr>
              <a:t>散热设备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154680"/>
            <a:ext cx="2011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B6F8A"/>
                </a:solidFill>
              </a:rPr>
              <a:t>Dry coolers / towers</a:t>
            </a:r>
            <a:endParaRPr lang="en-US" sz="10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干冷器 / 冷却塔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91840" y="2011680"/>
            <a:ext cx="2194560" cy="1097280"/>
          </a:xfrm>
          <a:prstGeom prst="roundRect">
            <a:avLst>
              <a:gd name="adj" fmla="val 5833"/>
            </a:avLst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36829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785616" y="2011680"/>
            <a:ext cx="1664208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CDU</a:t>
            </a:r>
            <a:endParaRPr lang="en-US" sz="14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BDEFFA"/>
                </a:solidFill>
              </a:rPr>
              <a:t>冷量分配单元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3291840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B6F8A"/>
                </a:solidFill>
              </a:rPr>
              <a:t>Heat exchanger, pumps N+1, filters</a:t>
            </a:r>
            <a:endParaRPr lang="en-US" sz="10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换热器、N+1水泵、过滤器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766560" y="1600200"/>
            <a:ext cx="1554480" cy="3291840"/>
          </a:xfrm>
          <a:prstGeom prst="roundRect">
            <a:avLst>
              <a:gd name="adj" fmla="val 2941"/>
            </a:avLst>
          </a:prstGeom>
          <a:solidFill>
            <a:srgbClr val="17153F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903720" y="1783080"/>
            <a:ext cx="1280160" cy="329184"/>
          </a:xfrm>
          <a:prstGeom prst="rect">
            <a:avLst/>
          </a:prstGeom>
          <a:solidFill>
            <a:srgbClr val="2E2F66"/>
          </a:solidFill>
          <a:ln w="6350">
            <a:solidFill>
              <a:srgbClr val="4B4C8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60920" y="1856232"/>
            <a:ext cx="365760" cy="182880"/>
          </a:xfrm>
          <a:prstGeom prst="rect">
            <a:avLst/>
          </a:prstGeom>
          <a:solidFill>
            <a:srgbClr val="F0544F"/>
          </a:solidFill>
          <a:ln/>
        </p:spPr>
      </p:sp>
      <p:sp>
        <p:nvSpPr>
          <p:cNvPr id="15" name="Shape 11"/>
          <p:cNvSpPr/>
          <p:nvPr/>
        </p:nvSpPr>
        <p:spPr>
          <a:xfrm>
            <a:off x="6903720" y="2203704"/>
            <a:ext cx="1280160" cy="329184"/>
          </a:xfrm>
          <a:prstGeom prst="rect">
            <a:avLst/>
          </a:prstGeom>
          <a:solidFill>
            <a:srgbClr val="2E2F66"/>
          </a:solidFill>
          <a:ln w="6350">
            <a:solidFill>
              <a:srgbClr val="4B4C8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60920" y="2276856"/>
            <a:ext cx="365760" cy="182880"/>
          </a:xfrm>
          <a:prstGeom prst="rect">
            <a:avLst/>
          </a:prstGeom>
          <a:solidFill>
            <a:srgbClr val="F0544F"/>
          </a:solidFill>
          <a:ln/>
        </p:spPr>
      </p:sp>
      <p:sp>
        <p:nvSpPr>
          <p:cNvPr id="17" name="Shape 13"/>
          <p:cNvSpPr/>
          <p:nvPr/>
        </p:nvSpPr>
        <p:spPr>
          <a:xfrm>
            <a:off x="6903720" y="2624328"/>
            <a:ext cx="1280160" cy="329184"/>
          </a:xfrm>
          <a:prstGeom prst="rect">
            <a:avLst/>
          </a:prstGeom>
          <a:solidFill>
            <a:srgbClr val="2E2F66"/>
          </a:solidFill>
          <a:ln w="6350">
            <a:solidFill>
              <a:srgbClr val="4B4C8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360920" y="2697480"/>
            <a:ext cx="365760" cy="182880"/>
          </a:xfrm>
          <a:prstGeom prst="rect">
            <a:avLst/>
          </a:prstGeom>
          <a:solidFill>
            <a:srgbClr val="F0544F"/>
          </a:solidFill>
          <a:ln/>
        </p:spPr>
      </p:sp>
      <p:sp>
        <p:nvSpPr>
          <p:cNvPr id="19" name="Shape 15"/>
          <p:cNvSpPr/>
          <p:nvPr/>
        </p:nvSpPr>
        <p:spPr>
          <a:xfrm>
            <a:off x="6903720" y="3044952"/>
            <a:ext cx="1280160" cy="329184"/>
          </a:xfrm>
          <a:prstGeom prst="rect">
            <a:avLst/>
          </a:prstGeom>
          <a:solidFill>
            <a:srgbClr val="2E2F66"/>
          </a:solidFill>
          <a:ln w="6350">
            <a:solidFill>
              <a:srgbClr val="4B4C8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60920" y="3118104"/>
            <a:ext cx="365760" cy="182880"/>
          </a:xfrm>
          <a:prstGeom prst="rect">
            <a:avLst/>
          </a:prstGeom>
          <a:solidFill>
            <a:srgbClr val="F0544F"/>
          </a:solidFill>
          <a:ln/>
        </p:spPr>
      </p:sp>
      <p:sp>
        <p:nvSpPr>
          <p:cNvPr id="21" name="Shape 17"/>
          <p:cNvSpPr/>
          <p:nvPr/>
        </p:nvSpPr>
        <p:spPr>
          <a:xfrm>
            <a:off x="6903720" y="3465576"/>
            <a:ext cx="1280160" cy="329184"/>
          </a:xfrm>
          <a:prstGeom prst="rect">
            <a:avLst/>
          </a:prstGeom>
          <a:solidFill>
            <a:srgbClr val="2E2F66"/>
          </a:solidFill>
          <a:ln w="6350">
            <a:solidFill>
              <a:srgbClr val="4B4C8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360920" y="3538728"/>
            <a:ext cx="365760" cy="182880"/>
          </a:xfrm>
          <a:prstGeom prst="rect">
            <a:avLst/>
          </a:prstGeom>
          <a:solidFill>
            <a:srgbClr val="F0544F"/>
          </a:solidFill>
          <a:ln/>
        </p:spPr>
      </p:sp>
      <p:sp>
        <p:nvSpPr>
          <p:cNvPr id="23" name="Shape 19"/>
          <p:cNvSpPr/>
          <p:nvPr/>
        </p:nvSpPr>
        <p:spPr>
          <a:xfrm>
            <a:off x="6903720" y="3886200"/>
            <a:ext cx="1280160" cy="329184"/>
          </a:xfrm>
          <a:prstGeom prst="rect">
            <a:avLst/>
          </a:prstGeom>
          <a:solidFill>
            <a:srgbClr val="2E2F66"/>
          </a:solidFill>
          <a:ln w="6350">
            <a:solidFill>
              <a:srgbClr val="4B4C8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60920" y="3959352"/>
            <a:ext cx="365760" cy="182880"/>
          </a:xfrm>
          <a:prstGeom prst="rect">
            <a:avLst/>
          </a:prstGeom>
          <a:solidFill>
            <a:srgbClr val="F0544F"/>
          </a:solidFill>
          <a:ln/>
        </p:spPr>
      </p:sp>
      <p:sp>
        <p:nvSpPr>
          <p:cNvPr id="25" name="Shape 21"/>
          <p:cNvSpPr/>
          <p:nvPr/>
        </p:nvSpPr>
        <p:spPr>
          <a:xfrm>
            <a:off x="6903720" y="4306824"/>
            <a:ext cx="1280160" cy="329184"/>
          </a:xfrm>
          <a:prstGeom prst="rect">
            <a:avLst/>
          </a:prstGeom>
          <a:solidFill>
            <a:srgbClr val="2E2F66"/>
          </a:solidFill>
          <a:ln w="6350">
            <a:solidFill>
              <a:srgbClr val="4B4C8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360920" y="4379976"/>
            <a:ext cx="365760" cy="182880"/>
          </a:xfrm>
          <a:prstGeom prst="rect">
            <a:avLst/>
          </a:prstGeom>
          <a:solidFill>
            <a:srgbClr val="F0544F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583680" y="4937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D3A"/>
                </a:solidFill>
              </a:rPr>
              <a:t>GPU rack ≈ 130 kW  GPU机柜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2578608" y="2377440"/>
            <a:ext cx="694944" cy="91"/>
          </a:xfrm>
          <a:prstGeom prst="line">
            <a:avLst/>
          </a:prstGeom>
          <a:noFill/>
          <a:ln w="31750">
            <a:solidFill>
              <a:srgbClr val="0EA5C6"/>
            </a:solidFill>
            <a:prstDash val="solid"/>
            <a:tailEnd type="triangle"/>
          </a:ln>
        </p:spPr>
      </p:sp>
      <p:sp>
        <p:nvSpPr>
          <p:cNvPr id="29" name="Shape 25"/>
          <p:cNvSpPr/>
          <p:nvPr/>
        </p:nvSpPr>
        <p:spPr>
          <a:xfrm flipH="1">
            <a:off x="2578608" y="2743200"/>
            <a:ext cx="694944" cy="91"/>
          </a:xfrm>
          <a:prstGeom prst="line">
            <a:avLst/>
          </a:prstGeom>
          <a:noFill/>
          <a:ln w="31750">
            <a:solidFill>
              <a:srgbClr val="F0544F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5504688" y="2377440"/>
            <a:ext cx="1243584" cy="91"/>
          </a:xfrm>
          <a:prstGeom prst="line">
            <a:avLst/>
          </a:prstGeom>
          <a:noFill/>
          <a:ln w="31750">
            <a:solidFill>
              <a:srgbClr val="0EA5C6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 flipH="1">
            <a:off x="5504688" y="2743200"/>
            <a:ext cx="1243584" cy="91"/>
          </a:xfrm>
          <a:prstGeom prst="line">
            <a:avLst/>
          </a:prstGeom>
          <a:noFill/>
          <a:ln w="31750">
            <a:solidFill>
              <a:srgbClr val="F0544F"/>
            </a:solidFill>
            <a:prstDash val="solid"/>
            <a:tailEnd type="triangle"/>
          </a:ln>
        </p:spPr>
      </p:sp>
      <p:sp>
        <p:nvSpPr>
          <p:cNvPr id="32" name="Shape 28"/>
          <p:cNvSpPr/>
          <p:nvPr/>
        </p:nvSpPr>
        <p:spPr>
          <a:xfrm>
            <a:off x="777240" y="15087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3F3CBB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77240" y="15087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FWS loop 设施水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5394960" y="1508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5394960" y="1508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TCS loop 技术冷却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548640" y="3886200"/>
            <a:ext cx="58521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Cold-plate manifolds and quick disconnects on every server; 75–90% of heat to liquid at 30–45 °C.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每台服务器配冷板分液器及快插接头；75–90%热量以30–45 °C液体带走。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8732520" y="1508760"/>
            <a:ext cx="2907792" cy="4754880"/>
          </a:xfrm>
          <a:prstGeom prst="roundRect">
            <a:avLst>
              <a:gd name="adj" fmla="val 2516"/>
            </a:avLst>
          </a:prstGeom>
          <a:solidFill>
            <a:srgbClr val="F1F2FA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38" name="Text 34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Why liquid?</a:t>
            </a:r>
            <a:endParaRPr lang="en-US" sz="15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300" b="1" dirty="0">
                <a:solidFill>
                  <a:schemeClr val="accent1"/>
                </a:solidFill>
              </a:rPr>
              <a:t>为什么用液冷？</a:t>
            </a:r>
            <a:endParaRPr lang="en-US" sz="1500" dirty="0"/>
          </a:p>
        </p:txBody>
      </p:sp>
      <p:sp>
        <p:nvSpPr>
          <p:cNvPr id="39" name="Text 35"/>
          <p:cNvSpPr txBox="1"/>
          <p:nvPr/>
        </p:nvSpPr>
        <p:spPr>
          <a:xfrm>
            <a:off x="8869680" y="2286000"/>
            <a:ext cx="2697480" cy="3931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Water carries ≈ 3,500× more heat per volume than air.</a:t>
            </a:r>
            <a:endParaRPr lang="en-US" sz="1100" dirty="0"/>
          </a:p>
          <a:p>
            <a:pPr marL="127000" indent="-127000">
              <a:lnSpc>
                <a:spcPct val="95000"/>
              </a:lnSpc>
              <a:spcAft>
                <a:spcPts val="500"/>
              </a:spcAft>
              <a:buSzPct val="100000"/>
              <a:buChar char=" "/>
            </a:pPr>
            <a:r>
              <a:rPr lang="en-US" sz="1000" dirty="0">
                <a:solidFill>
                  <a:schemeClr val="accent1"/>
                </a:solidFill>
              </a:rPr>
              <a:t>单位体积水的携热量约为空气的3,500倍。</a:t>
            </a:r>
            <a:endParaRPr lang="en-US" sz="1100" dirty="0"/>
          </a:p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Warm-water loops cut or remove chiller energy (PUE ≈ 1.1–1.25).</a:t>
            </a:r>
            <a:endParaRPr lang="en-US" sz="1100" dirty="0"/>
          </a:p>
          <a:p>
            <a:pPr marL="127000" indent="-127000">
              <a:lnSpc>
                <a:spcPct val="95000"/>
              </a:lnSpc>
              <a:spcAft>
                <a:spcPts val="500"/>
              </a:spcAft>
              <a:buSzPct val="100000"/>
              <a:buChar char=" "/>
            </a:pPr>
            <a:r>
              <a:rPr lang="en-US" sz="1000" dirty="0">
                <a:solidFill>
                  <a:schemeClr val="accent1"/>
                </a:solidFill>
              </a:rPr>
              <a:t>温水环路减少或取消冷机能耗（PUE约1.1–1.25）。</a:t>
            </a:r>
            <a:endParaRPr lang="en-US" sz="1100" dirty="0"/>
          </a:p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Immersion submerges servers in dielectric fluid — up to 200 kW per tank.</a:t>
            </a:r>
            <a:endParaRPr lang="en-US" sz="1100" dirty="0"/>
          </a:p>
          <a:p>
            <a:pPr marL="127000" indent="-127000">
              <a:lnSpc>
                <a:spcPct val="95000"/>
              </a:lnSpc>
              <a:spcAft>
                <a:spcPts val="500"/>
              </a:spcAft>
              <a:buSzPct val="100000"/>
              <a:buChar char=" "/>
            </a:pPr>
            <a:r>
              <a:rPr lang="en-US" sz="1000" dirty="0">
                <a:solidFill>
                  <a:schemeClr val="accent1"/>
                </a:solidFill>
              </a:rPr>
              <a:t>浸没式将服务器浸入绝缘液——每槽可达200 kW。</a:t>
            </a:r>
            <a:endParaRPr lang="en-US" sz="1100" dirty="0"/>
          </a:p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Needs leak detection, coolant quality control and heavier floors.</a:t>
            </a:r>
            <a:endParaRPr lang="en-US" sz="1100" dirty="0"/>
          </a:p>
          <a:p>
            <a:pPr marL="127000" indent="-127000">
              <a:lnSpc>
                <a:spcPct val="95000"/>
              </a:lnSpc>
              <a:spcAft>
                <a:spcPts val="500"/>
              </a:spcAft>
              <a:buSzPct val="100000"/>
              <a:buChar char=" "/>
            </a:pPr>
            <a:r>
              <a:rPr lang="en-US" sz="1000" dirty="0">
                <a:solidFill>
                  <a:schemeClr val="accent1"/>
                </a:solidFill>
              </a:rPr>
              <a:t>需漏液检测、冷却液品质控制及更高楼面荷载。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548640" y="4800600"/>
            <a:ext cx="585216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ASHRAE liquid-cooling classes W17 → W45+ define facility water temperatures.</a:t>
            </a:r>
            <a:endParaRPr lang="en-US" sz="1150" dirty="0"/>
          </a:p>
          <a:p>
            <a:pPr marL="177800" indent="-1778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1050" dirty="0">
                <a:solidFill>
                  <a:schemeClr val="accent1"/>
                </a:solidFill>
              </a:rPr>
              <a:t>ASHRAE液冷等级W17→W45+定义设施水温。</a:t>
            </a:r>
            <a:endParaRPr lang="en-US" sz="11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Keep the TCS above dew point; N+1 CDUs per hall; A/B power to CDUs.</a:t>
            </a:r>
            <a:endParaRPr lang="en-US" sz="1150" dirty="0"/>
          </a:p>
          <a:p>
            <a:pPr marL="177800" indent="-1778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1050" dirty="0">
                <a:solidFill>
                  <a:schemeClr val="accent1"/>
                </a:solidFill>
              </a:rPr>
              <a:t>TCS温度保持在露点以上；每个机房CDU N+1；CDU采用A/B供电。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How warm can servers run? ASHRAE thermal classes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服务器能承受多高温度？ASHRAE温度等级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0" y="1554480"/>
            <a:ext cx="0" cy="3977640"/>
          </a:xfrm>
          <a:prstGeom prst="line">
            <a:avLst/>
          </a:prstGeom>
          <a:noFill/>
          <a:ln w="12700">
            <a:solidFill>
              <a:srgbClr val="E1E3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423160" y="5532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A"/>
                </a:solidFill>
              </a:rPr>
              <a:t>0 °C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11880" y="1554480"/>
            <a:ext cx="0" cy="3977640"/>
          </a:xfrm>
          <a:prstGeom prst="line">
            <a:avLst/>
          </a:prstGeom>
          <a:noFill/>
          <a:ln w="12700">
            <a:solidFill>
              <a:srgbClr val="E1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5532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A"/>
                </a:solidFill>
              </a:rPr>
              <a:t>5 °C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1554480"/>
            <a:ext cx="0" cy="3977640"/>
          </a:xfrm>
          <a:prstGeom prst="line">
            <a:avLst/>
          </a:prstGeom>
          <a:noFill/>
          <a:ln w="12700">
            <a:solidFill>
              <a:srgbClr val="E1E3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60520" y="5532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A"/>
                </a:solidFill>
              </a:rPr>
              <a:t>10 °C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49240" y="1554480"/>
            <a:ext cx="0" cy="3977640"/>
          </a:xfrm>
          <a:prstGeom prst="line">
            <a:avLst/>
          </a:prstGeom>
          <a:noFill/>
          <a:ln w="12700">
            <a:solidFill>
              <a:srgbClr val="E1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5532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A"/>
                </a:solidFill>
              </a:rPr>
              <a:t>15 °C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0" cy="3977640"/>
          </a:xfrm>
          <a:prstGeom prst="line">
            <a:avLst/>
          </a:prstGeom>
          <a:noFill/>
          <a:ln w="12700">
            <a:solidFill>
              <a:srgbClr val="E1E3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97880" y="5532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A"/>
                </a:solidFill>
              </a:rPr>
              <a:t>20 °C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86600" y="1554480"/>
            <a:ext cx="0" cy="3977640"/>
          </a:xfrm>
          <a:prstGeom prst="line">
            <a:avLst/>
          </a:prstGeom>
          <a:noFill/>
          <a:ln w="12700">
            <a:solidFill>
              <a:srgbClr val="E1E3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5532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A"/>
                </a:solidFill>
              </a:rPr>
              <a:t>25 °C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55280" y="1554480"/>
            <a:ext cx="0" cy="3977640"/>
          </a:xfrm>
          <a:prstGeom prst="line">
            <a:avLst/>
          </a:prstGeom>
          <a:noFill/>
          <a:ln w="12700">
            <a:solidFill>
              <a:srgbClr val="E1E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35240" y="5532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A"/>
                </a:solidFill>
              </a:rPr>
              <a:t>30 °C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23960" y="1554480"/>
            <a:ext cx="0" cy="3977640"/>
          </a:xfrm>
          <a:prstGeom prst="line">
            <a:avLst/>
          </a:prstGeom>
          <a:noFill/>
          <a:ln w="12700">
            <a:solidFill>
              <a:srgbClr val="E1E3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03920" y="5532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A"/>
                </a:solidFill>
              </a:rPr>
              <a:t>35 °C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92640" y="1554480"/>
            <a:ext cx="0" cy="3977640"/>
          </a:xfrm>
          <a:prstGeom prst="line">
            <a:avLst/>
          </a:prstGeom>
          <a:noFill/>
          <a:ln w="12700">
            <a:solidFill>
              <a:srgbClr val="E1E3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72600" y="5532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A"/>
                </a:solidFill>
              </a:rPr>
              <a:t>40 °C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561320" y="1554480"/>
            <a:ext cx="0" cy="3977640"/>
          </a:xfrm>
          <a:prstGeom prst="line">
            <a:avLst/>
          </a:prstGeom>
          <a:noFill/>
          <a:ln w="12700">
            <a:solidFill>
              <a:srgbClr val="E1E3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41280" y="5532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A"/>
                </a:solidFill>
              </a:rPr>
              <a:t>45 °C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430000" y="1554480"/>
            <a:ext cx="0" cy="3977640"/>
          </a:xfrm>
          <a:prstGeom prst="line">
            <a:avLst/>
          </a:prstGeom>
          <a:noFill/>
          <a:ln w="12700">
            <a:solidFill>
              <a:srgbClr val="E1E3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109960" y="5532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A"/>
                </a:solidFill>
              </a:rPr>
              <a:t>50 °C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1645920"/>
            <a:ext cx="21031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Recommended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推荐范围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70448" y="1719072"/>
            <a:ext cx="1563624" cy="40233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870448" y="1719072"/>
            <a:ext cx="1563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18 – 27 °C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Class A1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A1级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349240" y="2359152"/>
            <a:ext cx="2953512" cy="402336"/>
          </a:xfrm>
          <a:prstGeom prst="roundRect">
            <a:avLst>
              <a:gd name="adj" fmla="val 50000"/>
            </a:avLst>
          </a:prstGeom>
          <a:solidFill>
            <a:srgbClr val="0EA5C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349240" y="2359152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15 – 32 °C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Class A2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A2级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80560" y="2999232"/>
            <a:ext cx="4343400" cy="402336"/>
          </a:xfrm>
          <a:prstGeom prst="roundRect">
            <a:avLst>
              <a:gd name="adj" fmla="val 50000"/>
            </a:avLst>
          </a:prstGeom>
          <a:solidFill>
            <a:srgbClr val="3F3CB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480560" y="2999232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 – 35 °C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3566160"/>
            <a:ext cx="21031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Class A3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A3级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11880" y="3639312"/>
            <a:ext cx="6080760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611880" y="3639312"/>
            <a:ext cx="608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 – 40 °C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4206240"/>
            <a:ext cx="21031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Class A4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A4级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11880" y="4279392"/>
            <a:ext cx="6949440" cy="402336"/>
          </a:xfrm>
          <a:prstGeom prst="roundRect">
            <a:avLst>
              <a:gd name="adj" fmla="val 50000"/>
            </a:avLst>
          </a:prstGeom>
          <a:solidFill>
            <a:srgbClr val="6B6F8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611880" y="4279392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 – 45 °C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4846320"/>
            <a:ext cx="21031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Class H1 (high density)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H1级（高密度）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349240" y="4919472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F0544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349240" y="49194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15 – 25 °C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806440"/>
            <a:ext cx="11094415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B1D3A"/>
                </a:solidFill>
              </a:rPr>
              <a:t>Server inlet air temperature. Recommended envelope for long-term reliability; allowable classes for short excursions per the equipment class. H1 (recommended 18–22 °C) applies to some high-density equipment — confirm with the IT vendor.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服务器进风温度。推荐范围用于长期可靠运行；允许范围依设备等级适用于短期偏离。H1（推荐18–22 °C）适用于部分高密度设备——需与IT厂商确认。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Measuring efficiency: what makes up PUE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能效衡量：PUE的构成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22376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092440" y="1508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PUE = Total ÷ IT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2093976"/>
            <a:ext cx="35661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Total facility energy divided by IT energy (ISO/IEC 30134-2).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设施总能耗除以IT能耗（ISO/IEC 30134-2）。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880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≈ 1.5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3648456"/>
            <a:ext cx="35661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Global average reported by operators — flat for years (Uptime survey).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运营商报告的全球平均值——多年持平（Uptime调查）。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43891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≤ 1.2 / 1.3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5157216"/>
            <a:ext cx="35661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China GB 40879 PUE grade 1 / grade 2 limits.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中国GB 40879 PUE一级/二级限值。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223760" y="822960"/>
            <a:ext cx="4937760" cy="4937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2344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0EA5C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9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7889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IT &amp; Network Infrastructure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8404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BDEFFA"/>
                </a:solidFill>
              </a:rPr>
              <a:t>IT与网络基础设施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663440"/>
            <a:ext cx="65836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D6D8F5"/>
                </a:solidFill>
              </a:rPr>
              <a:t>Racks, containment, cabling and connectivity — the physical home of compute.</a:t>
            </a:r>
            <a:endParaRPr lang="en-US" sz="14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BDEFFA"/>
                </a:solidFill>
              </a:rPr>
              <a:t>机柜、通道封闭、布线与网络连接——计算设备的物理家园。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A3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 server rack: the basic unit of the white space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服务器机柜：白区的基本单元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97280" y="1508760"/>
            <a:ext cx="2103120" cy="4709160"/>
          </a:xfrm>
          <a:prstGeom prst="roundRect">
            <a:avLst>
              <a:gd name="adj" fmla="val 1739"/>
            </a:avLst>
          </a:prstGeom>
          <a:solidFill>
            <a:srgbClr val="17153F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645920"/>
            <a:ext cx="1645920" cy="164592"/>
          </a:xfrm>
          <a:prstGeom prst="rect">
            <a:avLst/>
          </a:prstGeom>
          <a:solidFill>
            <a:srgbClr val="8B8FBF"/>
          </a:solidFill>
          <a:ln w="6350">
            <a:solidFill>
              <a:srgbClr val="4B4C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61488" y="1691640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1325880" y="1847088"/>
            <a:ext cx="1645920" cy="219456"/>
          </a:xfrm>
          <a:prstGeom prst="rect">
            <a:avLst/>
          </a:prstGeom>
          <a:solidFill>
            <a:srgbClr val="7C3AED"/>
          </a:solidFill>
          <a:ln w="6350">
            <a:solidFill>
              <a:srgbClr val="4B4C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61488" y="1920240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Shape 7"/>
          <p:cNvSpPr/>
          <p:nvPr/>
        </p:nvSpPr>
        <p:spPr>
          <a:xfrm>
            <a:off x="1325880" y="2103120"/>
            <a:ext cx="1645920" cy="219456"/>
          </a:xfrm>
          <a:prstGeom prst="rect">
            <a:avLst/>
          </a:prstGeom>
          <a:solidFill>
            <a:srgbClr val="7C3AED"/>
          </a:solidFill>
          <a:ln w="6350">
            <a:solidFill>
              <a:srgbClr val="4B4C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61488" y="2176272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Shape 9"/>
          <p:cNvSpPr/>
          <p:nvPr/>
        </p:nvSpPr>
        <p:spPr>
          <a:xfrm>
            <a:off x="1325880" y="2359152"/>
            <a:ext cx="1645920" cy="182880"/>
          </a:xfrm>
          <a:prstGeom prst="rect">
            <a:avLst/>
          </a:prstGeom>
          <a:solidFill>
            <a:srgbClr val="3B3D80"/>
          </a:solidFill>
          <a:ln w="6350">
            <a:solidFill>
              <a:srgbClr val="4B4C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61488" y="2414016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1325880" y="2578608"/>
            <a:ext cx="1645920" cy="182880"/>
          </a:xfrm>
          <a:prstGeom prst="rect">
            <a:avLst/>
          </a:prstGeom>
          <a:solidFill>
            <a:srgbClr val="3B3D80"/>
          </a:solidFill>
          <a:ln w="6350">
            <a:solidFill>
              <a:srgbClr val="4B4C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2633472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325880" y="2798064"/>
            <a:ext cx="1645920" cy="365760"/>
          </a:xfrm>
          <a:prstGeom prst="rect">
            <a:avLst/>
          </a:prstGeom>
          <a:solidFill>
            <a:srgbClr val="3B3D80"/>
          </a:solidFill>
          <a:ln w="6350">
            <a:solidFill>
              <a:srgbClr val="4B4C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61488" y="2944368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Shape 15"/>
          <p:cNvSpPr/>
          <p:nvPr/>
        </p:nvSpPr>
        <p:spPr>
          <a:xfrm>
            <a:off x="1325880" y="3200400"/>
            <a:ext cx="1645920" cy="365760"/>
          </a:xfrm>
          <a:prstGeom prst="rect">
            <a:avLst/>
          </a:prstGeom>
          <a:solidFill>
            <a:srgbClr val="3B3D80"/>
          </a:solidFill>
          <a:ln w="6350">
            <a:solidFill>
              <a:srgbClr val="4B4C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61488" y="3346704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1325880" y="3602736"/>
            <a:ext cx="1645920" cy="365760"/>
          </a:xfrm>
          <a:prstGeom prst="rect">
            <a:avLst/>
          </a:prstGeom>
          <a:solidFill>
            <a:srgbClr val="3B3D80"/>
          </a:solidFill>
          <a:ln w="6350">
            <a:solidFill>
              <a:srgbClr val="4B4C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61488" y="3749040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1325880" y="4005072"/>
            <a:ext cx="1645920" cy="182880"/>
          </a:xfrm>
          <a:prstGeom prst="rect">
            <a:avLst/>
          </a:prstGeom>
          <a:solidFill>
            <a:srgbClr val="23244F"/>
          </a:solidFill>
          <a:ln w="6350">
            <a:solidFill>
              <a:srgbClr val="4B4C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61488" y="4059936"/>
            <a:ext cx="73152" cy="73152"/>
          </a:xfrm>
          <a:prstGeom prst="ellipse">
            <a:avLst/>
          </a:prstGeom>
          <a:solidFill>
            <a:srgbClr val="23244F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4224528"/>
            <a:ext cx="1645920" cy="749808"/>
          </a:xfrm>
          <a:prstGeom prst="rect">
            <a:avLst/>
          </a:prstGeom>
          <a:solidFill>
            <a:srgbClr val="F0544F"/>
          </a:solidFill>
          <a:ln w="6350">
            <a:solidFill>
              <a:srgbClr val="4B4C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61488" y="4562856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5010912"/>
            <a:ext cx="1645920" cy="365760"/>
          </a:xfrm>
          <a:prstGeom prst="rect">
            <a:avLst/>
          </a:prstGeom>
          <a:solidFill>
            <a:srgbClr val="0E7490"/>
          </a:solidFill>
          <a:ln w="6350">
            <a:solidFill>
              <a:srgbClr val="4B4C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61488" y="5157216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7" name="Shape 25"/>
          <p:cNvSpPr/>
          <p:nvPr/>
        </p:nvSpPr>
        <p:spPr>
          <a:xfrm>
            <a:off x="1152144" y="1691640"/>
            <a:ext cx="109728" cy="43434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8" name="Shape 26"/>
          <p:cNvSpPr/>
          <p:nvPr/>
        </p:nvSpPr>
        <p:spPr>
          <a:xfrm>
            <a:off x="3035808" y="1691640"/>
            <a:ext cx="109728" cy="4343400"/>
          </a:xfrm>
          <a:prstGeom prst="rect">
            <a:avLst/>
          </a:prstGeom>
          <a:solidFill>
            <a:srgbClr val="0EA5C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20040" y="3611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7791F"/>
                </a:solidFill>
              </a:rPr>
              <a:t>rPDU A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3246120" y="3611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490"/>
                </a:solidFill>
              </a:rPr>
              <a:t>rPDU B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20624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3CB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42 – 52 U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4206240" y="194767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B1D3A"/>
                </a:solidFill>
              </a:rPr>
              <a:t>Height (1U = 44.45 mm)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高度（1U = 44.45 mm）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3CB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600 / 800 mm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4206240" y="286207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B1D3A"/>
                </a:solidFill>
              </a:rPr>
              <a:t>Width — 800 mm for network &amp; AI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宽度——网络及AI用800 mm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206240" y="3383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3CB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1,070 – 1,200 mm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4206240" y="377647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B1D3A"/>
                </a:solidFill>
              </a:rPr>
              <a:t>Depth for modern servers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现代服务器所需深度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206240" y="4297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3CB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1,360 – 1,800 kg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4206240" y="469087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B1D3A"/>
                </a:solidFill>
              </a:rPr>
              <a:t>Static load rating (AI racks heavier)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静载能力（AI机柜更重）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206240" y="5212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3CB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≥ 80 %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4206240" y="5605272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B1D3A"/>
                </a:solidFill>
              </a:rPr>
              <a:t>Door perforation for airflow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门板开孔率保证气流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452360" y="1508760"/>
            <a:ext cx="4187952" cy="4754880"/>
          </a:xfrm>
          <a:prstGeom prst="roundRect">
            <a:avLst>
              <a:gd name="adj" fmla="val 1747"/>
            </a:avLst>
          </a:prstGeom>
          <a:solidFill>
            <a:srgbClr val="F1F2FA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7635240" y="1645920"/>
            <a:ext cx="38404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Good rack practice</a:t>
            </a:r>
            <a:endParaRPr lang="en-US" sz="15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300" b="1" dirty="0">
                <a:solidFill>
                  <a:schemeClr val="accent1"/>
                </a:solidFill>
              </a:rPr>
              <a:t>机柜最佳实践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7589520" y="2240280"/>
            <a:ext cx="3931920" cy="3931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Blanking panels in every empty U and brush strips at cable entries.</a:t>
            </a:r>
            <a:endParaRPr lang="en-US" sz="1150" dirty="0"/>
          </a:p>
          <a:p>
            <a:pPr marL="177800" indent="-177800">
              <a:lnSpc>
                <a:spcPct val="95000"/>
              </a:lnSpc>
              <a:spcAft>
                <a:spcPts val="500"/>
              </a:spcAft>
              <a:buSzPct val="100000"/>
              <a:buChar char=" "/>
            </a:pPr>
            <a:r>
              <a:rPr lang="en-US" sz="1050" dirty="0">
                <a:solidFill>
                  <a:schemeClr val="accent1"/>
                </a:solidFill>
              </a:rPr>
              <a:t>所有空U位装盲板，线缆入口装毛刷条。</a:t>
            </a:r>
            <a:endParaRPr lang="en-US" sz="11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Two rPDUs fed from A and B sources for dual-corded equipment.</a:t>
            </a:r>
            <a:endParaRPr lang="en-US" sz="1150" dirty="0"/>
          </a:p>
          <a:p>
            <a:pPr marL="177800" indent="-177800">
              <a:lnSpc>
                <a:spcPct val="95000"/>
              </a:lnSpc>
              <a:spcAft>
                <a:spcPts val="500"/>
              </a:spcAft>
              <a:buSzPct val="100000"/>
              <a:buChar char=" "/>
            </a:pPr>
            <a:r>
              <a:rPr lang="en-US" sz="1050" dirty="0">
                <a:solidFill>
                  <a:schemeClr val="accent1"/>
                </a:solidFill>
              </a:rPr>
              <a:t>两条rPDU分别接A、B路，供双电源设备使用。</a:t>
            </a:r>
            <a:endParaRPr lang="en-US" sz="11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Hot- or cold-aisle containment around rack pods.</a:t>
            </a:r>
            <a:endParaRPr lang="en-US" sz="1150" dirty="0"/>
          </a:p>
          <a:p>
            <a:pPr marL="177800" indent="-177800">
              <a:lnSpc>
                <a:spcPct val="95000"/>
              </a:lnSpc>
              <a:spcAft>
                <a:spcPts val="500"/>
              </a:spcAft>
              <a:buSzPct val="100000"/>
              <a:buChar char=" "/>
            </a:pPr>
            <a:r>
              <a:rPr lang="en-US" sz="1050" dirty="0">
                <a:solidFill>
                  <a:schemeClr val="accent1"/>
                </a:solidFill>
              </a:rPr>
              <a:t>对机柜模块实施热通道或冷通道封闭。</a:t>
            </a:r>
            <a:endParaRPr lang="en-US" sz="11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Bond every rack to the telecom grounding system (TIA-607).</a:t>
            </a:r>
            <a:endParaRPr lang="en-US" sz="1150" dirty="0"/>
          </a:p>
          <a:p>
            <a:pPr marL="177800" indent="-177800">
              <a:lnSpc>
                <a:spcPct val="95000"/>
              </a:lnSpc>
              <a:spcAft>
                <a:spcPts val="500"/>
              </a:spcAft>
              <a:buSzPct val="100000"/>
              <a:buChar char=" "/>
            </a:pPr>
            <a:r>
              <a:rPr lang="en-US" sz="1050" dirty="0">
                <a:solidFill>
                  <a:schemeClr val="accent1"/>
                </a:solidFill>
              </a:rPr>
              <a:t>每个机柜接入通信接地系统（TIA-607）。</a:t>
            </a:r>
            <a:endParaRPr lang="en-US" sz="11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Label racks, PDUs and patch panels per TIA-606.</a:t>
            </a:r>
            <a:endParaRPr lang="en-US" sz="1150" dirty="0"/>
          </a:p>
          <a:p>
            <a:pPr marL="177800" indent="-177800">
              <a:lnSpc>
                <a:spcPct val="95000"/>
              </a:lnSpc>
              <a:spcAft>
                <a:spcPts val="500"/>
              </a:spcAft>
              <a:buSzPct val="100000"/>
              <a:buChar char=" "/>
            </a:pPr>
            <a:r>
              <a:rPr lang="en-US" sz="1050" dirty="0">
                <a:solidFill>
                  <a:schemeClr val="accent1"/>
                </a:solidFill>
              </a:rPr>
              <a:t>按TIA-606标识机柜、PDU和配线架。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Network architecture: leaf-spine and AI fabrics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网络架构：叶脊架构与AI网络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 flipH="1">
            <a:off x="1097280" y="2423160"/>
            <a:ext cx="1143000" cy="1005840"/>
          </a:xfrm>
          <a:prstGeom prst="line">
            <a:avLst/>
          </a:prstGeom>
          <a:noFill/>
          <a:ln w="12700">
            <a:solidFill>
              <a:srgbClr val="C9C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0280" y="2423160"/>
            <a:ext cx="228600" cy="1005840"/>
          </a:xfrm>
          <a:prstGeom prst="line">
            <a:avLst/>
          </a:prstGeom>
          <a:noFill/>
          <a:ln w="12700">
            <a:solidFill>
              <a:srgbClr val="C9C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40280" y="2423160"/>
            <a:ext cx="1600200" cy="1005840"/>
          </a:xfrm>
          <a:prstGeom prst="line">
            <a:avLst/>
          </a:prstGeom>
          <a:noFill/>
          <a:ln w="12700">
            <a:solidFill>
              <a:srgbClr val="C9CC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2423160"/>
            <a:ext cx="2971800" cy="1005840"/>
          </a:xfrm>
          <a:prstGeom prst="line">
            <a:avLst/>
          </a:prstGeom>
          <a:noFill/>
          <a:ln w="12700">
            <a:solidFill>
              <a:srgbClr val="C9CC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2423160"/>
            <a:ext cx="4343400" cy="1005840"/>
          </a:xfrm>
          <a:prstGeom prst="line">
            <a:avLst/>
          </a:prstGeom>
          <a:noFill/>
          <a:ln w="12700">
            <a:solidFill>
              <a:srgbClr val="C9CC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1097280" y="2423160"/>
            <a:ext cx="2971800" cy="1005840"/>
          </a:xfrm>
          <a:prstGeom prst="line">
            <a:avLst/>
          </a:prstGeom>
          <a:noFill/>
          <a:ln w="12700">
            <a:solidFill>
              <a:srgbClr val="C9CC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2468880" y="2423160"/>
            <a:ext cx="1600200" cy="1005840"/>
          </a:xfrm>
          <a:prstGeom prst="line">
            <a:avLst/>
          </a:prstGeom>
          <a:noFill/>
          <a:ln w="12700">
            <a:solidFill>
              <a:srgbClr val="C9CC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3840480" y="2423160"/>
            <a:ext cx="228600" cy="1005840"/>
          </a:xfrm>
          <a:prstGeom prst="line">
            <a:avLst/>
          </a:prstGeom>
          <a:noFill/>
          <a:ln w="12700">
            <a:solidFill>
              <a:srgbClr val="C9C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9080" y="2423160"/>
            <a:ext cx="1143000" cy="1005840"/>
          </a:xfrm>
          <a:prstGeom prst="line">
            <a:avLst/>
          </a:prstGeom>
          <a:noFill/>
          <a:ln w="12700">
            <a:solidFill>
              <a:srgbClr val="C9CC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69080" y="2423160"/>
            <a:ext cx="2514600" cy="1005840"/>
          </a:xfrm>
          <a:prstGeom prst="line">
            <a:avLst/>
          </a:prstGeom>
          <a:noFill/>
          <a:ln w="12700">
            <a:solidFill>
              <a:srgbClr val="C9CC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1097280" y="2423160"/>
            <a:ext cx="4800600" cy="1005840"/>
          </a:xfrm>
          <a:prstGeom prst="line">
            <a:avLst/>
          </a:prstGeom>
          <a:noFill/>
          <a:ln w="12700">
            <a:solidFill>
              <a:srgbClr val="C9CC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2468880" y="2423160"/>
            <a:ext cx="3429000" cy="1005840"/>
          </a:xfrm>
          <a:prstGeom prst="line">
            <a:avLst/>
          </a:prstGeom>
          <a:noFill/>
          <a:ln w="12700">
            <a:solidFill>
              <a:srgbClr val="C9CC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3840480" y="2423160"/>
            <a:ext cx="2057400" cy="1005840"/>
          </a:xfrm>
          <a:prstGeom prst="line">
            <a:avLst/>
          </a:prstGeom>
          <a:noFill/>
          <a:ln w="12700">
            <a:solidFill>
              <a:srgbClr val="C9CC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5212080" y="2423160"/>
            <a:ext cx="685800" cy="1005840"/>
          </a:xfrm>
          <a:prstGeom prst="line">
            <a:avLst/>
          </a:prstGeom>
          <a:noFill/>
          <a:ln w="12700">
            <a:solidFill>
              <a:srgbClr val="C9CC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97880" y="2423160"/>
            <a:ext cx="685800" cy="1005840"/>
          </a:xfrm>
          <a:prstGeom prst="line">
            <a:avLst/>
          </a:prstGeom>
          <a:noFill/>
          <a:ln w="12700">
            <a:solidFill>
              <a:srgbClr val="C9CC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1828800"/>
            <a:ext cx="1280160" cy="594360"/>
          </a:xfrm>
          <a:prstGeom prst="roundRect">
            <a:avLst>
              <a:gd name="adj" fmla="val 10769"/>
            </a:avLst>
          </a:prstGeom>
          <a:solidFill>
            <a:srgbClr val="3F3CB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600200" y="1828800"/>
            <a:ext cx="12801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Spine</a:t>
            </a:r>
            <a:endParaRPr lang="en-US" sz="11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BDEFFA"/>
                </a:solidFill>
              </a:rPr>
              <a:t>脊交换机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1828800"/>
            <a:ext cx="1280160" cy="594360"/>
          </a:xfrm>
          <a:prstGeom prst="roundRect">
            <a:avLst>
              <a:gd name="adj" fmla="val 10769"/>
            </a:avLst>
          </a:prstGeom>
          <a:solidFill>
            <a:srgbClr val="3F3CB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1828800"/>
            <a:ext cx="12801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Spine</a:t>
            </a:r>
            <a:endParaRPr lang="en-US" sz="11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BDEFFA"/>
                </a:solidFill>
              </a:rPr>
              <a:t>脊交换机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57800" y="1828800"/>
            <a:ext cx="1280160" cy="594360"/>
          </a:xfrm>
          <a:prstGeom prst="roundRect">
            <a:avLst>
              <a:gd name="adj" fmla="val 10769"/>
            </a:avLst>
          </a:prstGeom>
          <a:solidFill>
            <a:srgbClr val="3F3CB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257800" y="1828800"/>
            <a:ext cx="12801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Spine</a:t>
            </a:r>
            <a:endParaRPr lang="en-US" sz="11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BDEFFA"/>
                </a:solidFill>
              </a:rPr>
              <a:t>脊交换机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429000"/>
            <a:ext cx="1097280" cy="548640"/>
          </a:xfrm>
          <a:prstGeom prst="roundRect">
            <a:avLst>
              <a:gd name="adj" fmla="val 11667"/>
            </a:avLst>
          </a:prstGeom>
          <a:solidFill>
            <a:srgbClr val="7C3AE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3429000"/>
            <a:ext cx="10972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Leaf</a:t>
            </a:r>
            <a:endParaRPr lang="en-US" sz="105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BDEFFA"/>
                </a:solidFill>
              </a:rPr>
              <a:t>叶交换机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920240" y="3429000"/>
            <a:ext cx="1097280" cy="548640"/>
          </a:xfrm>
          <a:prstGeom prst="roundRect">
            <a:avLst>
              <a:gd name="adj" fmla="val 11667"/>
            </a:avLst>
          </a:prstGeom>
          <a:solidFill>
            <a:srgbClr val="7C3AE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920240" y="3429000"/>
            <a:ext cx="10972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Leaf</a:t>
            </a:r>
            <a:endParaRPr lang="en-US" sz="105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BDEFFA"/>
                </a:solidFill>
              </a:rPr>
              <a:t>叶交换机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91840" y="3429000"/>
            <a:ext cx="1097280" cy="548640"/>
          </a:xfrm>
          <a:prstGeom prst="roundRect">
            <a:avLst>
              <a:gd name="adj" fmla="val 11667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291840" y="3429000"/>
            <a:ext cx="10972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Leaf</a:t>
            </a:r>
            <a:endParaRPr lang="en-US" sz="105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BDEFFA"/>
                </a:solidFill>
              </a:rPr>
              <a:t>叶交换机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3429000"/>
            <a:ext cx="1097280" cy="548640"/>
          </a:xfrm>
          <a:prstGeom prst="roundRect">
            <a:avLst>
              <a:gd name="adj" fmla="val 11667"/>
            </a:avLst>
          </a:prstGeom>
          <a:solidFill>
            <a:srgbClr val="7C3AE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663440" y="3429000"/>
            <a:ext cx="10972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Leaf</a:t>
            </a:r>
            <a:endParaRPr lang="en-US" sz="105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BDEFFA"/>
                </a:solidFill>
              </a:rPr>
              <a:t>叶交换机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35040" y="3429000"/>
            <a:ext cx="1097280" cy="548640"/>
          </a:xfrm>
          <a:prstGeom prst="roundRect">
            <a:avLst>
              <a:gd name="adj" fmla="val 11667"/>
            </a:avLst>
          </a:prstGeom>
          <a:solidFill>
            <a:srgbClr val="7C3AE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035040" y="3429000"/>
            <a:ext cx="10972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Leaf</a:t>
            </a:r>
            <a:endParaRPr lang="en-US" sz="105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BDEFFA"/>
                </a:solidFill>
              </a:rPr>
              <a:t>叶交换机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97280" y="3977640"/>
            <a:ext cx="91" cy="320040"/>
          </a:xfrm>
          <a:prstGeom prst="line">
            <a:avLst/>
          </a:prstGeom>
          <a:noFill/>
          <a:ln w="12700">
            <a:solidFill>
              <a:srgbClr val="C9CC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4297680"/>
            <a:ext cx="914400" cy="502920"/>
          </a:xfrm>
          <a:prstGeom prst="roundRect">
            <a:avLst>
              <a:gd name="adj" fmla="val 9091"/>
            </a:avLst>
          </a:prstGeom>
          <a:solidFill>
            <a:srgbClr val="F1F2FA"/>
          </a:solidFill>
          <a:ln w="12700">
            <a:solidFill>
              <a:srgbClr val="C9CCE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4297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D3A"/>
                </a:solidFill>
              </a:rPr>
              <a:t>Servers 服务器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468880" y="3977640"/>
            <a:ext cx="91" cy="320040"/>
          </a:xfrm>
          <a:prstGeom prst="line">
            <a:avLst/>
          </a:prstGeom>
          <a:noFill/>
          <a:ln w="12700">
            <a:solidFill>
              <a:srgbClr val="C9CC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11680" y="4297680"/>
            <a:ext cx="914400" cy="502920"/>
          </a:xfrm>
          <a:prstGeom prst="roundRect">
            <a:avLst>
              <a:gd name="adj" fmla="val 9091"/>
            </a:avLst>
          </a:prstGeom>
          <a:solidFill>
            <a:srgbClr val="F1F2FA"/>
          </a:solidFill>
          <a:ln w="12700">
            <a:solidFill>
              <a:srgbClr val="C9CCE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011680" y="4297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D3A"/>
                </a:solidFill>
              </a:rPr>
              <a:t>Servers 服务器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840480" y="3977640"/>
            <a:ext cx="91" cy="320040"/>
          </a:xfrm>
          <a:prstGeom prst="line">
            <a:avLst/>
          </a:prstGeom>
          <a:noFill/>
          <a:ln w="12700">
            <a:solidFill>
              <a:srgbClr val="C9CC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83280" y="4297680"/>
            <a:ext cx="914400" cy="502920"/>
          </a:xfrm>
          <a:prstGeom prst="roundRect">
            <a:avLst>
              <a:gd name="adj" fmla="val 9091"/>
            </a:avLst>
          </a:prstGeom>
          <a:solidFill>
            <a:srgbClr val="F1F2FA"/>
          </a:solidFill>
          <a:ln w="12700">
            <a:solidFill>
              <a:srgbClr val="C9CCE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383280" y="4297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D3A"/>
                </a:solidFill>
              </a:rPr>
              <a:t>Servers 服务器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12080" y="3977640"/>
            <a:ext cx="91" cy="320040"/>
          </a:xfrm>
          <a:prstGeom prst="line">
            <a:avLst/>
          </a:prstGeom>
          <a:noFill/>
          <a:ln w="12700">
            <a:solidFill>
              <a:srgbClr val="C9CCE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4297680"/>
            <a:ext cx="914400" cy="502920"/>
          </a:xfrm>
          <a:prstGeom prst="roundRect">
            <a:avLst>
              <a:gd name="adj" fmla="val 9091"/>
            </a:avLst>
          </a:prstGeom>
          <a:solidFill>
            <a:srgbClr val="F1F2FA"/>
          </a:solidFill>
          <a:ln w="12700">
            <a:solidFill>
              <a:srgbClr val="C9CCE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754880" y="4297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D3A"/>
                </a:solidFill>
              </a:rPr>
              <a:t>Servers 服务器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583680" y="3977640"/>
            <a:ext cx="91" cy="320040"/>
          </a:xfrm>
          <a:prstGeom prst="line">
            <a:avLst/>
          </a:prstGeom>
          <a:noFill/>
          <a:ln w="12700">
            <a:solidFill>
              <a:srgbClr val="C9CCE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26480" y="4297680"/>
            <a:ext cx="914400" cy="502920"/>
          </a:xfrm>
          <a:prstGeom prst="roundRect">
            <a:avLst>
              <a:gd name="adj" fmla="val 9091"/>
            </a:avLst>
          </a:prstGeom>
          <a:solidFill>
            <a:srgbClr val="F1F2FA"/>
          </a:solidFill>
          <a:ln w="12700">
            <a:solidFill>
              <a:srgbClr val="C9CCE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126480" y="4297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D3A"/>
                </a:solidFill>
              </a:rPr>
              <a:t>Servers 服务器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971800" y="1188720"/>
            <a:ext cx="2194560" cy="457200"/>
          </a:xfrm>
          <a:prstGeom prst="roundRect">
            <a:avLst>
              <a:gd name="adj" fmla="val 14000"/>
            </a:avLst>
          </a:prstGeom>
          <a:solidFill>
            <a:srgbClr val="17153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2971800" y="1188720"/>
            <a:ext cx="21945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Core / border routers → carriers</a:t>
            </a:r>
            <a:endParaRPr lang="en-US" sz="1000" dirty="0"/>
          </a:p>
          <a:p>
            <a:pPr algn="ctr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BDEFFA"/>
                </a:solidFill>
              </a:rPr>
              <a:t>核心/边界路由器→运营商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069080" y="1645920"/>
            <a:ext cx="91" cy="182880"/>
          </a:xfrm>
          <a:prstGeom prst="line">
            <a:avLst/>
          </a:prstGeom>
          <a:noFill/>
          <a:ln w="19050">
            <a:solidFill>
              <a:srgbClr val="17153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48640" y="5029200"/>
            <a:ext cx="69494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Every leaf connects to every spine → any server is two hops from any other; scale by adding leaves and spines.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每个叶交换机连接所有脊交换机→任意两台服务器间仅两跳；通过增加叶/脊扩展。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818120" y="1508760"/>
            <a:ext cx="3822192" cy="4754880"/>
          </a:xfrm>
          <a:prstGeom prst="roundRect">
            <a:avLst>
              <a:gd name="adj" fmla="val 1914"/>
            </a:avLst>
          </a:prstGeom>
          <a:solidFill>
            <a:srgbClr val="17153F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001000" y="1645920"/>
            <a:ext cx="34747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AI clusters add a second network</a:t>
            </a:r>
            <a:endParaRPr lang="en-US" sz="14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50" b="1" dirty="0">
                <a:solidFill>
                  <a:srgbClr val="BDEFFA"/>
                </a:solidFill>
              </a:rPr>
              <a:t>AI集群增加第二张网络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7955280" y="2377440"/>
            <a:ext cx="3566160" cy="3840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Back-end GPU fabric (InfiniBand or RoCE Ethernet) at 400–800 Gb/s per port.</a:t>
            </a:r>
            <a:endParaRPr lang="en-US" sz="1150" dirty="0"/>
          </a:p>
          <a:p>
            <a:pPr marL="177800" indent="-177800">
              <a:lnSpc>
                <a:spcPct val="95000"/>
              </a:lnSpc>
              <a:spcAft>
                <a:spcPts val="500"/>
              </a:spcAft>
              <a:buSzPct val="100000"/>
              <a:buChar char=" "/>
            </a:pPr>
            <a:r>
              <a:rPr lang="en-US" sz="1050" dirty="0">
                <a:solidFill>
                  <a:srgbClr val="BDEFFA"/>
                </a:solidFill>
              </a:rPr>
              <a:t>后端GPU网络（InfiniBand或RoCE以太网），每端口400–800 Gb/s。</a:t>
            </a:r>
            <a:endParaRPr lang="en-US" sz="11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Rail-optimised, non-blocking (1:1) topology.</a:t>
            </a:r>
            <a:endParaRPr lang="en-US" sz="1150" dirty="0"/>
          </a:p>
          <a:p>
            <a:pPr marL="177800" indent="-177800">
              <a:lnSpc>
                <a:spcPct val="95000"/>
              </a:lnSpc>
              <a:spcAft>
                <a:spcPts val="500"/>
              </a:spcAft>
              <a:buSzPct val="100000"/>
              <a:buChar char=" "/>
            </a:pPr>
            <a:r>
              <a:rPr lang="en-US" sz="1050" dirty="0">
                <a:solidFill>
                  <a:srgbClr val="BDEFFA"/>
                </a:solidFill>
              </a:rPr>
              <a:t>轨道优化、无阻塞（1:1）拓扑。</a:t>
            </a:r>
            <a:endParaRPr lang="en-US" sz="11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Thousands of short fibre links — plan cable trays and MPO trunks early.</a:t>
            </a:r>
            <a:endParaRPr lang="en-US" sz="1150" dirty="0"/>
          </a:p>
          <a:p>
            <a:pPr marL="177800" indent="-177800">
              <a:lnSpc>
                <a:spcPct val="95000"/>
              </a:lnSpc>
              <a:spcAft>
                <a:spcPts val="500"/>
              </a:spcAft>
              <a:buSzPct val="100000"/>
              <a:buChar char=" "/>
            </a:pPr>
            <a:r>
              <a:rPr lang="en-US" sz="1050" dirty="0">
                <a:solidFill>
                  <a:srgbClr val="BDEFFA"/>
                </a:solidFill>
              </a:rPr>
              <a:t>成千上万条短光纤链路——尽早规划桥架与MPO主干。</a:t>
            </a:r>
            <a:endParaRPr lang="en-US" sz="11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Separate out-of-band management network.</a:t>
            </a:r>
            <a:endParaRPr lang="en-US" sz="1150" dirty="0"/>
          </a:p>
          <a:p>
            <a:pPr marL="177800" indent="-177800">
              <a:lnSpc>
                <a:spcPct val="95000"/>
              </a:lnSpc>
              <a:spcAft>
                <a:spcPts val="500"/>
              </a:spcAft>
              <a:buSzPct val="100000"/>
              <a:buChar char=" "/>
            </a:pPr>
            <a:r>
              <a:rPr lang="en-US" sz="1050" dirty="0">
                <a:solidFill>
                  <a:srgbClr val="BDEFFA"/>
                </a:solidFill>
              </a:rPr>
              <a:t>独立带外管理网络。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Structured cabling &amp; carrier connectivity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综合布线与运营商连接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9928"/>
            <a:ext cx="548640" cy="548640"/>
          </a:xfrm>
          <a:prstGeom prst="ellipse">
            <a:avLst/>
          </a:prstGeom>
          <a:solidFill>
            <a:srgbClr val="3F3CB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1841602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45920"/>
            <a:ext cx="25603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Single-mode fibre (OS2)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单模光纤（OS2）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68880"/>
            <a:ext cx="315468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B1D3A"/>
                </a:solidFill>
              </a:rPr>
              <a:t>Long reach backbone, campus and carrier links; 400G/800G optics.</a:t>
            </a:r>
            <a:endParaRPr lang="en-US" sz="11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dirty="0">
                <a:solidFill>
                  <a:schemeClr val="accent1"/>
                </a:solidFill>
              </a:rPr>
              <a:t>长距离主干、园区及运营商链路；400G/800G光模块。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70248" y="150876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71416" y="1709928"/>
            <a:ext cx="548640" cy="548640"/>
          </a:xfrm>
          <a:prstGeom prst="ellipse">
            <a:avLst/>
          </a:prstGeom>
          <a:solidFill>
            <a:srgbClr val="0EA5C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090" y="184160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38928" y="1645920"/>
            <a:ext cx="25603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Multimode fibre (OM4 / OM5)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多模光纤（OM4/OM5）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498848" y="2468880"/>
            <a:ext cx="315468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B1D3A"/>
                </a:solidFill>
              </a:rPr>
              <a:t>Short links inside halls (≤ 100–150 m) with MPO trunks.</a:t>
            </a:r>
            <a:endParaRPr lang="en-US" sz="11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dirty="0">
                <a:solidFill>
                  <a:schemeClr val="accent1"/>
                </a:solidFill>
              </a:rPr>
              <a:t>机房内短链路（≤100–150 m），采用MPO主干。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91856" y="150876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93024" y="1709928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698" y="184160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60536" y="1645920"/>
            <a:ext cx="25603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Copper Cat 6A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6A类铜缆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220456" y="2468880"/>
            <a:ext cx="315468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B1D3A"/>
                </a:solidFill>
              </a:rPr>
              <a:t>Management, OOB, BMS &amp; security devices; PoE.</a:t>
            </a:r>
            <a:endParaRPr lang="en-US" sz="11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dirty="0">
                <a:solidFill>
                  <a:schemeClr val="accent1"/>
                </a:solidFill>
              </a:rPr>
              <a:t>管理网、带外、BMS及安防设备；支持PoE。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04488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4105656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82" y="4237330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4041648"/>
            <a:ext cx="25603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Meet-Me Room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运营商交汇间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864608"/>
            <a:ext cx="315468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B1D3A"/>
                </a:solidFill>
              </a:rPr>
              <a:t>Two MMRs and ≥ 2 diverse entry points ≥ 20 m apart (Rated-3/4).</a:t>
            </a:r>
            <a:endParaRPr lang="en-US" sz="11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dirty="0">
                <a:solidFill>
                  <a:schemeClr val="accent1"/>
                </a:solidFill>
              </a:rPr>
              <a:t>两个MMR及≥2个相距≥20 m的分离入口（Rated-3/4）。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70248" y="3904488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71416" y="4105656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3090" y="4237330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38928" y="4041648"/>
            <a:ext cx="25603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Carrier-neutral ecosystem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运营商中立生态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498848" y="4864608"/>
            <a:ext cx="315468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B1D3A"/>
                </a:solidFill>
              </a:rPr>
              <a:t>Many carriers, internet exchanges and cloud on-ramps attract tenants.</a:t>
            </a:r>
            <a:endParaRPr lang="en-US" sz="11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dirty="0">
                <a:solidFill>
                  <a:schemeClr val="accent1"/>
                </a:solidFill>
              </a:rPr>
              <a:t>多家运营商、互联网交换中心及云接入吸引租户。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991856" y="3904488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93024" y="4105656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4698" y="4237330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60536" y="4041648"/>
            <a:ext cx="25603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Testing &amp; labelling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测试与标识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220456" y="4864608"/>
            <a:ext cx="315468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B1D3A"/>
                </a:solidFill>
              </a:rPr>
              <a:t>100% OLTS/OTDR fibre tests, TIA-606 labels, 25-year system warranty.</a:t>
            </a:r>
            <a:endParaRPr lang="en-US" sz="11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dirty="0">
                <a:solidFill>
                  <a:schemeClr val="accent1"/>
                </a:solidFill>
              </a:rPr>
              <a:t>光纤100% OLTS/OTDR测试，TIA-606标识，25年系统质保。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223760" y="822960"/>
            <a:ext cx="4937760" cy="4937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2344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0EA5C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</a:t>
            </a:r>
            <a:endParaRPr lang="en-US" sz="9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7889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Fire, Security &amp; Monitoring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8404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BDEFFA"/>
                </a:solidFill>
              </a:rPr>
              <a:t>消防、安防与监控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663440"/>
            <a:ext cx="65836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D6D8F5"/>
                </a:solidFill>
              </a:rPr>
              <a:t>Detect early, suppress without damage, control every door, see everything.</a:t>
            </a:r>
            <a:endParaRPr lang="en-US" sz="14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BDEFFA"/>
                </a:solidFill>
              </a:rPr>
              <a:t>早期探测、无损灭火、管控每道门、全面可视。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A3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Fire protection: detect early, suppress without damage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消防：早期探测、无损灭火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788920" cy="868680"/>
          </a:xfrm>
          <a:prstGeom prst="chevron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508760"/>
            <a:ext cx="19659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Alert — Investigate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FFFFFF"/>
                </a:solidFill>
              </a:rPr>
              <a:t>警告——人员调查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55848" y="1508760"/>
            <a:ext cx="2788920" cy="86868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858768" y="1508760"/>
            <a:ext cx="19659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Action — Prepare, notify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FFFFFF"/>
                </a:solidFill>
              </a:rPr>
              <a:t>行动——准备、通知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63056" y="1508760"/>
            <a:ext cx="2788920" cy="868680"/>
          </a:xfrm>
          <a:prstGeom prst="chevron">
            <a:avLst/>
          </a:prstGeom>
          <a:solidFill>
            <a:srgbClr val="F054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65976" y="1508760"/>
            <a:ext cx="19659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Fire 1 — Alarm, HVAC actions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FFFFFF"/>
                </a:solidFill>
              </a:rPr>
              <a:t>火警1——报警、空调联动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970264" y="1508760"/>
            <a:ext cx="2788920" cy="868680"/>
          </a:xfrm>
          <a:prstGeom prst="chevron">
            <a:avLst/>
          </a:prstGeom>
          <a:solidFill>
            <a:srgbClr val="B4231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73184" y="1508760"/>
            <a:ext cx="19659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Fire 2 — Release suppression (double-knock)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FFFFFF"/>
                </a:solidFill>
              </a:rPr>
              <a:t>火警2——释放灭火（双重确认）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4231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A"/>
                </a:solidFill>
              </a:rPr>
              <a:t>Aspirating smoke detection alarm levels → automatic actions   极早期烟雾探测报警等级→自动联动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2651760" cy="33832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108960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71" y="3245023"/>
            <a:ext cx="294803" cy="294803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49808" y="3794760"/>
            <a:ext cx="22860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Aspirating smoke detection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极早期吸气式烟雾探测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749808" y="4572000"/>
            <a:ext cx="228600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B1D3A"/>
                </a:solidFill>
              </a:rPr>
              <a:t>Samples air through pipes; detects smoke long before flames — essential with high airflow.</a:t>
            </a:r>
            <a:endParaRPr lang="en-US" sz="11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dirty="0">
                <a:solidFill>
                  <a:schemeClr val="accent1"/>
                </a:solidFill>
              </a:rPr>
              <a:t>通过管网抽样空气，在明火前很早探测烟雾——高风速机房必备。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355848" y="2880360"/>
            <a:ext cx="2651760" cy="33832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557016" y="3108960"/>
            <a:ext cx="566928" cy="566928"/>
          </a:xfrm>
          <a:prstGeom prst="ellipse">
            <a:avLst/>
          </a:prstGeom>
          <a:solidFill>
            <a:srgbClr val="F0544F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079" y="3245023"/>
            <a:ext cx="294803" cy="294803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3557016" y="3794760"/>
            <a:ext cx="22860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Addressable fire alarm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可寻址火灾报警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3557016" y="4572000"/>
            <a:ext cx="228600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B1D3A"/>
                </a:solidFill>
              </a:rPr>
              <a:t>Alerts people and drives cause-and-effect: HVAC stop, door release, suppression release.</a:t>
            </a:r>
            <a:endParaRPr lang="en-US" sz="11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dirty="0">
                <a:solidFill>
                  <a:schemeClr val="accent1"/>
                </a:solidFill>
              </a:rPr>
              <a:t>警示人员并执行联动：关闭空调、释放门禁、启动灭火。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163056" y="2880360"/>
            <a:ext cx="2651760" cy="33832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364224" y="3108960"/>
            <a:ext cx="566928" cy="566928"/>
          </a:xfrm>
          <a:prstGeom prst="ellipse">
            <a:avLst/>
          </a:prstGeom>
          <a:solidFill>
            <a:srgbClr val="0EA5C6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287" y="3245023"/>
            <a:ext cx="294803" cy="294803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364224" y="3794760"/>
            <a:ext cx="22860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Clean-agent / inert gas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洁净气体 / 惰性气体</a:t>
            </a:r>
            <a:endParaRPr lang="en-US" sz="1350" dirty="0"/>
          </a:p>
        </p:txBody>
      </p:sp>
      <p:sp>
        <p:nvSpPr>
          <p:cNvPr id="27" name="Text 22"/>
          <p:cNvSpPr txBox="1"/>
          <p:nvPr/>
        </p:nvSpPr>
        <p:spPr>
          <a:xfrm>
            <a:off x="6364224" y="4572000"/>
            <a:ext cx="228600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B1D3A"/>
                </a:solidFill>
              </a:rPr>
              <a:t>Floods the room in 10–60 s without residue. Check HFC/PFAS rules for agent supply.</a:t>
            </a:r>
            <a:endParaRPr lang="en-US" sz="11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dirty="0">
                <a:solidFill>
                  <a:schemeClr val="accent1"/>
                </a:solidFill>
              </a:rPr>
              <a:t>10–60 s内全淹没灭火、无残留。需关注HFC/PFAS法规对灭火剂供应的影响。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8970264" y="2880360"/>
            <a:ext cx="2651760" cy="33832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171432" y="3108960"/>
            <a:ext cx="566928" cy="566928"/>
          </a:xfrm>
          <a:prstGeom prst="ellipse">
            <a:avLst/>
          </a:prstGeom>
          <a:solidFill>
            <a:srgbClr val="3F3CBB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7495" y="3245023"/>
            <a:ext cx="294803" cy="294803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171432" y="3794760"/>
            <a:ext cx="22860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Pre-action sprinkler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预作用喷淋</a:t>
            </a:r>
            <a:endParaRPr lang="en-US" sz="1350" dirty="0"/>
          </a:p>
        </p:txBody>
      </p:sp>
      <p:sp>
        <p:nvSpPr>
          <p:cNvPr id="32" name="Text 26"/>
          <p:cNvSpPr txBox="1"/>
          <p:nvPr/>
        </p:nvSpPr>
        <p:spPr>
          <a:xfrm>
            <a:off x="9171432" y="4572000"/>
            <a:ext cx="228600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B1D3A"/>
                </a:solidFill>
              </a:rPr>
              <a:t>Dry pipes fill only after detection + head operation — the hyperscale default.</a:t>
            </a:r>
            <a:endParaRPr lang="en-US" sz="11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dirty="0">
                <a:solidFill>
                  <a:schemeClr val="accent1"/>
                </a:solidFill>
              </a:rPr>
              <a:t>干管仅在探测报警+喷头动作后充水——超大规模数据中心的常规做法。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Physical security in layers: from fence to rack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分层物理安防：从围栏到机柜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280160" y="1601114"/>
            <a:ext cx="4663440" cy="4570171"/>
          </a:xfrm>
          <a:prstGeom prst="ellipse">
            <a:avLst/>
          </a:prstGeom>
          <a:solidFill>
            <a:srgbClr val="D8DBF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91056" y="1905792"/>
            <a:ext cx="4041648" cy="3960815"/>
          </a:xfrm>
          <a:prstGeom prst="ellipse">
            <a:avLst/>
          </a:prstGeom>
          <a:solidFill>
            <a:srgbClr val="C3C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01952" y="2210471"/>
            <a:ext cx="3419856" cy="3351459"/>
          </a:xfrm>
          <a:prstGeom prst="ellipse">
            <a:avLst/>
          </a:prstGeom>
          <a:solidFill>
            <a:srgbClr val="A9AF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12848" y="2515149"/>
            <a:ext cx="2798064" cy="2742103"/>
          </a:xfrm>
          <a:prstGeom prst="ellipse">
            <a:avLst/>
          </a:prstGeom>
          <a:solidFill>
            <a:srgbClr val="8D94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23744" y="2819827"/>
            <a:ext cx="2176272" cy="2132747"/>
          </a:xfrm>
          <a:prstGeom prst="ellipse">
            <a:avLst/>
          </a:prstGeom>
          <a:solidFill>
            <a:srgbClr val="6E76D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3124505"/>
            <a:ext cx="1554480" cy="1523390"/>
          </a:xfrm>
          <a:prstGeom prst="ellipse">
            <a:avLst/>
          </a:prstGeom>
          <a:solidFill>
            <a:srgbClr val="4F57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45536" y="3429183"/>
            <a:ext cx="932688" cy="914034"/>
          </a:xfrm>
          <a:prstGeom prst="ellipse">
            <a:avLst/>
          </a:prstGeom>
          <a:solidFill>
            <a:srgbClr val="2A278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3593592"/>
            <a:ext cx="548640" cy="5486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766560" y="1682496"/>
            <a:ext cx="329184" cy="329184"/>
          </a:xfrm>
          <a:prstGeom prst="ellipse">
            <a:avLst/>
          </a:prstGeom>
          <a:solidFill>
            <a:srgbClr val="D8DBF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766560" y="1682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53F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269480" y="1572768"/>
            <a:ext cx="43891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Perimeter fence + PIDS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50" b="1" dirty="0">
                <a:solidFill>
                  <a:schemeClr val="accent1"/>
                </a:solidFill>
              </a:rPr>
              <a:t>周界围栏+入侵探测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766560" y="2304288"/>
            <a:ext cx="329184" cy="329184"/>
          </a:xfrm>
          <a:prstGeom prst="ellipse">
            <a:avLst/>
          </a:prstGeom>
          <a:solidFill>
            <a:srgbClr val="C3C7E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766560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53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269480" y="2194560"/>
            <a:ext cx="43891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Gatehouse &amp; vehicle barriers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50" b="1" dirty="0">
                <a:solidFill>
                  <a:schemeClr val="accent1"/>
                </a:solidFill>
              </a:rPr>
              <a:t>门卫及车辆拦阻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766560" y="2926080"/>
            <a:ext cx="329184" cy="329184"/>
          </a:xfrm>
          <a:prstGeom prst="ellipse">
            <a:avLst/>
          </a:prstGeom>
          <a:solidFill>
            <a:srgbClr val="A9AFE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76656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53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269480" y="2816352"/>
            <a:ext cx="43891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Building envelope &amp; entry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50" b="1" dirty="0">
                <a:solidFill>
                  <a:schemeClr val="accent1"/>
                </a:solidFill>
              </a:rPr>
              <a:t>建筑外壳及入口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766560" y="3547872"/>
            <a:ext cx="329184" cy="329184"/>
          </a:xfrm>
          <a:prstGeom prst="ellipse">
            <a:avLst/>
          </a:prstGeom>
          <a:solidFill>
            <a:srgbClr val="8D94DE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766560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269480" y="3438144"/>
            <a:ext cx="43891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Lobby mantrap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50" b="1" dirty="0">
                <a:solidFill>
                  <a:schemeClr val="accent1"/>
                </a:solidFill>
              </a:rPr>
              <a:t>大堂防尾随门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766560" y="4169664"/>
            <a:ext cx="329184" cy="329184"/>
          </a:xfrm>
          <a:prstGeom prst="ellipse">
            <a:avLst/>
          </a:prstGeom>
          <a:solidFill>
            <a:srgbClr val="6E76D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766560" y="4169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269480" y="4059936"/>
            <a:ext cx="43891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Data hall — card + biometric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50" b="1" dirty="0">
                <a:solidFill>
                  <a:schemeClr val="accent1"/>
                </a:solidFill>
              </a:rPr>
              <a:t>机房——卡+生物识别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766560" y="4791456"/>
            <a:ext cx="329184" cy="329184"/>
          </a:xfrm>
          <a:prstGeom prst="ellipse">
            <a:avLst/>
          </a:prstGeom>
          <a:solidFill>
            <a:srgbClr val="4F57C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766560" y="4791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269480" y="4681728"/>
            <a:ext cx="43891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Cage / suite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50" b="1" dirty="0">
                <a:solidFill>
                  <a:schemeClr val="accent1"/>
                </a:solidFill>
              </a:rPr>
              <a:t>笼位 / 包间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766560" y="5413248"/>
            <a:ext cx="329184" cy="329184"/>
          </a:xfrm>
          <a:prstGeom prst="ellipse">
            <a:avLst/>
          </a:prstGeom>
          <a:solidFill>
            <a:srgbClr val="2A2785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766560" y="5413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269480" y="5303520"/>
            <a:ext cx="43891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Rack e-lock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50" b="1" dirty="0">
                <a:solidFill>
                  <a:schemeClr val="accent1"/>
                </a:solidFill>
              </a:rPr>
              <a:t>机柜电子锁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766560" y="5943600"/>
            <a:ext cx="48463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B6F8A"/>
                </a:solidFill>
              </a:rPr>
              <a:t>Each layer adds authentication and video verification; CCTV covers every door and aisle with ≥ 90-day retention.</a:t>
            </a:r>
            <a:endParaRPr lang="en-US" sz="10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chemeClr val="accent1"/>
                </a:solidFill>
              </a:rPr>
              <a:t>每层增加认证与视频复核；CCTV覆盖所有门及通道，录像保存≥90天。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Seeing everything: BMS, EPMS and DCIM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全面可视：BMS、EPMS与DCIM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583680" cy="1005840"/>
          </a:xfrm>
          <a:prstGeom prst="roundRect">
            <a:avLst>
              <a:gd name="adj" fmla="val 6364"/>
            </a:avLst>
          </a:prstGeom>
          <a:solidFill>
            <a:srgbClr val="17153F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6537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42416" y="1554480"/>
            <a:ext cx="6053328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Dashboard: NOC / SOC video wall, alarms, KPIs (PUE, WUE)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BDEFFA"/>
                </a:solidFill>
              </a:rPr>
              <a:t>展示层：NOC/SOC大屏、报警、KPI（PUE、WUE）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77240" y="2724912"/>
            <a:ext cx="6126480" cy="1005840"/>
          </a:xfrm>
          <a:prstGeom prst="roundRect">
            <a:avLst>
              <a:gd name="adj" fmla="val 6364"/>
            </a:avLst>
          </a:prstGeom>
          <a:solidFill>
            <a:srgbClr val="3F3CBB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35808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71016" y="2724912"/>
            <a:ext cx="5596128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Applications: BMS · EPMS · DCIM · security (VMS, ACS)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BDEFFA"/>
                </a:solidFill>
              </a:rPr>
              <a:t>应用层：BMS·EPMS·DCIM·安防（视频、门禁）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1005840" y="3895344"/>
            <a:ext cx="5669280" cy="1005840"/>
          </a:xfrm>
          <a:prstGeom prst="roundRect">
            <a:avLst>
              <a:gd name="adj" fmla="val 6364"/>
            </a:avLst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20624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99616" y="3895344"/>
            <a:ext cx="5138928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Network: redundant OT network, BACnet/IP, Modbus TCP, SNMP, IEC 61850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BDEFFA"/>
                </a:solidFill>
              </a:rPr>
              <a:t>网络层：冗余OT网络、BACnet/IP、Modbus TCP、SNMP、IEC 61850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1234440" y="5065776"/>
            <a:ext cx="5212080" cy="1005840"/>
          </a:xfrm>
          <a:prstGeom prst="roundRect">
            <a:avLst>
              <a:gd name="adj" fmla="val 6364"/>
            </a:avLst>
          </a:prstGeom>
          <a:solidFill>
            <a:srgbClr val="0EA5C6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5376672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728216" y="5065776"/>
            <a:ext cx="4681728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Field: meters, PLC/DDC controllers, sensors, rPDUs, leak detection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BDEFFA"/>
                </a:solidFill>
              </a:rPr>
              <a:t>现场层：表计、PLC/DDC控制器、传感器、rPDU、漏水检测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7452360" y="1554480"/>
            <a:ext cx="4187952" cy="1444752"/>
          </a:xfrm>
          <a:prstGeom prst="roundRect">
            <a:avLst>
              <a:gd name="adj" fmla="val 5063"/>
            </a:avLst>
          </a:prstGeom>
          <a:solidFill>
            <a:srgbClr val="F1F2FA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635240" y="1755648"/>
            <a:ext cx="109728" cy="10424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7863840" y="1645920"/>
            <a:ext cx="36118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Building Management System (BMS)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楼宇自控系统（BMS）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7863840" y="2157984"/>
            <a:ext cx="361188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D3A"/>
                </a:solidFill>
              </a:rPr>
              <a:t>Monitors and controls mechanical plant (chillers, pumps, CRAHs, ventilation), fuel, water, leak detection and alarms.</a:t>
            </a:r>
            <a:endParaRPr lang="en-US" sz="9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chemeClr val="accent1"/>
                </a:solidFill>
              </a:rPr>
              <a:t>监控机械设备（冷机、水泵、精密空调、通风）、燃油、给水、漏水检测及报警。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7452360" y="3127248"/>
            <a:ext cx="4187952" cy="1444752"/>
          </a:xfrm>
          <a:prstGeom prst="roundRect">
            <a:avLst>
              <a:gd name="adj" fmla="val 5063"/>
            </a:avLst>
          </a:prstGeom>
          <a:solidFill>
            <a:srgbClr val="F1F2FA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635240" y="3328416"/>
            <a:ext cx="109728" cy="1042416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7863840" y="3218688"/>
            <a:ext cx="36118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Electrical Power Monitoring System (EPMS)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电力监控系统（EPMS）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7863840" y="3730752"/>
            <a:ext cx="361188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D3A"/>
                </a:solidFill>
              </a:rPr>
              <a:t>High-resolution monitoring of the power chain — power quality, sequence of events, breaker status, energy and PUE metering.</a:t>
            </a:r>
            <a:endParaRPr lang="en-US" sz="9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chemeClr val="accent1"/>
                </a:solidFill>
              </a:rPr>
              <a:t>对供电链进行高分辨率监测——电能质量、事件顺序、断路器状态、能耗及PUE计量。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7452360" y="4700016"/>
            <a:ext cx="4187952" cy="1444752"/>
          </a:xfrm>
          <a:prstGeom prst="roundRect">
            <a:avLst>
              <a:gd name="adj" fmla="val 5063"/>
            </a:avLst>
          </a:prstGeom>
          <a:solidFill>
            <a:srgbClr val="F1F2FA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635240" y="4901184"/>
            <a:ext cx="109728" cy="1042416"/>
          </a:xfrm>
          <a:prstGeom prst="rect">
            <a:avLst/>
          </a:prstGeom>
          <a:solidFill>
            <a:srgbClr val="3F3CBB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7863840" y="4791456"/>
            <a:ext cx="36118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Data Center Infrastructure Management (DCIM)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数据中心基础设施管理（DCIM）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7863840" y="5303520"/>
            <a:ext cx="361188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D3A"/>
                </a:solidFill>
              </a:rPr>
              <a:t>Single source of truth for assets, space, power and cooling capacity, connectivity and change management; dashboards for KPIs (PUE, WUE, CUE).</a:t>
            </a:r>
            <a:endParaRPr lang="en-US" sz="9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chemeClr val="accent1"/>
                </a:solidFill>
              </a:rPr>
              <a:t>资产、空间、电力与制冷容量、连接及变更管理的统一数据源；KPI仪表盘（PUE、WUE、CUE）。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223760" y="822960"/>
            <a:ext cx="4937760" cy="4937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2344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0EA5C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</a:t>
            </a:r>
            <a:endParaRPr lang="en-US" sz="9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7889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Supporting Systems &amp; Project Lifecycle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8404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BDEFFA"/>
                </a:solidFill>
              </a:rPr>
              <a:t>支持系统与项目全生命周期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663440"/>
            <a:ext cx="65836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D6D8F5"/>
                </a:solidFill>
              </a:rPr>
              <a:t>The “small” components, the building itself, and how a project is delivered.</a:t>
            </a:r>
            <a:endParaRPr lang="en-US" sz="14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BDEFFA"/>
                </a:solidFill>
              </a:rPr>
              <a:t>“小”部件、建筑本身，以及项目如何交付。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A3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Secondary components that make or break reliability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决定可靠性的次要部件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19656"/>
            <a:ext cx="640080" cy="640080"/>
          </a:xfrm>
          <a:prstGeom prst="ellipse">
            <a:avLst/>
          </a:prstGeom>
          <a:solidFill>
            <a:srgbClr val="3F3CB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427" y="1973275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18488"/>
            <a:ext cx="16002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Raised floor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架空地板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55848" y="1481328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57016" y="1819656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635" y="1973275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15968" y="1618488"/>
            <a:ext cx="16002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Cable trays &amp; raceway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桥架与光纤槽道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63056" y="1481328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64224" y="1819656"/>
            <a:ext cx="640080" cy="640080"/>
          </a:xfrm>
          <a:prstGeom prst="ellipse">
            <a:avLst/>
          </a:prstGeom>
          <a:solidFill>
            <a:srgbClr val="0EA5C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843" y="1973275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23176" y="1618488"/>
            <a:ext cx="16002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Blanking panels &amp; brush strips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盲板与毛刷条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970264" y="1481328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171432" y="1819656"/>
            <a:ext cx="640080" cy="640080"/>
          </a:xfrm>
          <a:prstGeom prst="ellipse">
            <a:avLst/>
          </a:prstGeom>
          <a:solidFill>
            <a:srgbClr val="F0544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051" y="1973275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930384" y="1618488"/>
            <a:ext cx="16002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Leak detection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漏水检测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2944368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49808" y="3282696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427" y="3436315"/>
            <a:ext cx="332842" cy="33284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508760" y="3081528"/>
            <a:ext cx="16002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LED &amp; emergency lighting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LED及应急照明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3355848" y="2944368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557016" y="3282696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0635" y="3436315"/>
            <a:ext cx="332842" cy="33284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315968" y="3081528"/>
            <a:ext cx="16002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Earthing &amp; bonding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接地与等电位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163056" y="2944368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6364224" y="3282696"/>
            <a:ext cx="640080" cy="640080"/>
          </a:xfrm>
          <a:prstGeom prst="ellipse">
            <a:avLst/>
          </a:prstGeom>
          <a:solidFill>
            <a:srgbClr val="3F3CBB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7843" y="3436315"/>
            <a:ext cx="332842" cy="332842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123176" y="3081528"/>
            <a:ext cx="16002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Lightning &amp; SPD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防雷与浪涌保护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8970264" y="2944368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9171432" y="3282696"/>
            <a:ext cx="640080" cy="640080"/>
          </a:xfrm>
          <a:prstGeom prst="ellipse">
            <a:avLst/>
          </a:prstGeom>
          <a:solidFill>
            <a:srgbClr val="0EA5C6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5051" y="3436315"/>
            <a:ext cx="332842" cy="332842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9930384" y="3081528"/>
            <a:ext cx="16002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Water treatment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水处理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548640" y="4407408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749808" y="4745736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3427" y="4899355"/>
            <a:ext cx="332842" cy="332842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1508760" y="4544568"/>
            <a:ext cx="16002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VFDs &amp; controls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变频器与控制</a:t>
            </a:r>
            <a:endParaRPr lang="en-US" sz="1300" dirty="0"/>
          </a:p>
        </p:txBody>
      </p:sp>
      <p:sp>
        <p:nvSpPr>
          <p:cNvPr id="40" name="Shape 29"/>
          <p:cNvSpPr/>
          <p:nvPr/>
        </p:nvSpPr>
        <p:spPr>
          <a:xfrm>
            <a:off x="3355848" y="4407408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3557016" y="4745736"/>
            <a:ext cx="640080" cy="640080"/>
          </a:xfrm>
          <a:prstGeom prst="ellipse">
            <a:avLst/>
          </a:prstGeom>
          <a:solidFill>
            <a:srgbClr val="F0544F"/>
          </a:solidFill>
          <a:ln/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635" y="4899355"/>
            <a:ext cx="332842" cy="332842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4315968" y="4544568"/>
            <a:ext cx="16002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Environmental sensors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环境传感器</a:t>
            </a:r>
            <a:endParaRPr lang="en-US" sz="1300" dirty="0"/>
          </a:p>
        </p:txBody>
      </p:sp>
      <p:sp>
        <p:nvSpPr>
          <p:cNvPr id="44" name="Shape 32"/>
          <p:cNvSpPr/>
          <p:nvPr/>
        </p:nvSpPr>
        <p:spPr>
          <a:xfrm>
            <a:off x="6163056" y="4407408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45" name="Shape 33"/>
          <p:cNvSpPr/>
          <p:nvPr/>
        </p:nvSpPr>
        <p:spPr>
          <a:xfrm>
            <a:off x="6364224" y="4745736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7843" y="4899355"/>
            <a:ext cx="332842" cy="332842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7123176" y="4544568"/>
            <a:ext cx="16002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Loading dock &amp; lift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装卸平台与货梯</a:t>
            </a:r>
            <a:endParaRPr lang="en-US" sz="1300" dirty="0"/>
          </a:p>
        </p:txBody>
      </p:sp>
      <p:sp>
        <p:nvSpPr>
          <p:cNvPr id="48" name="Shape 35"/>
          <p:cNvSpPr/>
          <p:nvPr/>
        </p:nvSpPr>
        <p:spPr>
          <a:xfrm>
            <a:off x="8970264" y="4407408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49" name="Shape 36"/>
          <p:cNvSpPr/>
          <p:nvPr/>
        </p:nvSpPr>
        <p:spPr>
          <a:xfrm>
            <a:off x="9171432" y="4745736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25051" y="4899355"/>
            <a:ext cx="332842" cy="332842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9930384" y="4544568"/>
            <a:ext cx="16002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Staging &amp; spares store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预置区与备件库</a:t>
            </a:r>
            <a:endParaRPr lang="en-US" sz="1300" dirty="0"/>
          </a:p>
        </p:txBody>
      </p:sp>
      <p:sp>
        <p:nvSpPr>
          <p:cNvPr id="52" name="Text 38"/>
          <p:cNvSpPr txBox="1"/>
          <p:nvPr/>
        </p:nvSpPr>
        <p:spPr>
          <a:xfrm>
            <a:off x="548640" y="5897880"/>
            <a:ext cx="7315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6F8A"/>
                </a:solidFill>
              </a:rPr>
              <a:t>Details and TPG for every item are in the companion Word specification.</a:t>
            </a:r>
            <a:endParaRPr lang="en-US" sz="9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chemeClr val="accent1"/>
                </a:solidFill>
              </a:rPr>
              <a:t>各部件的详细要求及TPG见配套Word技术规范。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Civil, structural &amp; architectural requirements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土建、结构与建筑要求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48640" cy="73152"/>
          </a:xfrm>
          <a:prstGeom prst="rect">
            <a:avLst/>
          </a:prstGeom>
          <a:solidFill>
            <a:srgbClr val="3F3CB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20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F3CB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15–25 kN/m²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31089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White-space floor live load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chemeClr val="accent1"/>
                </a:solidFill>
              </a:rPr>
              <a:t>白区楼面活荷载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70248" y="150876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44568" y="1783080"/>
            <a:ext cx="548640" cy="73152"/>
          </a:xfrm>
          <a:prstGeom prst="rect">
            <a:avLst/>
          </a:prstGeom>
          <a:solidFill>
            <a:srgbClr val="0EA5C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1920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A5C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4.5–6 m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2743200"/>
            <a:ext cx="31089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Clear height (overhead services)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chemeClr val="accent1"/>
                </a:solidFill>
              </a:rPr>
              <a:t>净高（上走线机电）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91856" y="150876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66176" y="1783080"/>
            <a:ext cx="548640" cy="73152"/>
          </a:xfrm>
          <a:prstGeom prst="rect">
            <a:avLst/>
          </a:prstGeom>
          <a:solidFill>
            <a:srgbClr val="F054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47888" y="1920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54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h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266176" y="2743200"/>
            <a:ext cx="31089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Fire separation between halls &amp; plant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chemeClr val="accent1"/>
                </a:solidFill>
              </a:rPr>
              <a:t>机房与设备间防火分隔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04488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178808"/>
            <a:ext cx="54864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43159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Ie 1.25–1.5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138928"/>
            <a:ext cx="31089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Seismic importance factor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chemeClr val="accent1"/>
                </a:solidFill>
              </a:rPr>
              <a:t>抗震重要性系数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70248" y="3904488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44568" y="4178808"/>
            <a:ext cx="54864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26280" y="43159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&gt; 100-yr flood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4544568" y="5138928"/>
            <a:ext cx="31089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Ground floor above design flood + freeboard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chemeClr val="accent1"/>
                </a:solidFill>
              </a:rPr>
              <a:t>首层高于设计洪水位并留超高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91856" y="3904488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66176" y="4178808"/>
            <a:ext cx="548640" cy="731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47888" y="43159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≥ 3 t lift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8266176" y="5138928"/>
            <a:ext cx="31089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Freight lift &amp; 2.7–3 m door height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chemeClr val="accent1"/>
                </a:solidFill>
              </a:rPr>
              <a:t>货梯及2.7–3 m门洞净高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Project lifecycle: from idea to Ready-for-Service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项目全生命周期：从构想到投产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264603" cy="731520"/>
          </a:xfrm>
          <a:prstGeom prst="chevron">
            <a:avLst/>
          </a:prstGeom>
          <a:solidFill>
            <a:srgbClr val="3F3CB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377440"/>
            <a:ext cx="2036003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Strategy &amp; Business Case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战略与商业论证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035808"/>
            <a:ext cx="2036003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D3A"/>
                </a:solidFill>
              </a:rPr>
              <a:t>Demand, business model, target market, funding strategy.</a:t>
            </a:r>
            <a:endParaRPr lang="en-US" sz="9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chemeClr val="accent1"/>
                </a:solidFill>
              </a:rPr>
              <a:t>需求、商业模式、目标市场、融资策略。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67523" y="1554480"/>
            <a:ext cx="2264603" cy="731520"/>
          </a:xfrm>
          <a:prstGeom prst="chevron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87563" y="15544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840675" y="2377440"/>
            <a:ext cx="2036003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Feasibility &amp; Site Selection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可行性研究与选址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840675" y="3035808"/>
            <a:ext cx="2036003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D3A"/>
                </a:solidFill>
              </a:rPr>
              <a:t>Power &amp; fibre availability, hazards, land, permits, CAPEX/OPEX, financial model.</a:t>
            </a:r>
            <a:endParaRPr lang="en-US" sz="9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chemeClr val="accent1"/>
                </a:solidFill>
              </a:rPr>
              <a:t>电力与光纤可得性、灾害、土地、许可、投资/运营成本、财务模型。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86406" y="1554480"/>
            <a:ext cx="2264603" cy="731520"/>
          </a:xfrm>
          <a:prstGeom prst="chevron">
            <a:avLst/>
          </a:prstGeom>
          <a:solidFill>
            <a:srgbClr val="0EA5C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06446" y="15544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059558" y="2377440"/>
            <a:ext cx="2036003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Permits &amp; Utility Applications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报批报建与公用事业申请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59558" y="3035808"/>
            <a:ext cx="2036003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D3A"/>
                </a:solidFill>
              </a:rPr>
              <a:t>Grid connection, environmental approval, building permit, water rights.</a:t>
            </a:r>
            <a:endParaRPr lang="en-US" sz="9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chemeClr val="accent1"/>
                </a:solidFill>
              </a:rPr>
              <a:t>电网接入、环境审批、建筑许可、取水许可。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05289" y="1554480"/>
            <a:ext cx="2264603" cy="731520"/>
          </a:xfrm>
          <a:prstGeom prst="chevron">
            <a:avLst/>
          </a:prstGeom>
          <a:solidFill>
            <a:srgbClr val="3F3CB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25329" y="15544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278441" y="2377440"/>
            <a:ext cx="2036003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Concept &amp; Basis of Design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概念设计与设计依据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278441" y="3035808"/>
            <a:ext cx="2036003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D3A"/>
                </a:solidFill>
              </a:rPr>
              <a:t>Tier, capacity, density, cooling and power architecture frozen.</a:t>
            </a:r>
            <a:endParaRPr lang="en-US" sz="9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chemeClr val="accent1"/>
                </a:solidFill>
              </a:rPr>
              <a:t>确定Tier、容量、密度、制冷与供电架构。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424172" y="1554480"/>
            <a:ext cx="2264603" cy="731520"/>
          </a:xfrm>
          <a:prstGeom prst="chevron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44212" y="15544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497324" y="2377440"/>
            <a:ext cx="2036003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Schematic &amp; Detailed Design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方案及详细设计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497324" y="3035808"/>
            <a:ext cx="2036003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D3A"/>
                </a:solidFill>
              </a:rPr>
              <a:t>Drawings, specifications, TPG, BOQ, tender documents; Tier design certification.</a:t>
            </a:r>
            <a:endParaRPr lang="en-US" sz="9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chemeClr val="accent1"/>
                </a:solidFill>
              </a:rPr>
              <a:t>图纸、技术规范、TPG、工程量清单、招标文件；Tier设计认证。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2264603" cy="731520"/>
          </a:xfrm>
          <a:prstGeom prst="chevron">
            <a:avLst/>
          </a:prstGeom>
          <a:solidFill>
            <a:srgbClr val="F2A93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393192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" y="4754880"/>
            <a:ext cx="2036003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Procurement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采购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" y="5413248"/>
            <a:ext cx="2036003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D3A"/>
                </a:solidFill>
              </a:rPr>
              <a:t>Long-lead items first: transformers, generators, MV switchgear, UPS, chillers.</a:t>
            </a:r>
            <a:endParaRPr lang="en-US" sz="9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chemeClr val="accent1"/>
                </a:solidFill>
              </a:rPr>
              <a:t>优先采购长周期设备：变压器、发电机、中压开关柜、UPS、冷机。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67523" y="3931920"/>
            <a:ext cx="2264603" cy="731520"/>
          </a:xfrm>
          <a:prstGeom prst="chevron">
            <a:avLst/>
          </a:prstGeom>
          <a:solidFill>
            <a:srgbClr val="F054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087563" y="393192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7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2840675" y="4754880"/>
            <a:ext cx="2036003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Construction &amp; Installation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施工与安装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840675" y="5413248"/>
            <a:ext cx="2036003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D3A"/>
                </a:solidFill>
              </a:rPr>
              <a:t>Civil/structural, building envelope, MEP installation, QA/QC.</a:t>
            </a:r>
            <a:endParaRPr lang="en-US" sz="9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chemeClr val="accent1"/>
                </a:solidFill>
              </a:rPr>
              <a:t>土建/结构、建筑围护、机电安装、质量控制。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86406" y="3931920"/>
            <a:ext cx="2264603" cy="731520"/>
          </a:xfrm>
          <a:prstGeom prst="chevron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306446" y="393192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5059558" y="4754880"/>
            <a:ext cx="2036003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Testing &amp; Commissioning (L1–L5)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测试与调试（L1–L5）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059558" y="5413248"/>
            <a:ext cx="2036003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D3A"/>
                </a:solidFill>
              </a:rPr>
              <a:t>FAT → installation checks → start-up → functional tests → integrated systems test.</a:t>
            </a:r>
            <a:endParaRPr lang="en-US" sz="9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chemeClr val="accent1"/>
                </a:solidFill>
              </a:rPr>
              <a:t>工厂测试→安装检查→单机启动→系统功能测试→综合系统测试。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205289" y="3931920"/>
            <a:ext cx="2264603" cy="731520"/>
          </a:xfrm>
          <a:prstGeom prst="chevron">
            <a:avLst/>
          </a:prstGeom>
          <a:solidFill>
            <a:srgbClr val="0EA5C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525329" y="393192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9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7278441" y="4754880"/>
            <a:ext cx="2036003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Handover &amp; Ready-for-Service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移交与投产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278441" y="5413248"/>
            <a:ext cx="2036003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D3A"/>
                </a:solidFill>
              </a:rPr>
              <a:t>As-builts, O&amp;M manuals, training, Tier facility certification, customer onboarding.</a:t>
            </a:r>
            <a:endParaRPr lang="en-US" sz="9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chemeClr val="accent1"/>
                </a:solidFill>
              </a:rPr>
              <a:t>竣工图、运维手册、培训、Tier设施认证、客户入驻。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424172" y="3931920"/>
            <a:ext cx="2264603" cy="731520"/>
          </a:xfrm>
          <a:prstGeom prst="chevron">
            <a:avLst/>
          </a:prstGeom>
          <a:solidFill>
            <a:srgbClr val="17153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744212" y="393192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10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9497324" y="4754880"/>
            <a:ext cx="2036003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Operations &amp; Optimisation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运营与优化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497324" y="5413248"/>
            <a:ext cx="2036003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D3A"/>
                </a:solidFill>
              </a:rPr>
              <a:t>24/7 operations, maintenance, capacity management, PUE optimisation, expansions.</a:t>
            </a:r>
            <a:endParaRPr lang="en-US" sz="9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chemeClr val="accent1"/>
                </a:solidFill>
              </a:rPr>
              <a:t>7×24运营、维护、容量管理、PUE优化、扩建。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Commissioning levels L1–L5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调试等级L1–L5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0"/>
            <a:ext cx="2103120" cy="1188720"/>
          </a:xfrm>
          <a:prstGeom prst="rect">
            <a:avLst/>
          </a:prstGeom>
          <a:solidFill>
            <a:srgbClr val="A5B4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5120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5577840"/>
            <a:ext cx="18745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Factory Acceptance Test (FAT)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E0E7FF"/>
                </a:solidFill>
              </a:rPr>
              <a:t>工厂验收测试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4480560"/>
            <a:ext cx="2103120" cy="17373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26080" y="4572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5029200"/>
            <a:ext cx="18745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Delivery &amp; Installation Verification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E0E7FF"/>
                </a:solidFill>
              </a:rPr>
              <a:t>到货及安装检查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3931920"/>
            <a:ext cx="2103120" cy="2286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66360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4480560"/>
            <a:ext cx="18745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Start-up / Pre-functional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E0E7FF"/>
                </a:solidFill>
              </a:rPr>
              <a:t>单机启动 / 预功能测试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5138928"/>
            <a:ext cx="18745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EF0FF"/>
                </a:solidFill>
              </a:rPr>
              <a:t>Energise and start each component individually.</a:t>
            </a:r>
            <a:endParaRPr lang="en-US" sz="9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E0E7FF"/>
                </a:solidFill>
              </a:rPr>
              <a:t>对各组件逐一通电启动。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269480" y="3383280"/>
            <a:ext cx="2103120" cy="283464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06640" y="3474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L4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3931920"/>
            <a:ext cx="18745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Functional Performance Test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E0E7FF"/>
                </a:solidFill>
              </a:rPr>
              <a:t>系统功能性能测试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4590288"/>
            <a:ext cx="187452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EF0FF"/>
                </a:solidFill>
              </a:rPr>
              <a:t>Test each system under load (load banks) incl. failure modes.</a:t>
            </a:r>
            <a:endParaRPr lang="en-US" sz="9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E0E7FF"/>
                </a:solidFill>
              </a:rPr>
              <a:t>在负载（负载箱）下测试每个系统，包括故障模式。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509760" y="2834640"/>
            <a:ext cx="2103120" cy="3383280"/>
          </a:xfrm>
          <a:prstGeom prst="rect">
            <a:avLst/>
          </a:prstGeom>
          <a:solidFill>
            <a:srgbClr val="1715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46920" y="2926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L5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9646920" y="3383280"/>
            <a:ext cx="18745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Integrated Systems Test (IST)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E0E7FF"/>
                </a:solidFill>
              </a:rPr>
              <a:t>综合系统测试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646920" y="4041648"/>
            <a:ext cx="187452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EF0FF"/>
                </a:solidFill>
              </a:rPr>
              <a:t>All systems together: utility failure, generator start, UPS, cooling recovery.</a:t>
            </a:r>
            <a:endParaRPr lang="en-US" sz="9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E0E7FF"/>
                </a:solidFill>
              </a:rPr>
              <a:t>所有系统联合测试：市电失效、发电机启动、UPS、制冷恢复。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1463040"/>
            <a:ext cx="676656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L1–L3 prove each component; L4 tests each system under load-bank heat; L5 (IST) fails utility, generators, UPS and chillers together with the full heat load.</a:t>
            </a:r>
            <a:endParaRPr lang="en-US" sz="12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50" dirty="0">
                <a:solidFill>
                  <a:schemeClr val="accent1"/>
                </a:solidFill>
              </a:rPr>
              <a:t>L1–L3验证每个组件；L4在负载箱热负荷下测试各系统；L5（综合测试）在满热负荷下联合模拟市电、发电机、UPS及冷机失效。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1463040"/>
            <a:ext cx="41148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6B6F8A"/>
                </a:solidFill>
              </a:rPr>
              <a:t>L1 at factory (FAT) · L2–L5 on site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L1在工厂（FAT）· L2–L5在现场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does it cost? Indicative CAPEX structure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投资多少？参考投资构成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5778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417320"/>
          <a:ext cx="5349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309360" y="5440680"/>
            <a:ext cx="53492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F8A"/>
                </a:solidFill>
              </a:rPr>
              <a:t>Shell + MEP fit-out, Tier III, excluding land and IT hardware. Planning values — calibrate with a quantity surveyor for each project.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含建筑主体及机电装修，Tier III，不含土地及IT硬件。规划参考值——各项目需由造价顾问校准。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Feasibility checklist: what decides a site and a project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可行性清单：决定场地与项目的因素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1F2FA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91056"/>
            <a:ext cx="493776" cy="493776"/>
          </a:xfrm>
          <a:prstGeom prst="ellipse">
            <a:avLst/>
          </a:prstGeom>
          <a:solidFill>
            <a:srgbClr val="3F3CB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306" y="1709562"/>
            <a:ext cx="256764" cy="2567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517904"/>
            <a:ext cx="4572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Power availability, cost &amp; timeline (MVA, kV, tariff)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电力可得性、成本与时间（MVA、电压、电价）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53912" y="1481328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1F2FA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91072" y="1591056"/>
            <a:ext cx="493776" cy="493776"/>
          </a:xfrm>
          <a:prstGeom prst="ellipse">
            <a:avLst/>
          </a:prstGeom>
          <a:solidFill>
            <a:srgbClr val="0EA5C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578" y="1709562"/>
            <a:ext cx="256764" cy="2567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931152" y="1517904"/>
            <a:ext cx="4572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Fibre routes, carriers, latency to users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光纤路由、运营商、到用户的时延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2286000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85800" y="2395728"/>
            <a:ext cx="493776" cy="493776"/>
          </a:xfrm>
          <a:prstGeom prst="ellipse">
            <a:avLst/>
          </a:prstGeom>
          <a:solidFill>
            <a:srgbClr val="3F3CB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06" y="2514234"/>
            <a:ext cx="256764" cy="25676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25880" y="2322576"/>
            <a:ext cx="4572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Natural hazards: flood, seismic, storms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自然灾害：洪水、地震、风暴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53912" y="2286000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291072" y="2395728"/>
            <a:ext cx="493776" cy="493776"/>
          </a:xfrm>
          <a:prstGeom prst="ellipse">
            <a:avLst/>
          </a:prstGeom>
          <a:solidFill>
            <a:srgbClr val="0EA5C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578" y="2514234"/>
            <a:ext cx="256764" cy="25676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931152" y="2322576"/>
            <a:ext cx="4572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Land, zoning, permits &amp; setbacks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土地、规划、许可及退界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3090672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1F2FA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85800" y="3200400"/>
            <a:ext cx="493776" cy="493776"/>
          </a:xfrm>
          <a:prstGeom prst="ellipse">
            <a:avLst/>
          </a:prstGeom>
          <a:solidFill>
            <a:srgbClr val="3F3CB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306" y="3318906"/>
            <a:ext cx="256764" cy="25676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25880" y="3127248"/>
            <a:ext cx="4572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Water availability &amp; cooling strategy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水资源及制冷策略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153912" y="3090672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1F2FA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291072" y="3200400"/>
            <a:ext cx="493776" cy="493776"/>
          </a:xfrm>
          <a:prstGeom prst="ellipse">
            <a:avLst/>
          </a:prstGeom>
          <a:solidFill>
            <a:srgbClr val="0EA5C6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578" y="3318906"/>
            <a:ext cx="256764" cy="25676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931152" y="3127248"/>
            <a:ext cx="4572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Climate: free-cooling hours, design wet-bulb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气候：自然冷却时数、设计湿球温度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548640" y="3895344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85800" y="4005072"/>
            <a:ext cx="493776" cy="493776"/>
          </a:xfrm>
          <a:prstGeom prst="ellipse">
            <a:avLst/>
          </a:prstGeom>
          <a:solidFill>
            <a:srgbClr val="3F3CBB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306" y="4123578"/>
            <a:ext cx="256764" cy="256764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325880" y="3931920"/>
            <a:ext cx="4572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Regulation: data sovereignty, PDP law, incentives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法规：数据主权、个人数据保护法、激励政策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153912" y="3895344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6291072" y="4005072"/>
            <a:ext cx="493776" cy="493776"/>
          </a:xfrm>
          <a:prstGeom prst="ellipse">
            <a:avLst/>
          </a:prstGeom>
          <a:solidFill>
            <a:srgbClr val="0EA5C6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9578" y="4123578"/>
            <a:ext cx="256764" cy="256764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931152" y="3931920"/>
            <a:ext cx="4572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Market demand, pricing &amp; anchor tenants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市场需求、定价及锚定租户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548640" y="4700016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1F2FA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685800" y="4809744"/>
            <a:ext cx="493776" cy="493776"/>
          </a:xfrm>
          <a:prstGeom prst="ellipse">
            <a:avLst/>
          </a:prstGeom>
          <a:solidFill>
            <a:srgbClr val="3F3CBB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306" y="4928250"/>
            <a:ext cx="256764" cy="256764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1325880" y="4736592"/>
            <a:ext cx="4572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Skilled workforce &amp; O&amp;M partners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技术人员及运维合作伙伴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6153912" y="4700016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1F2FA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6291072" y="4809744"/>
            <a:ext cx="493776" cy="493776"/>
          </a:xfrm>
          <a:prstGeom prst="ellipse">
            <a:avLst/>
          </a:prstGeom>
          <a:solidFill>
            <a:srgbClr val="0EA5C6"/>
          </a:solidFill>
          <a:ln/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9578" y="4928250"/>
            <a:ext cx="256764" cy="256764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6931152" y="4736592"/>
            <a:ext cx="4572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CAPEX, OPEX, IRR &amp; financing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投资、运营成本、IRR及融资</a:t>
            </a:r>
            <a:endParaRPr lang="en-US" sz="1200" dirty="0"/>
          </a:p>
        </p:txBody>
      </p:sp>
      <p:sp>
        <p:nvSpPr>
          <p:cNvPr id="44" name="Shape 32"/>
          <p:cNvSpPr/>
          <p:nvPr/>
        </p:nvSpPr>
        <p:spPr>
          <a:xfrm>
            <a:off x="548640" y="5504688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685800" y="5614416"/>
            <a:ext cx="493776" cy="493776"/>
          </a:xfrm>
          <a:prstGeom prst="ellipse">
            <a:avLst/>
          </a:prstGeom>
          <a:solidFill>
            <a:srgbClr val="3F3CBB"/>
          </a:solidFill>
          <a:ln/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306" y="5732922"/>
            <a:ext cx="256764" cy="256764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1325880" y="5541264"/>
            <a:ext cx="4572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Sustainability: renewables, PUE/WUE targets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可持续：可再生能源、PUE/WUE目标</a:t>
            </a:r>
            <a:endParaRPr lang="en-US" sz="1200" dirty="0"/>
          </a:p>
        </p:txBody>
      </p:sp>
      <p:sp>
        <p:nvSpPr>
          <p:cNvPr id="48" name="Shape 35"/>
          <p:cNvSpPr/>
          <p:nvPr/>
        </p:nvSpPr>
        <p:spPr>
          <a:xfrm>
            <a:off x="6153912" y="5504688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49" name="Shape 36"/>
          <p:cNvSpPr/>
          <p:nvPr/>
        </p:nvSpPr>
        <p:spPr>
          <a:xfrm>
            <a:off x="6291072" y="5614416"/>
            <a:ext cx="493776" cy="493776"/>
          </a:xfrm>
          <a:prstGeom prst="ellipse">
            <a:avLst/>
          </a:prstGeom>
          <a:solidFill>
            <a:srgbClr val="0EA5C6"/>
          </a:solidFill>
          <a:ln/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9578" y="5732922"/>
            <a:ext cx="256764" cy="256764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6931152" y="5541264"/>
            <a:ext cx="4572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Schedule &amp; long-lead equipment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进度及长周期设备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Sustainability is now a design requirement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可持续性已成为设计要求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415 TWh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31136"/>
            <a:ext cx="33832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Data-centre electricity use in 2024 (IEA)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2024年数据中心用电量（IEA）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× 2 by 2030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39896"/>
            <a:ext cx="33832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Projected growth, driven by AI (IEA base case)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预计增长，主要由AI驱动（IEA基准情景）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805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&gt; 80%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248656"/>
            <a:ext cx="33832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Green-power target for new China hub DCs (2025)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chemeClr val="accent1"/>
                </a:solidFill>
              </a:rPr>
              <a:t>中国新建枢纽数据中心绿电目标（2025）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508760"/>
            <a:ext cx="7342632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737360"/>
            <a:ext cx="594360" cy="594360"/>
          </a:xfrm>
          <a:prstGeom prst="ellipse">
            <a:avLst/>
          </a:prstGeom>
          <a:solidFill>
            <a:srgbClr val="0EA5C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3206" y="1880006"/>
            <a:ext cx="309067" cy="309067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257800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Energy efficiency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能效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1600200"/>
            <a:ext cx="43434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Higher temperatures, economisers, liquid cooling, efficient UPS → lower PUE.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dirty="0">
                <a:solidFill>
                  <a:schemeClr val="accent1"/>
                </a:solidFill>
              </a:rPr>
              <a:t>提高温度、自然冷却、液冷、高效UPS→降低PUE。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97680" y="2697480"/>
            <a:ext cx="7342632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0560" y="292608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206" y="3068726"/>
            <a:ext cx="309067" cy="30906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257800" y="2788920"/>
            <a:ext cx="1828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Renewable power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可再生能源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7178040" y="2788920"/>
            <a:ext cx="43434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Green tariffs, PPAs, RECs and on-site solar (e.g. PLN green energy products).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dirty="0">
                <a:solidFill>
                  <a:schemeClr val="accent1"/>
                </a:solidFill>
              </a:rPr>
              <a:t>绿电电价、购电协议、绿证及屋面光伏（如PLN绿电产品）。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297680" y="3886200"/>
            <a:ext cx="7342632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480560" y="4114800"/>
            <a:ext cx="594360" cy="594360"/>
          </a:xfrm>
          <a:prstGeom prst="ellipse">
            <a:avLst/>
          </a:prstGeom>
          <a:solidFill>
            <a:srgbClr val="3F3CB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206" y="4257446"/>
            <a:ext cx="309067" cy="30906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257800" y="3977640"/>
            <a:ext cx="1828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Water stewardship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水资源管理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7178040" y="3977640"/>
            <a:ext cx="43434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Closed loops, dry coolers, recycled water; track WUE.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dirty="0">
                <a:solidFill>
                  <a:schemeClr val="accent1"/>
                </a:solidFill>
              </a:rPr>
              <a:t>闭式环路、干冷器、再生水；追踪WUE。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297680" y="5074920"/>
            <a:ext cx="7342632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480560" y="5303520"/>
            <a:ext cx="594360" cy="59436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206" y="5446166"/>
            <a:ext cx="309067" cy="30906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257800" y="5166360"/>
            <a:ext cx="1828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Heat reuse &amp; circularity</a:t>
            </a:r>
            <a:endParaRPr lang="en-US" sz="13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chemeClr val="accent1"/>
                </a:solidFill>
              </a:rPr>
              <a:t>余热利用与循环</a:t>
            </a:r>
            <a:endParaRPr lang="en-US" sz="1350" dirty="0"/>
          </a:p>
        </p:txBody>
      </p:sp>
      <p:sp>
        <p:nvSpPr>
          <p:cNvPr id="29" name="Text 23"/>
          <p:cNvSpPr txBox="1"/>
          <p:nvPr/>
        </p:nvSpPr>
        <p:spPr>
          <a:xfrm>
            <a:off x="7178040" y="5166360"/>
            <a:ext cx="43434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District heating, low-GWP refrigerants, embodied-carbon reduction.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dirty="0">
                <a:solidFill>
                  <a:schemeClr val="accent1"/>
                </a:solidFill>
              </a:rPr>
              <a:t>区域供暖、低GWP冷媒、减少隐含碳。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Bilingual glossary of key terms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关键术语中英对照</a:t>
            </a:r>
            <a:endParaRPr lang="en-US" sz="18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4406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7490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Term 术语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Meaning 含义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F3CBB"/>
                          </a:solidFill>
                        </a:rPr>
                        <a:t>PUE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</a:rPr>
                        <a:t>电能利用效率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Power Usage Effectiveness = total facility energy ÷ IT energy (ideal 1.0).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总设施能耗÷IT能耗（理想值1.0）。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F3CBB"/>
                          </a:solidFill>
                        </a:rPr>
                        <a:t>WUE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</a:rPr>
                        <a:t>水利用效率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Water Usage Effectiveness = site water (L) ÷ IT energy (kWh).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场地用水量（L）÷IT能耗（kWh）。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F3CBB"/>
                          </a:solidFill>
                        </a:rPr>
                        <a:t>UPS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</a:rPr>
                        <a:t>不间断电源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Uninterruptible Power Supply bridging power until generators start.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在发电机启动前桥接供电的不间断电源。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F3CBB"/>
                          </a:solidFill>
                        </a:rPr>
                        <a:t>ATS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</a:rPr>
                        <a:t>自动转换开关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Automatic Transfer Switch — transfers load between two power sources.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在两路电源之间自动切换负荷的开关。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F3CBB"/>
                          </a:solidFill>
                        </a:rPr>
                        <a:t>STS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</a:rPr>
                        <a:t>静态转换开关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Static Transfer Switch switching between two UPS sources in &lt; 4 ms.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在&lt;4 ms内于两路UPS间切换的静态开关。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F3CBB"/>
                          </a:solidFill>
                        </a:rPr>
                        <a:t>PDU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</a:rPr>
                        <a:t>列头配电柜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Power Distribution Unit feeding racks from UPS.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从UPS向机柜供电的配电单元。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F3CBB"/>
                          </a:solidFill>
                        </a:rPr>
                        <a:t>CRAH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</a:rPr>
                        <a:t>冷冻水型精密空调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Computer Room Air Handler using chilled water coils.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使用冷冻水盘管的机房空气处理机。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F3CBB"/>
                          </a:solidFill>
                        </a:rPr>
                        <a:t>CDU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</a:rPr>
                        <a:t>冷量分配单元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Coolant Distribution Unit separating facility water from the technology cooling loop.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将设施水与技术冷却环路隔离的冷却液分配单元。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53912" y="1463040"/>
          <a:ext cx="54406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7490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Term 术语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Meaning 含义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F3CBB"/>
                          </a:solidFill>
                        </a:rPr>
                        <a:t>CAC / HAC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</a:rPr>
                        <a:t>冷/热通道封闭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Cold- or hot-aisle containment separating supply and exhaust air.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隔离送风与排风的冷通道或热通道封闭。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F3CBB"/>
                          </a:solidFill>
                        </a:rPr>
                        <a:t>MMR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</a:rPr>
                        <a:t>运营商交汇间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Meet-Me Room where carriers interconnect with tenants.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运营商与租户进行互联的房间。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F3CBB"/>
                          </a:solidFill>
                        </a:rPr>
                        <a:t>DCIM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</a:rPr>
                        <a:t>数据中心基础设施管理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Software managing assets, capacity, power and environment.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管理资产、容量、电力及环境的软件。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F3CBB"/>
                          </a:solidFill>
                        </a:rPr>
                        <a:t>BMS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</a:rPr>
                        <a:t>楼宇自控系统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Building Management System for mechanical &amp; environmental monitoring/control.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用于机械及环境监控的楼宇管理系统。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F3CBB"/>
                          </a:solidFill>
                        </a:rPr>
                        <a:t>IST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</a:rPr>
                        <a:t>综合系统测试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Integrated Systems Test — Level 5 commissioning of all systems together.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所有系统联合进行的第5级调试。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F3CBB"/>
                          </a:solidFill>
                        </a:rPr>
                        <a:t>RFS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</a:rPr>
                        <a:t>可交付使用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Ready For Service — date capacity is available to customers.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容量可向客户交付使用的日期。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F3CBB"/>
                          </a:solidFill>
                        </a:rPr>
                        <a:t>Concurrent maintainability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</a:rPr>
                        <a:t>可同时维护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Ability to maintain any component/path without IT impact (Tier III).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可维护任一组件/路径而不影响IT（Tier III）。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F3CBB"/>
                          </a:solidFill>
                        </a:rPr>
                        <a:t>TPG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</a:rPr>
                        <a:t>技术参数保证表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Technical Particulars &amp; Guarantees — bidder-guaranteed equipment data.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投标人保证的设备技术参数表。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223760" y="822960"/>
            <a:ext cx="4937760" cy="4937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2344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0EA5C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</a:t>
            </a:r>
            <a:endParaRPr lang="en-US" sz="9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7889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Project Development: Technical &amp; Commercial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8404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BDEFFA"/>
                </a:solidFill>
              </a:rPr>
              <a:t>项目开发：技术与商业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663440"/>
            <a:ext cx="65836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D6D8F5"/>
                </a:solidFill>
              </a:rPr>
              <a:t>What a 2026 Indonesian data center project must get right — power, platforms, cooling, storage, cost, returns, schedule and permits.</a:t>
            </a:r>
            <a:endParaRPr lang="en-US" sz="14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BDEFFA"/>
                </a:solidFill>
              </a:rPr>
              <a:t>2026年印尼数据中心项目的关键：电力、平台、制冷、储能、投资、回报、进度与许可。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A3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Indonesia 2026: where data centers are being built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2026年印尼：数据中心建在哪里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5778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00200"/>
            <a:ext cx="457200" cy="457200"/>
          </a:xfrm>
          <a:prstGeom prst="ellipse">
            <a:avLst/>
          </a:prstGeom>
          <a:solidFill>
            <a:srgbClr val="3F3CB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099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554480"/>
            <a:ext cx="46634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Established hubs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50" b="1" dirty="0">
                <a:solidFill>
                  <a:schemeClr val="accent1"/>
                </a:solidFill>
              </a:rPr>
              <a:t>成熟枢纽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03120"/>
            <a:ext cx="52120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3CBB"/>
                </a:solidFill>
              </a:rPr>
              <a:t>Batam (Nongsa / Kabil)  ·  Jakarta (in-city)  ·  Bekasi – Cikarang  ·  Karawang  ·  Tangerang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432304"/>
            <a:ext cx="52120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巴淡（农萨/卡比尔） · 雅加达市区 · 勿加泗-芝加朗 · 卡拉旺 · 唐格朗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3017520"/>
            <a:ext cx="55778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3232" y="3154680"/>
            <a:ext cx="457200" cy="457200"/>
          </a:xfrm>
          <a:prstGeom prst="ellipse">
            <a:avLst/>
          </a:prstGeom>
          <a:solidFill>
            <a:srgbClr val="0EA5C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6440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80160" y="3108960"/>
            <a:ext cx="46634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Emerging locations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50" b="1" dirty="0">
                <a:solidFill>
                  <a:schemeClr val="accent1"/>
                </a:solidFill>
              </a:rPr>
              <a:t>新兴地点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" y="3639312"/>
            <a:ext cx="52120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1D3A"/>
                </a:solidFill>
              </a:rPr>
              <a:t>Medan / Kuala Namu · Bintan · Bogor – Sentul · Bandung (highland) · Serang – Cilegon · Semarang – Kendal · Surabaya – Gresik · Denpasar · Balikpapan · IKN Nusantara · Makassar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731520" y="4069080"/>
            <a:ext cx="5212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</a:rPr>
              <a:t>棉兰/瓜拉纳穆、民丹、茂物-森图尔、万隆（高原）、西冷-芝勒贡、三宝垄-肯德尔、泗水-锦石、登巴萨、巴厘巴板、努桑塔拉新首都、望加锡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4572000"/>
            <a:ext cx="5577840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AI campuses of several hundred MW are now announced around Jakarta (e.g. BDx Jatiluhur ≈ 500 MW, Digital Edge CGK ≈ 500 MW, public reports): power availability decides the site first.</a:t>
            </a:r>
            <a:endParaRPr lang="en-US" sz="1000" dirty="0"/>
          </a:p>
          <a:p>
            <a:pPr marL="177800" indent="-1778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雅加达周边已公布数百MW级AI园区（如BDx佳蒂卢胡尔约500 MW、Digital Edge CGK约500 MW，公开报道）：电力可得性成为选址首要因素。</a:t>
            </a:r>
            <a:endParaRPr lang="en-US" sz="10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The location sets the design climate (lowland wet-bulb ≈ 27–28 °C, highland ≈ 23–24 °C), seismic and flood exposure, land and water price, the provincial minimum wage and the construction logistics factor applied to CAPEX.</a:t>
            </a:r>
            <a:endParaRPr lang="en-US" sz="1000" dirty="0"/>
          </a:p>
          <a:p>
            <a:pPr marL="177800" indent="-1778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地点决定设计气候（低地湿球约27–28 °C，高原约23–24 °C）、地震及洪水风险、土地与水价、省级最低工资及投资的施工物流系数。</a:t>
            </a:r>
            <a:endParaRPr lang="en-US" sz="1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463040"/>
          <a:ext cx="5330952" cy="914400"/>
        </p:xfrm>
        <a:graphic>
          <a:graphicData uri="http://schemas.openxmlformats.org/drawingml/2006/table">
            <a:tbl>
              <a:tblPr/>
              <a:tblGrid>
                <a:gridCol w="3044952"/>
                <a:gridCol w="64008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Real projects in Indonesia (public information)  印尼真实项目（公开信息）</a:t>
                      </a:r>
                      <a:endParaRPr lang="en-US" sz="10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MW</a:t>
                      </a:r>
                      <a:endParaRPr lang="en-US" sz="10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  状态</a:t>
                      </a:r>
                      <a:endParaRPr lang="en-US" sz="10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BDx — CGK4 AI Campus, Jatiluhur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BDx——CGK4 AI园区（佳蒂卢胡尔）</a:t>
                      </a:r>
                      <a:endParaRPr lang="en-US" sz="8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≈ 500</a:t>
                      </a:r>
                      <a:endParaRPr lang="en-US" sz="9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Phase 1 operating; multi-phase</a:t>
                      </a:r>
                      <a:endParaRPr lang="en-US" sz="8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Digital Edge — CGK Campus, Jakarta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Digital Edge——雅加达CGK园区</a:t>
                      </a:r>
                      <a:endParaRPr lang="en-US" sz="8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≈ 500</a:t>
                      </a:r>
                      <a:endParaRPr lang="en-US" sz="9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Planned / phased</a:t>
                      </a:r>
                      <a:endParaRPr lang="en-US" sz="8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EdgeConneX — Jakarta campus (incl. former GTN Cikarang)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EdgeConneX——雅加达园区（含原GTN芝加朗）</a:t>
                      </a:r>
                      <a:endParaRPr lang="en-US" sz="8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≈ 200</a:t>
                      </a:r>
                      <a:endParaRPr lang="en-US" sz="9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Operating; expanding</a:t>
                      </a:r>
                      <a:endParaRPr lang="en-US" sz="8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Princeton Digital Group — JC3 Greater Jakarta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普林斯顿数字集团——JC3大雅加达园区</a:t>
                      </a:r>
                      <a:endParaRPr lang="en-US" sz="8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≈ 120</a:t>
                      </a:r>
                      <a:endParaRPr lang="en-US" sz="9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Under construction (phase 1 target Q4 2026)</a:t>
                      </a:r>
                      <a:endParaRPr lang="en-US" sz="8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DCI Indonesia — Cibitung Campus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DCI Indonesia——芝比通园区</a:t>
                      </a:r>
                      <a:endParaRPr lang="en-US" sz="8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≈ 73</a:t>
                      </a:r>
                      <a:endParaRPr lang="en-US" sz="9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Operating / expanding</a:t>
                      </a:r>
                      <a:endParaRPr lang="en-US" sz="8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DayOne — Batam Campus (Nongsa Digital Park)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DayOne——巴淡园区（农萨数字园）</a:t>
                      </a:r>
                      <a:endParaRPr lang="en-US" sz="8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≈ 72</a:t>
                      </a:r>
                      <a:endParaRPr lang="en-US" sz="9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Phased; buildings 1–2 operating</a:t>
                      </a:r>
                      <a:endParaRPr lang="en-US" sz="8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NeutraDC Nxera Batam (Telkom × Singtel × Medco)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NeutraDC Nxera巴淡（Telkom×新电信×Medco）</a:t>
                      </a:r>
                      <a:endParaRPr lang="en-US" sz="8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≈ 54</a:t>
                      </a:r>
                      <a:endParaRPr lang="en-US" sz="9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BTM-1 topped off Oct 2025; phase 1 targeted 2026</a:t>
                      </a:r>
                      <a:endParaRPr lang="en-US" sz="8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NTT — Jakarta 3 (JKT3)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NTT——雅加达3号（JKT3）</a:t>
                      </a:r>
                      <a:endParaRPr lang="en-US" sz="8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≈ 45</a:t>
                      </a:r>
                      <a:endParaRPr lang="en-US" sz="9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Operating</a:t>
                      </a:r>
                      <a:endParaRPr lang="en-US" sz="8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Digital Edge — EDGE2 Jakarta (Kuningan)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Digital Edge——EDGE2雅加达（库宁安）</a:t>
                      </a:r>
                      <a:endParaRPr lang="en-US" sz="8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≈ 23</a:t>
                      </a:r>
                      <a:endParaRPr lang="en-US" sz="9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Operating since Feb 2024</a:t>
                      </a:r>
                      <a:endParaRPr lang="en-US" sz="8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Pusat Data Nasional (PDN) — Cikarang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国家数据中心（PDN）——芝加朗</a:t>
                      </a:r>
                      <a:endParaRPr lang="en-US" sz="8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≈ 20</a:t>
                      </a:r>
                      <a:endParaRPr lang="en-US" sz="9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Completed 2025; phased commissioning</a:t>
                      </a:r>
                      <a:endParaRPr lang="en-US" sz="8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Telkom neuCentrIX — edge data center network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Telkom neuCentrIX——边缘数据中心网络</a:t>
                      </a:r>
                      <a:endParaRPr lang="en-US" sz="8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≈ 6.0</a:t>
                      </a:r>
                      <a:endParaRPr lang="en-US" sz="9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Operating; expanding</a:t>
                      </a:r>
                      <a:endParaRPr lang="en-US" sz="8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Space DC — JAK2 (containerised prefabricated)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Space DC——JAK2（集装箱式预制）</a:t>
                      </a:r>
                      <a:endParaRPr lang="en-US" sz="8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≈ 1.5</a:t>
                      </a:r>
                      <a:endParaRPr lang="en-US" sz="9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Operating (2021)</a:t>
                      </a:r>
                      <a:endParaRPr lang="en-US" sz="8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PLN power: connection, tariff and timeline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PLN供电：接入、电价与时间</a:t>
            </a:r>
            <a:endParaRPr lang="en-US" sz="18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0350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1546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Maximum demand  最大需量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Connection  接入方式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Tariff  电价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F3CBB"/>
                          </a:solidFill>
                        </a:rPr>
                        <a:t>≤ 2 MVA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LV / MV service ≤ 20 kV</a:t>
                      </a:r>
                      <a:endParaRPr lang="en-US" sz="10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accent1"/>
                          </a:solidFill>
                        </a:rPr>
                        <a:t>低压/中压供电≤20 kV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B-3 / I-3 TM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F3CBB"/>
                          </a:solidFill>
                        </a:rPr>
                        <a:t>2–30 MVA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MV 20 kV, dedicated feeders</a:t>
                      </a:r>
                      <a:endParaRPr lang="en-US" sz="10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accent1"/>
                          </a:solidFill>
                        </a:rPr>
                        <a:t>中压20 kV专用馈线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B-3 / I-3 TM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F3CBB"/>
                          </a:solidFill>
                        </a:rPr>
                        <a:t>30–300 MVA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HV 150 kV with on-site substation</a:t>
                      </a:r>
                      <a:endParaRPr lang="en-US" sz="10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accent1"/>
                          </a:solidFill>
                        </a:rPr>
                        <a:t>高压150 kV，自建变电站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I-4 TT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F3CBB"/>
                          </a:solidFill>
                        </a:rPr>
                        <a:t>&gt; 300 MVA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EHV 500 kV / several 150 kV substations</a:t>
                      </a:r>
                      <a:endParaRPr lang="en-US" sz="10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accent1"/>
                          </a:solidFill>
                        </a:rPr>
                        <a:t>超高压500 kV/多座150 kV变电站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I-4 TT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60350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97280"/>
                <a:gridCol w="54864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PLN tariff (Q4 2026)  电价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LWBP Rp/kWh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24/7 Rp/kWh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B-3 / TM — business, MV &gt; 200 kVA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B-3/中压——商业用电&gt;200 kVA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1,114.74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1.4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1,207.6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I-3 / TM — industrial, MV &gt; 200 kVA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I-3/中压——工业用电&gt;200 kVA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1,114.74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1.4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1,207.6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I-4 / TT — industrial, HV ≥ 30,000 kVA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I-4/高压——工业用电≥30,000 kVA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996.74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996.7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897880"/>
            <a:ext cx="6035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F8A"/>
                </a:solidFill>
              </a:rPr>
              <a:t>REC ≈ Rp35,000/MWh  ·  FX ≈ Rp17,900/USD  ·  grid ≈ 0.79 tCO₂e/MWh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6812280" y="1463040"/>
            <a:ext cx="4828032" cy="4846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Apply to PLN at feasibility stage: connection agreement and energisation take ≈ 16 months in the benchmark programme and are usually on the critical path.</a:t>
            </a:r>
            <a:endParaRPr lang="en-US" sz="1050" dirty="0"/>
          </a:p>
          <a:p>
            <a:pPr marL="177800" indent="-177800">
              <a:lnSpc>
                <a:spcPct val="95000"/>
              </a:lnSpc>
              <a:spcAft>
                <a:spcPts val="5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在可研阶段即向PLN申请：基准进度中接入协议及送电约需16个月，通常位于关键路径。</a:t>
            </a:r>
            <a:endParaRPr lang="en-US" sz="10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The connection voltage follows maximum demand (IT × design-day PUE ÷ power factor 0.95): ≤ 30 MVA at 20 kV (TM), 30–300 MVA at 150 kV (TT) with an on-site substation; Tier III+ takes two independent feeds.</a:t>
            </a:r>
            <a:endParaRPr lang="en-US" sz="1050" dirty="0"/>
          </a:p>
          <a:p>
            <a:pPr marL="177800" indent="-177800">
              <a:lnSpc>
                <a:spcPct val="95000"/>
              </a:lnSpc>
              <a:spcAft>
                <a:spcPts val="5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接入电压取决于最大需量（IT×设计日PUE÷功率因数0.95）：≤30 MVA采用20 kV（TM），30–300 MVA采用150 kV（TT）并自建变电站；Tier III及以上采用两路独立进线。</a:t>
            </a:r>
            <a:endParaRPr lang="en-US" sz="10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Tariff class follows the connection (Q4 2026): TM B-3 / I-3 Rp1,114.74/kWh off-peak, ≈ Rp1,207.6/kWh blended for a 24/7 load (peak factor K ≈ 1.4); TT I-4 Rp996.74/kWh flat.</a:t>
            </a:r>
            <a:endParaRPr lang="en-US" sz="1050" dirty="0"/>
          </a:p>
          <a:p>
            <a:pPr marL="177800" indent="-177800">
              <a:lnSpc>
                <a:spcPct val="95000"/>
              </a:lnSpc>
              <a:spcAft>
                <a:spcPts val="5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电价类别取决于接入方式（2026年第四季度）：中压B-3/I-3低谷1,114.74印尼盾/kWh，24/7负荷加权约1,207.6印尼盾/kWh（高峰系数K≈1.4）；高压I-4统一996.74印尼盾/kWh。</a:t>
            </a:r>
            <a:endParaRPr lang="en-US" sz="10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Green power is inexpensive: PLN RECs ≈ Rp35,000/MWh (≈ USD 2.0/MWh); add rooftop solar (Permen ESDM 2/2024) and PPAs where RUPTL allows. Grid emission factor ≈ 0.79 tCO₂e/MWh.</a:t>
            </a:r>
            <a:endParaRPr lang="en-US" sz="1050" dirty="0"/>
          </a:p>
          <a:p>
            <a:pPr marL="177800" indent="-177800">
              <a:lnSpc>
                <a:spcPct val="95000"/>
              </a:lnSpc>
              <a:spcAft>
                <a:spcPts val="5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绿电成本较低：PLN绿证约35,000印尼盾/MWh（约2.0美元/MWh）；可增加屋顶光伏（Permen ESDM 2/2024）及RUPTL允许的购电协议。电网排放因子约0.79 tCO₂e/MWh。</a:t>
            </a:r>
            <a:endParaRPr lang="en-US" sz="10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Weaker regional grids (outside JAMALI) call for more generator fuel (+24 h medium, +48 h low reliability) and a BESS for sites ≥ 5 MW.</a:t>
            </a:r>
            <a:endParaRPr lang="en-US" sz="1050" dirty="0"/>
          </a:p>
          <a:p>
            <a:pPr marL="177800" indent="-177800">
              <a:lnSpc>
                <a:spcPct val="95000"/>
              </a:lnSpc>
              <a:spcAft>
                <a:spcPts val="5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区域电网较弱（JAMALI以外）时需增加发电机燃油（中等可靠性+24 h，低可靠性+48 h），≥5 MW站点配置储能。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IT platforms 2026: from 10 kW to 600 kW per rack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2026年IT平台：每柜10 kW至600 kW</a:t>
            </a:r>
            <a:endParaRPr lang="en-US" sz="18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868680"/>
                <a:gridCol w="1417320"/>
                <a:gridCol w="868680"/>
                <a:gridCol w="1691640"/>
                <a:gridCol w="1005840"/>
                <a:gridCol w="1036015"/>
              </a:tblGrid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Platform  平台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Cooling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kW design / peak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Liquid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W×D · U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kg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GPU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NVIDIA GB300 NVL72 rack-scale system</a:t>
                      </a:r>
                      <a:endParaRPr lang="en-US" sz="9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accent1"/>
                          </a:solidFill>
                        </a:rPr>
                        <a:t>NVIDIA GB300 NVL72机架级系统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0544F"/>
                          </a:solidFill>
                        </a:rPr>
                        <a:t>DLC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135 / 155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90 %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600×1068 · 48U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1,500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72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NVIDIA Vera Rubin NVL144 / VR200 (provisional)</a:t>
                      </a:r>
                      <a:endParaRPr lang="en-US" sz="9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accent1"/>
                          </a:solidFill>
                        </a:rPr>
                        <a:t>NVIDIA Vera Rubin NVL144 / VR200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0544F"/>
                          </a:solidFill>
                        </a:rPr>
                        <a:t>DLC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190 / 230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95 %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600×1068 · 48U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1,700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72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NVIDIA Rubin Ultra NVL576 “Kyber” (provisional)</a:t>
                      </a:r>
                      <a:endParaRPr lang="en-US" sz="9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accent1"/>
                          </a:solidFill>
                        </a:rPr>
                        <a:t>NVIDIA Rubin Ultra NVL576“Kyber”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0544F"/>
                          </a:solidFill>
                        </a:rPr>
                        <a:t>DLC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600 / 600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98 %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1200×1200 · 48U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3,000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576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AMD Instinct MI355X — liquid-cooled 8-GPU nodes (provisional)</a:t>
                      </a:r>
                      <a:endParaRPr lang="en-US" sz="9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accent1"/>
                          </a:solidFill>
                        </a:rPr>
                        <a:t>AMD Instinct MI355X——液冷8卡节点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0544F"/>
                          </a:solidFill>
                        </a:rPr>
                        <a:t>DLC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110 / 125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85 %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600×1200 · 48U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1,300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NVIDIA DGX/HGX B300 — air-cooled</a:t>
                      </a:r>
                      <a:endParaRPr lang="en-US" sz="9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accent1"/>
                          </a:solidFill>
                        </a:rPr>
                        <a:t>NVIDIA DGX/HGX B300——风冷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A5C6"/>
                          </a:solidFill>
                        </a:rPr>
                        <a:t>RDHX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58 / 62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60 %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600×1200 · 48U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1,100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NVIDIA DGX/HGX H100–H200 — air-cooled</a:t>
                      </a:r>
                      <a:endParaRPr lang="en-US" sz="9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accent1"/>
                          </a:solidFill>
                        </a:rPr>
                        <a:t>NVIDIA DGX/HGX H100–H200——风冷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A5C6"/>
                          </a:solidFill>
                        </a:rPr>
                        <a:t>RDHX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41 / 44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50 %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600×1200 · 48U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950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Huawei CloudMatrix 384</a:t>
                      </a:r>
                      <a:endParaRPr lang="en-US" sz="9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accent1"/>
                          </a:solidFill>
                        </a:rPr>
                        <a:t>华为CloudMatrix 384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A5C6"/>
                          </a:solidFill>
                        </a:rPr>
                        <a:t>RDHX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35 / 45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50 %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800×1200 · 47U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1,100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Inference GPU servers</a:t>
                      </a:r>
                      <a:endParaRPr lang="en-US" sz="9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accent1"/>
                          </a:solidFill>
                        </a:rPr>
                        <a:t>推理GPU服务器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F3CBB"/>
                          </a:solidFill>
                        </a:rPr>
                        <a:t>AIR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20 / 24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600×1200 · 48U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800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High-density CPU / multi-node / blade</a:t>
                      </a:r>
                      <a:endParaRPr lang="en-US" sz="9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accent1"/>
                          </a:solidFill>
                        </a:rPr>
                        <a:t>高密度CPU/多节点/刀片服务器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F3CBB"/>
                          </a:solidFill>
                        </a:rPr>
                        <a:t>AIR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25 / 30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600×1200 · 48U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950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General-purpose 1U/2U servers</a:t>
                      </a:r>
                      <a:endParaRPr lang="en-US" sz="9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accent1"/>
                          </a:solidFill>
                        </a:rPr>
                        <a:t>通用1U/2U服务器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F3CBB"/>
                          </a:solidFill>
                        </a:rPr>
                        <a:t>AIR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10 / 12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600×1200 · 48U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750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15000"/>
            <a:ext cx="11094415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B6F8A"/>
                </a:solidFill>
              </a:rPr>
              <a:t>Provision power above nominal: OEMs suggest ≈ 190 kW of busway per GB300 rack; next generations (Vera Rubin ≈ 190 kW, Kyber ≈ 600 kW, provisional) need 800 V DC-ready distribution paths and heavier floors.</a:t>
            </a:r>
            <a:endParaRPr lang="en-US" sz="10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供电容量须高于额定值：OEM建议每台GB300机柜约190 kW母线容量；下一代（Vera Rubin约190 kW、Kyber约600 kW，暂定）需预留800 V直流配电路径及更高楼面承载。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Counting IT equipment: positions, cabinets, GPU systems, PDUs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机柜计数：机柜位、机柜、GPU系统与PDU</a:t>
            </a:r>
            <a:endParaRPr lang="en-US" sz="18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8978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3434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Term  术语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Definition and counting rule  定义与计数规则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F3CBB"/>
                          </a:solidFill>
                        </a:rPr>
                        <a:t>Rack position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</a:rPr>
                        <a:t>机柜位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One physical place for a rack in the white space, with its power feeds, cooling and floor capacity. Total racks = standard + high-density positions.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白区内放置一个机柜的物理位置，含供电、制冷及楼面承载。机柜总数=标准+高密度机柜位。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F3CBB"/>
                          </a:solidFill>
                        </a:rPr>
                        <a:t>Cabinet (IT-01)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</a:rPr>
                        <a:t>机柜（IT-01）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Steel enclosure, e.g. 48U 600 × 1,200 mm. Standard cabinets are facility supply; integrated rack-scale AI racks and OCP racks arrive with the IT, so only the position is provided.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钢制外壳，如48U 600×1,200 mm。标准机柜由设施供货；机架级集成AI机柜及OCP机柜随IT到货，设施仅提供机柜位。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F3CBB"/>
                          </a:solidFill>
                        </a:rPr>
                        <a:t>GPU / AI system (IT-08)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</a:rPr>
                        <a:t>GPU/AI系统（IT-08）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An 8-GPU server (4–8 per rack) or a rack-scale system (1 per rack, e.g. NVL72 with 72 GPUs). IT scope inside the high-density positions — never additional racks.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8卡服务器（每柜4–8台）或机架级系统（每柜1套，如NVL72含72颗GPU）。属于高密度机柜位内的IT范围——绝不是额外机柜。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F3CBB"/>
                          </a:solidFill>
                        </a:rPr>
                        <a:t>Rack PDU (EL-14)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</a:rPr>
                        <a:t>机柜PDU（EL-14）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Counted per feed: 2 per standard rack (A + B); 2 per feed (4 per rack) above ≈ 43 kW; none where power shelves are used.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按每路计数：标准机柜每柜2条（A+B）；约43 kW以上每路2条（每柜4条）；使用电源架时不需要。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F3CBB"/>
                          </a:solidFill>
                        </a:rPr>
                        <a:t>Power shelf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</a:rPr>
                        <a:t>电源架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AC/DC shelves feeding a DC busbar inside AI and OCP racks (e.g. 8 × 33 kW, 50 V or 48 V DC); replaces rack PDUs.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AI及OCP机柜内为直流母排供电的交直流电源架（如8×33 kW、50 V或48 V直流）；替代机柜PDU。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F3CBB"/>
                          </a:solidFill>
                        </a:rPr>
                        <a:t>Busway tap-off (EL-13)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</a:rPr>
                        <a:t>母线插接箱（EL-13）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Plug-in unit on the overhead busway, one per rack per feed (more for high-density racks); feeds rack PDUs or power shelves.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上走线母线上的插接单元，每柜每路一个（高密度机柜更多）；为机柜PDU或电源架供电。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417320"/>
          <a:ext cx="505663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685800"/>
                <a:gridCol w="295351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A05 Retail colocation</a:t>
                      </a:r>
                      <a:endParaRPr lang="en-US" sz="10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Qty</a:t>
                      </a:r>
                      <a:endParaRPr lang="en-US" sz="10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Basis  依据</a:t>
                      </a:r>
                      <a:endParaRPr lang="en-US" sz="10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Rack positions (total)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chemeClr val="accent1"/>
                          </a:solidFill>
                        </a:rPr>
                        <a:t>机柜位（合计）</a:t>
                      </a:r>
                      <a:endParaRPr lang="en-US" sz="8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676</a:t>
                      </a:r>
                      <a:endParaRPr lang="en-US" sz="9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</a:rPr>
                        <a:t>608 standard + 68 high-density</a:t>
                      </a:r>
                      <a:endParaRPr lang="en-US" sz="7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IT-01 standard cabinets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chemeClr val="accent1"/>
                          </a:solidFill>
                        </a:rPr>
                        <a:t>IT-01 标准个机柜</a:t>
                      </a:r>
                      <a:endParaRPr lang="en-US" sz="8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608</a:t>
                      </a:r>
                      <a:endParaRPr lang="en-US" sz="9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</a:rPr>
                        <a:t>Standard racks: General-purpose 1U/2U servers (virtualisation, databases), 10.0 kW — facility supply</a:t>
                      </a:r>
                      <a:endParaRPr lang="en-US" sz="7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IT-01 high-density cabinets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chemeClr val="accent1"/>
                          </a:solidFill>
                        </a:rPr>
                        <a:t>IT-01 高密度个机柜</a:t>
                      </a:r>
                      <a:endParaRPr lang="en-US" sz="8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</a:rPr>
                        <a:t>High-density cabinets: 58 kW — facility supply</a:t>
                      </a:r>
                      <a:endParaRPr lang="en-US" sz="7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IT-08 GPU / AI systems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chemeClr val="accent1"/>
                          </a:solidFill>
                        </a:rPr>
                        <a:t>IT-08 GPU/AI系统</a:t>
                      </a:r>
                      <a:endParaRPr lang="en-US" sz="8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272</a:t>
                      </a:r>
                      <a:endParaRPr lang="en-US" sz="9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</a:rPr>
                        <a:t>8 GPUs per system · 2,176 GPUs inside the 68 HD racks above — IT scope, reference (not additional racks)</a:t>
                      </a:r>
                      <a:endParaRPr lang="en-US" sz="7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EL-14 rack PDUs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chemeClr val="accent1"/>
                          </a:solidFill>
                        </a:rPr>
                        <a:t>EL-14 机柜PDU</a:t>
                      </a:r>
                      <a:endParaRPr lang="en-US" sz="8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1,488</a:t>
                      </a:r>
                      <a:endParaRPr lang="en-US" sz="9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</a:rPr>
                        <a:t>608 standard racks × 2 + 68 HD racks × 4 — A + B feeds</a:t>
                      </a:r>
                      <a:endParaRPr lang="en-US" sz="7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3904488"/>
          <a:ext cx="505663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685800"/>
                <a:gridCol w="295351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A07 Hyperscale cloud campus</a:t>
                      </a:r>
                      <a:endParaRPr lang="en-US" sz="10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Qty</a:t>
                      </a:r>
                      <a:endParaRPr lang="en-US" sz="10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Basis  依据</a:t>
                      </a:r>
                      <a:endParaRPr lang="en-US" sz="10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Rack positions (total)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chemeClr val="accent1"/>
                          </a:solidFill>
                        </a:rPr>
                        <a:t>机柜位（合计）</a:t>
                      </a:r>
                      <a:endParaRPr lang="en-US" sz="8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3,175</a:t>
                      </a:r>
                      <a:endParaRPr lang="en-US" sz="9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</a:rPr>
                        <a:t>2,857 standard + 318 high-density</a:t>
                      </a:r>
                      <a:endParaRPr lang="en-US" sz="7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IT-01 standard positions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chemeClr val="accent1"/>
                          </a:solidFill>
                        </a:rPr>
                        <a:t>IT-01 标准个机柜位</a:t>
                      </a:r>
                      <a:endParaRPr lang="en-US" sz="8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2,857</a:t>
                      </a:r>
                      <a:endParaRPr lang="en-US" sz="9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</a:rPr>
                        <a:t>Standard rack positions: OCP Open Rack v3 cloud rack (21″, 48 V busbar), 20.0 kW — racks arrive integrated with the IT (rack-level integration)</a:t>
                      </a:r>
                      <a:endParaRPr lang="en-US" sz="7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IT-01 high-density positions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chemeClr val="accent1"/>
                          </a:solidFill>
                        </a:rPr>
                        <a:t>IT-01 高密度个机柜位</a:t>
                      </a:r>
                      <a:endParaRPr lang="en-US" sz="8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318</a:t>
                      </a:r>
                      <a:endParaRPr lang="en-US" sz="9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</a:rPr>
                        <a:t>High-density rack positions: integrated cabinet arrives with the IT system (135 kW)</a:t>
                      </a:r>
                      <a:endParaRPr lang="en-US" sz="7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IT-08 GPU / AI systems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chemeClr val="accent1"/>
                          </a:solidFill>
                        </a:rPr>
                        <a:t>IT-08 GPU/AI系统</a:t>
                      </a:r>
                      <a:endParaRPr lang="en-US" sz="8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318</a:t>
                      </a:r>
                      <a:endParaRPr lang="en-US" sz="9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</a:rPr>
                        <a:t>72 GPUs per system · 22,896 GPUs inside the 318 HD racks above — IT scope, reference (not additional racks)</a:t>
                      </a:r>
                      <a:endParaRPr lang="en-US" sz="7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EL-14 rack PDUs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chemeClr val="accent1"/>
                          </a:solidFill>
                        </a:rPr>
                        <a:t>EL-14 机柜PDU</a:t>
                      </a:r>
                      <a:endParaRPr lang="en-US" sz="8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</a:rPr>
                        <a:t>Not required — power shelves fed by busway tap-offs</a:t>
                      </a:r>
                      <a:endParaRPr lang="en-US" sz="7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Choosing the cooling: density, climate and a weighted matrix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选择制冷：密度、气候与加权矩阵</a:t>
            </a:r>
            <a:endParaRPr lang="en-US" sz="18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03504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822960"/>
                <a:gridCol w="3063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Technology  技术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≤ kW/rack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Best for  适用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DX precision AC (CRAC)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</a:rPr>
                        <a:t>直膨式精密空调（CRAC）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F3CBB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Simple, no water; for small rooms and edge sites.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简单、无水系统；适合小型机房和边缘站点。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Air-cooled chillers + CRAH / fan wall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</a:rPr>
                        <a:t>风冷冷水机组 + 冷冻水精密空调 / 风墙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F3CBB"/>
                          </a:solidFill>
                        </a:rPr>
                        <a:t>25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No evaporative water use; good where water is scarce.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无蒸发耗水；适合缺水地区。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Water-cooled chillers + cooling towers + CRAH / fan wall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</a:rPr>
                        <a:t>水冷冷水机组 + 冷却塔 + 精密空调 / 风墙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F3CBB"/>
                          </a:solidFill>
                        </a:rPr>
                        <a:t>25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Most efficient compressor-based plant for large sites in hot-humid climates; uses water.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湿热地区大型站点效率最高的压缩机制冷方案；需耗水。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Indirect evaporative cooling (IEC)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</a:rPr>
                        <a:t>间接蒸发冷却（IEC）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F3CBB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Very low PUE in dry/temperate climates; limited benefit in tropical climates.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干燥/温和气候下PUE极低；热带气候效果有限。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Direct liquid cooling (cold plate) + residual air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</a:rPr>
                        <a:t>冷板式液冷 + 余热风冷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F3CBB"/>
                          </a:solidFill>
                        </a:rPr>
                        <a:t>150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Required for AI/GPU racks above ~40 kW; warm-water loops enable chiller-less heat rejection.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约40 kW以上AI/GPU机柜必需；温水环路可实现无冷机散热。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Immersion cooling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</a:rPr>
                        <a:t>浸没式液冷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F3CBB"/>
                          </a:solidFill>
                        </a:rPr>
                        <a:t>200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Lowest PUE; specialised IT, fluid handling and floor loading considerations.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PUE最低；需专用IT、冷却液管理并考虑楼面荷载。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846320"/>
            <a:ext cx="603504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Lowland tropical wet-bulb (≈ 27–28 °C) leaves almost no free-cooling hours, so evaporative / indirect-evaporative systems lose their advantage; highland sites (≈ 23–24 °C) and warm-water liquid cooling recover economiser hours.</a:t>
            </a:r>
            <a:endParaRPr lang="en-US" sz="950" dirty="0"/>
          </a:p>
          <a:p>
            <a:pPr marL="177800" indent="-1778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00" dirty="0">
                <a:solidFill>
                  <a:schemeClr val="accent1"/>
                </a:solidFill>
              </a:rPr>
              <a:t>低地热带湿球（约27–28 °C）几乎没有自然冷却时数，蒸发/间接蒸发冷却失去优势；高原站点（约23–24 °C）及温水液冷可恢复节能器时数。</a:t>
            </a:r>
            <a:endParaRPr lang="en-US" sz="9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Typical outcome: DX CRAC below ≈ 1 MW; air-cooled chillers + CRAH to ≈ 5 MW; water-cooled chillers + towers for larger air-cooled halls; direct-to-chip liquid cooling whenever racks exceed ≈ 25–40 kW.</a:t>
            </a:r>
            <a:endParaRPr lang="en-US" sz="950" dirty="0"/>
          </a:p>
          <a:p>
            <a:pPr marL="177800" indent="-1778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00" dirty="0">
                <a:solidFill>
                  <a:schemeClr val="accent1"/>
                </a:solidFill>
              </a:rPr>
              <a:t>典型结果：约1 MW以下采用直膨精密空调；约5 MW以下采用风冷冷机+精密空调；更大的风冷机房采用水冷冷机+冷却塔；机柜超过约25–40 kW时采用冷板液冷。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766560" y="1371600"/>
          <a:ext cx="4873752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6766560" y="4892040"/>
            <a:ext cx="48737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903720" y="4956048"/>
            <a:ext cx="46177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chemeClr val="tx1"/>
                </a:solidFill>
              </a:rPr>
              <a:t>Decision weights: efficiency 28 · water 12 (25 if constrained) · scale 18 · CAPEX 14 · maturity 14 · IT fit 14</a:t>
            </a:r>
            <a:endParaRPr lang="en-US" sz="9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00" b="1" dirty="0">
                <a:solidFill>
                  <a:schemeClr val="accent1"/>
                </a:solidFill>
              </a:rPr>
              <a:t>决策权重：能效28·用水12（受限时25）·规模18·投资14·成熟度14·IT适配14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6903720" y="5577840"/>
            <a:ext cx="46177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6F8A"/>
                </a:solidFill>
              </a:rPr>
              <a:t>PUE benchmarks: Uptime global average ≈ 1.5; tropical air-cooled new builds 1.35–1.45; liquid-cooled AI 1.15–1.25; China GB 40879 grade 2 ≤ 1.30. The benchmark designs range 1.18–1.51.</a:t>
            </a:r>
            <a:endParaRPr lang="en-US" sz="8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chemeClr val="accent1"/>
                </a:solidFill>
              </a:rPr>
              <a:t>PUE基准：Uptime全球平均约1.5；热带风冷新建1.35–1.45；液冷AI 1.15–1.25；中国GB 40879二级≤1.30。基准设计范围1.18–1.51。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Direct liquid cooling: what the facility must provide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冷板液冷：设施需要提供什么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F054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5107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42416" y="1508760"/>
            <a:ext cx="143560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GPU cold plates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FFFFFF"/>
                </a:solidFill>
              </a:rPr>
              <a:t>GPU冷板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231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F8A"/>
                </a:solidFill>
              </a:rPr>
              <a:t>≈ 90 % of rack heat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532888" y="1938528"/>
            <a:ext cx="256032" cy="91"/>
          </a:xfrm>
          <a:prstGeom prst="line">
            <a:avLst/>
          </a:prstGeom>
          <a:noFill/>
          <a:ln w="22225">
            <a:solidFill>
              <a:srgbClr val="1B1D3A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807208" y="150876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7C3AE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48" y="175107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00984" y="1508760"/>
            <a:ext cx="143560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Rack manifold &amp; QDs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FFFFFF"/>
                </a:solidFill>
              </a:rPr>
              <a:t>机柜分液器与快插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2807208" y="24231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F8A"/>
                </a:solidFill>
              </a:rPr>
              <a:t>dripless · leak detection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791456" y="1938528"/>
            <a:ext cx="256032" cy="91"/>
          </a:xfrm>
          <a:prstGeom prst="line">
            <a:avLst/>
          </a:prstGeom>
          <a:noFill/>
          <a:ln w="22225">
            <a:solidFill>
              <a:srgbClr val="1B1D3A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065776" y="150876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3F3CB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216" y="175107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559552" y="1508760"/>
            <a:ext cx="143560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CDU (TCS ↔ FWS)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FFFFFF"/>
                </a:solidFill>
              </a:rPr>
              <a:t>CDU（TCS↔FWS）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5065776" y="24231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F8A"/>
                </a:solidFill>
              </a:rPr>
              <a:t>approach ≈ 3 K · N+1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7050024" y="1938528"/>
            <a:ext cx="256032" cy="91"/>
          </a:xfrm>
          <a:prstGeom prst="line">
            <a:avLst/>
          </a:prstGeom>
          <a:noFill/>
          <a:ln w="22225">
            <a:solidFill>
              <a:srgbClr val="1B1D3A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324344" y="150876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0EA5C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84" y="175107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818120" y="1508760"/>
            <a:ext cx="143560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Facility water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FFFFFF"/>
                </a:solidFill>
              </a:rPr>
              <a:t>设施水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7324344" y="24231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F8A"/>
                </a:solidFill>
              </a:rPr>
              <a:t>dry-bulb + ≈ 7 K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9308592" y="1938528"/>
            <a:ext cx="256032" cy="91"/>
          </a:xfrm>
          <a:prstGeom prst="line">
            <a:avLst/>
          </a:prstGeom>
          <a:noFill/>
          <a:ln w="22225">
            <a:solidFill>
              <a:srgbClr val="1B1D3A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9582912" y="150876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16A34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352" y="1751076"/>
            <a:ext cx="384048" cy="38404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076688" y="1508760"/>
            <a:ext cx="143560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Dry coolers + trim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FFFFFF"/>
                </a:solidFill>
              </a:rPr>
              <a:t>干冷器+补冷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9582912" y="24231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F8A"/>
                </a:solidFill>
              </a:rPr>
              <a:t>little or no water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548640" y="292608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1F2FA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713232" y="3017520"/>
            <a:ext cx="512064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Technology cooling system (TCS): ≈ 35–40 °C supply to the cold plates, ≈ 10 K rise; filtered (25–50 µm) PG25 or inhibited water, dripless quick disconnects and leak detection under every rack row.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技术冷却系统（TCS）：冷板供液约35–40 °C，温升约10 K；过滤（25–50 µm）的PG25或缓蚀水、无滴漏快插接头，每排机柜下设漏水检测。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153912" y="292608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1F2FA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6318504" y="3017520"/>
            <a:ext cx="512064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Coolant distribution units (CDU): approach ≈ 3 K, N+1 pumps and units, one CDU of ≈ 1,500 kW (facility) or ≈ 1.3 MW in-row per ≈ 8 GB300 racks; controls on flow and differential pressure.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冷却液分配单元（CDU）：趋近温度约3 K，水泵及机组N+1；设施级CDU约1,500 kW，或列间约1.3 MW服务约8台GB300机柜；按流量及压差控制。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548640" y="461772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713232" y="4709160"/>
            <a:ext cx="512064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Facility water system (FWS) ≈ 7 K above outdoor dry-bulb, rejected by dry coolers (little or no water) with chiller trim for the hottest hours; ≈ 10–20% residual heat still goes to air (CRAH / fan walls).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设施水系统（FWS）比室外干球高约7 K，由干冷器（几乎不耗水）散热，最热时段由冷机补冷；仍有约10–20%余热需由空气（精密空调/风墙）处理。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153912" y="461772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6318504" y="4709160"/>
            <a:ext cx="512064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Commission the liquid loops like process piping: flushing and cleanliness, pressure tests, coolant chemistry baseline, CDU failover and leak-response tests at L4–L5.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液冷环路按工艺管道调试：冲洗与清洁、压力试验、冷却液化学基线，并在L4–L5进行CDU切换及漏水响应测试。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Energy storage: UPS batteries and BESS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储能：UPS电池与电池储能系统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2788920"/>
          </a:xfrm>
          <a:prstGeom prst="roundRect">
            <a:avLst>
              <a:gd name="adj" fmla="val 262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36192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656893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508760"/>
            <a:ext cx="4480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UPS batteries — ride-through to the generators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50" b="1" dirty="0">
                <a:solidFill>
                  <a:schemeClr val="accent1"/>
                </a:solidFill>
              </a:rPr>
              <a:t>UPS电池——过渡至发电机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48840"/>
            <a:ext cx="512064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UPS batteries: LFP lithium-ion is standard for new Indonesian data centers (≈ 1/3 of the footprint and weight of VRLA, 12–15 year life, built-in BMS); design to NFPA 855 and UL 9540A test data.</a:t>
            </a:r>
            <a:endParaRPr lang="en-US" sz="1000" dirty="0"/>
          </a:p>
          <a:p>
            <a:pPr marL="177800" indent="-1778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00" dirty="0">
                <a:solidFill>
                  <a:schemeClr val="accent1"/>
                </a:solidFill>
              </a:rPr>
              <a:t>UPS电池：磷酸铁锂已成为印尼新建数据中心标配（占地及重量约为铅酸的1/3、寿命12–15年、内置BMS）；按NFPA 855及UL 9540A试验数据设计。</a:t>
            </a:r>
            <a:endParaRPr lang="en-US" sz="10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UPS autonomy proposed: 5 min with LFP (10 min Tier IV), 10 min with VRLA (15 min Tier IV) — generators start and accept load in 10–15 s; AI factories 5 min.</a:t>
            </a:r>
            <a:endParaRPr lang="en-US" sz="1000" dirty="0"/>
          </a:p>
          <a:p>
            <a:pPr marL="177800" indent="-1778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00" dirty="0">
                <a:solidFill>
                  <a:schemeClr val="accent1"/>
                </a:solidFill>
              </a:rPr>
              <a:t>建议UPS后备：磷酸铁锂5 min（Tier IV 10 min），铅酸10 min（Tier IV 15 min）——发电机10–15 s启动接带负荷；AI算力中心5 min。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53912" y="1417320"/>
            <a:ext cx="5440680" cy="2788920"/>
          </a:xfrm>
          <a:prstGeom prst="roundRect">
            <a:avLst>
              <a:gd name="adj" fmla="val 262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36792" y="1536192"/>
            <a:ext cx="502920" cy="502920"/>
          </a:xfrm>
          <a:prstGeom prst="ellipse">
            <a:avLst/>
          </a:prstGeom>
          <a:solidFill>
            <a:srgbClr val="0EA5C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493" y="1656893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76872" y="1508760"/>
            <a:ext cx="4480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BESS — buffer, support and peak shaving</a:t>
            </a:r>
            <a:endParaRPr lang="en-US" sz="13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50" b="1" dirty="0">
                <a:solidFill>
                  <a:schemeClr val="accent1"/>
                </a:solidFill>
              </a:rPr>
              <a:t>储能——缓冲、支撑与削峰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336792" y="2148840"/>
            <a:ext cx="512064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BESS is proposed for AI factories (≈ 15% of IT MW for 1 h, buffering synchronous GPU load swings), weaker grids ≥ 5 MW (≈ 10% for 2 h) and renewable-heavy hyperscale / wholesale sites (≈ 10% for 2 h).</a:t>
            </a:r>
            <a:endParaRPr lang="en-US" sz="1000" dirty="0"/>
          </a:p>
          <a:p>
            <a:pPr marL="177800" indent="-1778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00" dirty="0">
                <a:solidFill>
                  <a:schemeClr val="accent1"/>
                </a:solidFill>
              </a:rPr>
              <a:t>储能建议用于：AI算力中心（IT MW约15%、1 h，缓冲GPU同步负荷波动）、≥5 MW的弱电网站点（约10%、2 h）及高可再生比例的超大规模/批发站点（约10%、2 h）。</a:t>
            </a:r>
            <a:endParaRPr lang="en-US" sz="10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Planning values: LFP containers ≈ 5 MWh each, ≈ USD 280/kWh installed incl. PCS; peak-shaving savings arise on TM tariffs (peak/off-peak), not on flat TT tariffs. A BESS never replaces generators or UPS.</a:t>
            </a:r>
            <a:endParaRPr lang="en-US" sz="1000" dirty="0"/>
          </a:p>
          <a:p>
            <a:pPr marL="177800" indent="-1778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00" dirty="0">
                <a:solidFill>
                  <a:schemeClr val="accent1"/>
                </a:solidFill>
              </a:rPr>
              <a:t>规划参数：每个LFP集装箱约5 MWh，含PCS安装约280美元/kWh；削峰收益仅在中压分时电价下产生，高压统一电价下无此收益。储能不替代发电机或UPS。</a:t>
            </a:r>
            <a:endParaRPr lang="en-US" sz="10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4340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1097280"/>
                <a:gridCol w="1828800"/>
                <a:gridCol w="1280160"/>
                <a:gridCol w="1401775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Benchmark with BESS  配置储能的基准设计</a:t>
                      </a:r>
                      <a:endParaRPr lang="en-US" sz="100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IT MW</a:t>
                      </a:r>
                      <a:endParaRPr lang="en-US" sz="100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BESS MW / MWh</a:t>
                      </a:r>
                      <a:endParaRPr lang="en-US" sz="100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Containers</a:t>
                      </a:r>
                      <a:endParaRPr lang="en-US" sz="100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CAPEX</a:t>
                      </a:r>
                      <a:endParaRPr lang="en-US" sz="100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A03 · Government / sovereign data center — 5 MW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</a:rPr>
                        <a:t>0.5 / 1.0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USD 0.3 M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A06 · Wholesale / build-to-suit — 30 MW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</a:rPr>
                        <a:t>3.0 / 6.0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USD 1.7 M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A07 · Hyperscale cloud campus — 100 MW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</a:rPr>
                        <a:t>10.0 / 20.0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USD 5.6 M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A08 · AI factory — 50 MW liquid-cooled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</a:rPr>
                        <a:t>7.5 / 7.5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USD 2.1 M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A09 · Highland high-efficiency DC — 20 MW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</a:rPr>
                        <a:t>2.0 / 4.0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USD 1.1 M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A10 · AI gigawatt-class campus — 600 MW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600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</a:rPr>
                        <a:t>90.0 / 90.0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USD 25.2 M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A11 · Regional edge data center — 25 MW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</a:rPr>
                        <a:t>2.5 / 5.0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USD 1.4 M</a:t>
                      </a:r>
                      <a:endParaRPr lang="en-US" sz="8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Resilience target → redundancy, autonomy and cost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韧性目标→冗余、后备时间与投资</a:t>
            </a:r>
            <a:endParaRPr lang="en-US" sz="18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463040"/>
                <a:gridCol w="1188720"/>
                <a:gridCol w="640080"/>
                <a:gridCol w="640080"/>
                <a:gridCol w="1325880"/>
                <a:gridCol w="1234440"/>
                <a:gridCol w="1371600"/>
                <a:gridCol w="1493215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Tier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Redundancy  冗余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Availability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CM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FT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Fuel (JAMALI)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UPS (LFP)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CAPEX factor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USD M/MW*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F3CBB"/>
                          </a:solidFill>
                        </a:rPr>
                        <a:t>Tier I</a:t>
                      </a:r>
                      <a:endParaRPr lang="en-US" sz="1000" dirty="0"/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Tier I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99.671 %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12 h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5 min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× 0.62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6.8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F3CBB"/>
                          </a:solidFill>
                        </a:rPr>
                        <a:t>Tier II</a:t>
                      </a:r>
                      <a:endParaRPr lang="en-US" sz="1000" dirty="0"/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Tier II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N+1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99.741 %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24 h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5 min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× 0.78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8.6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F3CBB"/>
                          </a:solidFill>
                        </a:rPr>
                        <a:t>Tier III</a:t>
                      </a:r>
                      <a:endParaRPr lang="en-US" sz="1000" dirty="0"/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Tier III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N+1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99.982 %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24 h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5 min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× 1.00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11.0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F3CBB"/>
                          </a:solidFill>
                        </a:rPr>
                        <a:t>Tier IV</a:t>
                      </a:r>
                      <a:endParaRPr lang="en-US" sz="1000" dirty="0"/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Tier IV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2N / 2(N+1)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99.995 %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48 h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10 min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× 1.28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14.1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069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8A"/>
                </a:solidFill>
              </a:rPr>
              <a:t>* Retail colocation benchmark (A05, 10 MW, Bekasi–Cikarang) re-run at each Tier.  零售托管基准（A05，10 MW，勿加泗-芝加朗）按各等级重算。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434840"/>
            <a:ext cx="11094415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Tier follows workload criticality: mission-critical ≥ 2 MW → Tier IV (≈ SNI 8799 Strata IV, 2N with automatic failover); business-critical → Tier III (Indonesian market standard); small sites &lt; 0.5 MW → Tier II.</a:t>
            </a:r>
            <a:endParaRPr lang="en-US" sz="1100" dirty="0"/>
          </a:p>
          <a:p>
            <a:pPr marL="177800" indent="-177800">
              <a:lnSpc>
                <a:spcPct val="95000"/>
              </a:lnSpc>
              <a:spcAft>
                <a:spcPts val="600"/>
              </a:spcAft>
              <a:buSzPct val="100000"/>
              <a:buChar char=" "/>
            </a:pPr>
            <a:r>
              <a:rPr lang="en-US" sz="1000" dirty="0">
                <a:solidFill>
                  <a:schemeClr val="accent1"/>
                </a:solidFill>
              </a:rPr>
              <a:t>等级取决于业务关键程度：≥2 MW关键任务→Tier IV（≈SNI 8799 Strata IV，2N自动切换）；业务关键→Tier III（印尼市场标准）；&lt;0.5 MW小型站点→Tier II。</a:t>
            </a:r>
            <a:endParaRPr lang="en-US" sz="11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Generator fuel: 12 / 24 / 24 / 48 h for Tier I–IV, +24 h on medium-reliability and +48 h on low-reliability grids (max 96 h). Uptime requires ≥ 12 h at N load; TIA-942 references 72 h (Rated-3) and 96 h (Rated-4).</a:t>
            </a:r>
            <a:endParaRPr lang="en-US" sz="1100" dirty="0"/>
          </a:p>
          <a:p>
            <a:pPr marL="177800" indent="-177800">
              <a:lnSpc>
                <a:spcPct val="95000"/>
              </a:lnSpc>
              <a:spcAft>
                <a:spcPts val="600"/>
              </a:spcAft>
              <a:buSzPct val="100000"/>
              <a:buChar char=" "/>
            </a:pPr>
            <a:r>
              <a:rPr lang="en-US" sz="1000" dirty="0">
                <a:solidFill>
                  <a:schemeClr val="accent1"/>
                </a:solidFill>
              </a:rPr>
              <a:t>发电机燃油：Tier I–IV分别12/24/24/48 h，中等可靠性电网+24 h、低可靠性电网+48 h（最多96 h）。Uptime要求N负荷下≥12 h；TIA-942参考72 h（Rated-3）及96 h（Rated-4）。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CAPEX: how USD 10–15 M per MW is built up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投资：每MW 1,000–1,500万美元如何构成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F1F2FA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463040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CB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USD 10.5 M/MW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1481328"/>
            <a:ext cx="3429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Greater Jakarta benchmark (Tier III, 10–30 MW)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大雅加达基准（Tier III，10–30 MW）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49424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2249424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× 0.95 – 1.4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2267712"/>
            <a:ext cx="3429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Location logistics factor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地点物流系数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035808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F1F2FA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3035808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5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× 0.62 – 1.28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3054096"/>
            <a:ext cx="3429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Tier I – IV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Tier I–IV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822192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3822192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C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× 1.45 – 0.87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3840480"/>
            <a:ext cx="3429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Scale (&lt; 1 MW … &gt; 300 MW)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规模（&lt;1 MW……&gt;300 MW）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608576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F1F2FA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4608576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× 0.95 – 1.10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423160" y="4626864"/>
            <a:ext cx="3429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Cooling (DX … immersion)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制冷（直膨……浸没）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394960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5394960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4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+ 15 %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423160" y="5413248"/>
            <a:ext cx="3429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Contingency + utility, land, BESS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不可预见费+电网接入、土地、储能</a:t>
            </a:r>
            <a:endParaRPr lang="en-US" sz="10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172200" y="1371600"/>
          <a:ext cx="5468112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3" name="Chart 1" descr=""/>
          <p:cNvGraphicFramePr/>
          <p:nvPr/>
        </p:nvGraphicFramePr>
        <p:xfrm>
          <a:off x="6172200" y="4709160"/>
          <a:ext cx="5468112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OPEX: energy is the dominant running cost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运营成本：电费是最主要的运行成本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69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3CBB"/>
                </a:solidFill>
              </a:rPr>
              <a:t>USD 10.0 M / yr · 105.4 GWh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89320" y="1463040"/>
            <a:ext cx="5650992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Energy is ≈ 63–73% of stabilised OPEX across the benchmark designs — PUE and the tariff class are the biggest levers.</a:t>
            </a:r>
            <a:endParaRPr lang="en-US" sz="1100" dirty="0"/>
          </a:p>
          <a:p>
            <a:pPr marL="177800" indent="-177800">
              <a:lnSpc>
                <a:spcPct val="95000"/>
              </a:lnSpc>
              <a:spcAft>
                <a:spcPts val="600"/>
              </a:spcAft>
              <a:buSzPct val="100000"/>
              <a:buChar char=" "/>
            </a:pPr>
            <a:r>
              <a:rPr lang="en-US" sz="1000" dirty="0">
                <a:solidFill>
                  <a:schemeClr val="accent1"/>
                </a:solidFill>
              </a:rPr>
              <a:t>各基准设计中电费约占稳定期运营成本的63–73%——PUE及电价类别是最大的影响因素。</a:t>
            </a:r>
            <a:endParaRPr lang="en-US" sz="11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Planning ratios: maintenance ≈ 1.2% of facility CAPEX per year (+1.5% of BESS CAPEX), insurance &amp; property ≈ 0.25%, other G&amp;A ≈ 0.25%; staff = FTE × cost (a 24/7 post needs ≈ 5.2 FTE).</a:t>
            </a:r>
            <a:endParaRPr lang="en-US" sz="1100" dirty="0"/>
          </a:p>
          <a:p>
            <a:pPr marL="177800" indent="-177800">
              <a:lnSpc>
                <a:spcPct val="95000"/>
              </a:lnSpc>
              <a:spcAft>
                <a:spcPts val="600"/>
              </a:spcAft>
              <a:buSzPct val="100000"/>
              <a:buChar char=" "/>
            </a:pPr>
            <a:r>
              <a:rPr lang="en-US" sz="1000" dirty="0">
                <a:solidFill>
                  <a:schemeClr val="accent1"/>
                </a:solidFill>
              </a:rPr>
              <a:t>规划比例：维护约为设施投资的1.2%/年（储能另加其投资的1.5%），保险及物业约0.25%，其他管理费约0.25%；人员=人数×单价（每个7×24岗位约需5.2人）。</a:t>
            </a:r>
            <a:endParaRPr lang="en-US" sz="11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Water follows the cooling choice (cooling towers evaporate ≈ 1.5 L per kWh of heat); RECs to match 100% of consumption add little cost.</a:t>
            </a:r>
            <a:endParaRPr lang="en-US" sz="1100" dirty="0"/>
          </a:p>
          <a:p>
            <a:pPr marL="177800" indent="-177800">
              <a:lnSpc>
                <a:spcPct val="95000"/>
              </a:lnSpc>
              <a:spcAft>
                <a:spcPts val="600"/>
              </a:spcAft>
              <a:buSzPct val="100000"/>
              <a:buChar char=" "/>
            </a:pPr>
            <a:r>
              <a:rPr lang="en-US" sz="1000" dirty="0">
                <a:solidFill>
                  <a:schemeClr val="accent1"/>
                </a:solidFill>
              </a:rPr>
              <a:t>用水取决于制冷方案（冷却塔每kWh热量约蒸发1.5 L）；以绿证匹配100%用电增加的成本很小。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89320" y="4846320"/>
            <a:ext cx="565099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72200" y="4937760"/>
            <a:ext cx="530352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Lever: 0.10 lower PUE on 10 MW at 85 % utilisation saves ≈ 7,446 MWh ≈ USD 0.50 M per year at the TM tariff.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chemeClr val="accent1"/>
                </a:solidFill>
              </a:rPr>
              <a:t>杠杆：10 MW、85%利用率下PUE降低0.10，每年可节省约7,446 MWh，按中压电价约0.50百万美元。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Business case: lease returns or cost of ownership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商业模式：租赁回报或拥有成本</a:t>
            </a:r>
            <a:endParaRPr lang="en-US" sz="18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3931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Facility type  设施类型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USD/kW·mo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Retail Colocation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零售型托管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F3CBB"/>
                          </a:solidFill>
                        </a:rPr>
                        <a:t>165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Wholesale / Build-to-Suit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批发型 / 定制建设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F3CBB"/>
                          </a:solidFill>
                        </a:rPr>
                        <a:t>135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Hyperscale / Cloud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超大规模 / 云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F3CBB"/>
                          </a:solidFill>
                        </a:rPr>
                        <a:t>125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AI Factory / HPC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AI算力中心 / 高性能计算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F3CBB"/>
                          </a:solidFill>
                        </a:rPr>
                        <a:t>185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Edge / Micro Data Center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边缘 / 微型数据中心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F3CBB"/>
                          </a:solidFill>
                        </a:rPr>
                        <a:t>190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Modular / Prefabricated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模块化 / 预制式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F3CBB"/>
                          </a:solidFill>
                        </a:rPr>
                        <a:t>150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Enterprise (Owner-operated)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企业自建（自用）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F3CBB"/>
                          </a:solidFill>
                        </a:rPr>
                        <a:t>165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Government / Sovereign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accent1"/>
                          </a:solidFill>
                        </a:rPr>
                        <a:t>政府 / 主权数据中心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F3CBB"/>
                          </a:solidFill>
                        </a:rPr>
                        <a:t>165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49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8A"/>
                </a:solidFill>
              </a:rPr>
              <a:t>Major hub · excl. power · Batam × 0.95 · emerging × 0.9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663440" y="1371600"/>
          <a:ext cx="697687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663440" y="4206240"/>
            <a:ext cx="6976872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Lease (colocation, wholesale, hyperscale, AI): monthly price per kW IT excluding power, utilisation ramp (≈ 2 years pre-leased hyperscale / AI, ≈ 4–5 years retail colocation) to 85–90%, power passed through at cost.</a:t>
            </a:r>
            <a:endParaRPr lang="en-US" sz="1000" dirty="0"/>
          </a:p>
          <a:p>
            <a:pPr marL="177800" indent="-1778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租赁（托管、批发、超大规模、AI）：按每kW IT月租计价（不含电费），利用率爬坡（预租超大规模/AI约2年，零售托管约4–5年）至85–90%，电费按成本转嫁。</a:t>
            </a:r>
            <a:endParaRPr lang="en-US" sz="10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Returns are unlevered and after 22% corporate tax, over 20 years, with a conservative exit at 10–12× EBITDA (regional transactions are often 15–25×); WACC ≈ 10% (USD) for developers, ≈ 8% for owner-occupiers.</a:t>
            </a:r>
            <a:endParaRPr lang="en-US" sz="1000" dirty="0"/>
          </a:p>
          <a:p>
            <a:pPr marL="177800" indent="-1778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回报按无杠杆、22%企业所得税后、20年计算，保守终值为10–12倍EBITDA（区域交易常为15–25倍）；开发商WACC约10%（美元），自用业主约8%。</a:t>
            </a:r>
            <a:endParaRPr lang="en-US" sz="10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Electricity resale with a markup requires an IUPTL licence — otherwise pass power through at cost.</a:t>
            </a:r>
            <a:endParaRPr lang="en-US" sz="1000" dirty="0"/>
          </a:p>
          <a:p>
            <a:pPr marL="177800" indent="-177800">
              <a:lnSpc>
                <a:spcPct val="95000"/>
              </a:lnSpc>
              <a:spcAft>
                <a:spcPts val="400"/>
              </a:spcAft>
              <a:buSzPct val="100000"/>
              <a:buChar char=" "/>
            </a:pPr>
            <a:r>
              <a:rPr lang="en-US" sz="950" dirty="0">
                <a:solidFill>
                  <a:schemeClr val="accent1"/>
                </a:solidFill>
              </a:rPr>
              <a:t>加价转售电力需持IUPTL许可——否则电费按成本转嫁。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Schedule: what sets Ready-for-Service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进度：什么决定投产时间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0" y="1481328"/>
            <a:ext cx="91" cy="3072384"/>
          </a:xfrm>
          <a:prstGeom prst="line">
            <a:avLst/>
          </a:prstGeom>
          <a:noFill/>
          <a:ln w="9525">
            <a:solidFill>
              <a:srgbClr val="E1E3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840480" y="4572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F8A"/>
                </a:solidFill>
              </a:rPr>
              <a:t>M0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727998" y="1481328"/>
            <a:ext cx="91" cy="3072384"/>
          </a:xfrm>
          <a:prstGeom prst="line">
            <a:avLst/>
          </a:prstGeom>
          <a:noFill/>
          <a:ln w="9525">
            <a:solidFill>
              <a:srgbClr val="E1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53678" y="4572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F8A"/>
                </a:solidFill>
              </a:rPr>
              <a:t>M6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41195" y="1481328"/>
            <a:ext cx="91" cy="3072384"/>
          </a:xfrm>
          <a:prstGeom prst="line">
            <a:avLst/>
          </a:prstGeom>
          <a:noFill/>
          <a:ln w="9525">
            <a:solidFill>
              <a:srgbClr val="E1E3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66875" y="4572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F8A"/>
                </a:solidFill>
              </a:rPr>
              <a:t>M12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954393" y="1481328"/>
            <a:ext cx="91" cy="3072384"/>
          </a:xfrm>
          <a:prstGeom prst="line">
            <a:avLst/>
          </a:prstGeom>
          <a:noFill/>
          <a:ln w="9525">
            <a:solidFill>
              <a:srgbClr val="E1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0073" y="4572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F8A"/>
                </a:solidFill>
              </a:rPr>
              <a:t>M18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567590" y="1481328"/>
            <a:ext cx="91" cy="3072384"/>
          </a:xfrm>
          <a:prstGeom prst="line">
            <a:avLst/>
          </a:prstGeom>
          <a:noFill/>
          <a:ln w="9525">
            <a:solidFill>
              <a:srgbClr val="E1E3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293270" y="4572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F8A"/>
                </a:solidFill>
              </a:rPr>
              <a:t>M24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472184"/>
            <a:ext cx="3474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00" dirty="0">
                <a:solidFill>
                  <a:schemeClr val="tx1"/>
                </a:solidFill>
              </a:rPr>
              <a:t>Feasibility, site selection &amp; land</a:t>
            </a:r>
            <a:endParaRPr lang="en-US" sz="900" dirty="0"/>
          </a:p>
          <a:p>
            <a:pPr algn="l" indent="0" marL="0">
              <a:lnSpc>
                <a:spcPct val="8500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chemeClr val="accent1"/>
                </a:solidFill>
              </a:rPr>
              <a:t>可行性研究、选址及土地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0" y="1563624"/>
            <a:ext cx="1075465" cy="237744"/>
          </a:xfrm>
          <a:prstGeom prst="rect">
            <a:avLst/>
          </a:prstGeom>
          <a:solidFill>
            <a:srgbClr val="3F3CB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35985" y="15361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1D3A"/>
                </a:solidFill>
              </a:rPr>
              <a:t>4 mo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1856232"/>
            <a:ext cx="3474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00" dirty="0">
                <a:solidFill>
                  <a:schemeClr val="tx1"/>
                </a:solidFill>
              </a:rPr>
              <a:t>Concept, schematic &amp; detailed design</a:t>
            </a:r>
            <a:endParaRPr lang="en-US" sz="900" dirty="0"/>
          </a:p>
          <a:p>
            <a:pPr algn="l" indent="0" marL="0">
              <a:lnSpc>
                <a:spcPct val="8500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chemeClr val="accent1"/>
                </a:solidFill>
              </a:rPr>
              <a:t>概念、方案及详细设计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90265" y="1947672"/>
            <a:ext cx="1882064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8049" y="1920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1D3A"/>
                </a:solidFill>
              </a:rPr>
              <a:t>7 mo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2240280"/>
            <a:ext cx="3474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00" dirty="0">
                <a:solidFill>
                  <a:schemeClr val="tx1"/>
                </a:solidFill>
              </a:rPr>
              <a:t>Permits (OSS-RBA, PKKPR, AMDAL/UKL-UPL, PBG)</a:t>
            </a:r>
            <a:endParaRPr lang="en-US" sz="900" dirty="0"/>
          </a:p>
          <a:p>
            <a:pPr algn="l" indent="0" marL="0">
              <a:lnSpc>
                <a:spcPct val="8500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chemeClr val="accent1"/>
                </a:solidFill>
              </a:rPr>
              <a:t>许可（OSS-RBA、PKKPR、AMDAL/UKL-UPL、PBG）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21399" y="2331720"/>
            <a:ext cx="2419796" cy="23774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86915" y="23042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1D3A"/>
                </a:solidFill>
              </a:rPr>
              <a:t>9 mo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2624328"/>
            <a:ext cx="3474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00" dirty="0">
                <a:solidFill>
                  <a:schemeClr val="tx1"/>
                </a:solidFill>
              </a:rPr>
              <a:t>PLN connection agreement &amp; energisation</a:t>
            </a:r>
            <a:endParaRPr lang="en-US" sz="900" dirty="0"/>
          </a:p>
          <a:p>
            <a:pPr algn="l" indent="0" marL="0">
              <a:lnSpc>
                <a:spcPct val="8500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chemeClr val="accent1"/>
                </a:solidFill>
              </a:rPr>
              <a:t>PLN接入协议及送电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190265" y="2715768"/>
            <a:ext cx="4301860" cy="23774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537845" y="26883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1D3A"/>
                </a:solidFill>
              </a:rPr>
              <a:t>16 mo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008376"/>
            <a:ext cx="3474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00" dirty="0">
                <a:solidFill>
                  <a:schemeClr val="tx1"/>
                </a:solidFill>
              </a:rPr>
              <a:t>Procurement of long-lead equipment</a:t>
            </a:r>
            <a:endParaRPr lang="en-US" sz="900" dirty="0"/>
          </a:p>
          <a:p>
            <a:pPr algn="l" indent="0" marL="0">
              <a:lnSpc>
                <a:spcPct val="8500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chemeClr val="accent1"/>
                </a:solidFill>
              </a:rPr>
              <a:t>长周期设备采购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65730" y="3099816"/>
            <a:ext cx="3226395" cy="237744"/>
          </a:xfrm>
          <a:prstGeom prst="rect">
            <a:avLst/>
          </a:prstGeom>
          <a:solidFill>
            <a:srgbClr val="F0544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537845" y="30723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1D3A"/>
                </a:solidFill>
              </a:rPr>
              <a:t>12 mo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3392424"/>
            <a:ext cx="3474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00" dirty="0">
                <a:solidFill>
                  <a:schemeClr val="tx1"/>
                </a:solidFill>
              </a:rPr>
              <a:t>Construction &amp; MEP installation</a:t>
            </a:r>
            <a:endParaRPr lang="en-US" sz="900" dirty="0"/>
          </a:p>
          <a:p>
            <a:pPr algn="l" indent="0" marL="0">
              <a:lnSpc>
                <a:spcPct val="8500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chemeClr val="accent1"/>
                </a:solidFill>
              </a:rPr>
              <a:t>施工及机电安装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03463" y="3483864"/>
            <a:ext cx="4032994" cy="237744"/>
          </a:xfrm>
          <a:prstGeom prst="rect">
            <a:avLst/>
          </a:prstGeom>
          <a:solidFill>
            <a:srgbClr val="0EA5C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882176" y="34564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1D3A"/>
                </a:solidFill>
              </a:rPr>
              <a:t>15 mo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776472"/>
            <a:ext cx="3474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00" dirty="0">
                <a:solidFill>
                  <a:schemeClr val="tx1"/>
                </a:solidFill>
              </a:rPr>
              <a:t>Testing &amp; commissioning (L1–L5)</a:t>
            </a:r>
            <a:endParaRPr lang="en-US" sz="900" dirty="0"/>
          </a:p>
          <a:p>
            <a:pPr algn="l" indent="0" marL="0">
              <a:lnSpc>
                <a:spcPct val="8500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chemeClr val="accent1"/>
                </a:solidFill>
              </a:rPr>
              <a:t>测试与调试（L1–L5）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567590" y="3867912"/>
            <a:ext cx="806599" cy="2377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1419909" y="3840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1D3A"/>
                </a:solidFill>
              </a:rPr>
              <a:t>3 mo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4160520"/>
            <a:ext cx="3474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00" dirty="0">
                <a:solidFill>
                  <a:schemeClr val="tx1"/>
                </a:solidFill>
              </a:rPr>
              <a:t>Ready for Service — Phase 1</a:t>
            </a:r>
            <a:endParaRPr lang="en-US" sz="900" dirty="0"/>
          </a:p>
          <a:p>
            <a:pPr algn="l" indent="0" marL="0">
              <a:lnSpc>
                <a:spcPct val="8500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chemeClr val="accent1"/>
                </a:solidFill>
              </a:rPr>
              <a:t>第一期投产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1374189" y="4251960"/>
            <a:ext cx="268866" cy="237744"/>
          </a:xfrm>
          <a:prstGeom prst="rect">
            <a:avLst/>
          </a:prstGeom>
          <a:solidFill>
            <a:srgbClr val="17153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1688775" y="4224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1D3A"/>
                </a:solidFill>
              </a:rPr>
              <a:t>1 mo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4892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3CBB"/>
                </a:solidFill>
              </a:rPr>
              <a:t>A05 retail colocation 10 MW, phase 1: 28 months to RFS   A05零售托管10 MW第一期：至投产28个月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212080"/>
            <a:ext cx="11094415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Programme to Ready-for-Service ranges from 18 months (edge) to 54 months (gigawatt-class campus) in the benchmark designs.</a:t>
            </a:r>
            <a:endParaRPr lang="en-US" sz="950" dirty="0"/>
          </a:p>
          <a:p>
            <a:pPr marL="177800" indent="-177800">
              <a:lnSpc>
                <a:spcPct val="95000"/>
              </a:lnSpc>
              <a:spcAft>
                <a:spcPts val="300"/>
              </a:spcAft>
              <a:buSzPct val="100000"/>
              <a:buChar char=" "/>
            </a:pPr>
            <a:r>
              <a:rPr lang="en-US" sz="900" dirty="0">
                <a:solidFill>
                  <a:schemeClr val="accent1"/>
                </a:solidFill>
              </a:rPr>
              <a:t>基准设计中至投产的工期从18个月（边缘）到54个月（吉瓦级园区）不等。</a:t>
            </a:r>
            <a:endParaRPr lang="en-US" sz="9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The PLN connection, permits (PKKPR, AMDAL / UKL-UPL, PBG) and long-lead equipment — HV/MV transformers and switchgear, generators, UPS, chillers and CDUs — set the critical path; freeze the single-line diagram early.</a:t>
            </a:r>
            <a:endParaRPr lang="en-US" sz="950" dirty="0"/>
          </a:p>
          <a:p>
            <a:pPr marL="177800" indent="-177800">
              <a:lnSpc>
                <a:spcPct val="95000"/>
              </a:lnSpc>
              <a:spcAft>
                <a:spcPts val="300"/>
              </a:spcAft>
              <a:buSzPct val="100000"/>
              <a:buChar char=" "/>
            </a:pPr>
            <a:r>
              <a:rPr lang="en-US" sz="900" dirty="0">
                <a:solidFill>
                  <a:schemeClr val="accent1"/>
                </a:solidFill>
              </a:rPr>
              <a:t>PLN接入、许可（PKKPR、AMDAL/UKL-UPL、PBG）及长周期设备——高/中压变压器及开关柜、发电机、UPS、冷机及CDU——决定关键路径；须尽早冻结单线图。</a:t>
            </a:r>
            <a:endParaRPr lang="en-US" sz="95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Prefabricated power skids and modules shorten site time for edge, modular and ≥ 50 MW AI projects; phase later capacity one year before it is needed.</a:t>
            </a:r>
            <a:endParaRPr lang="en-US" sz="950" dirty="0"/>
          </a:p>
          <a:p>
            <a:pPr marL="177800" indent="-177800">
              <a:lnSpc>
                <a:spcPct val="95000"/>
              </a:lnSpc>
              <a:spcAft>
                <a:spcPts val="300"/>
              </a:spcAft>
              <a:buSzPct val="100000"/>
              <a:buChar char=" "/>
            </a:pPr>
            <a:r>
              <a:rPr lang="en-US" sz="900" dirty="0">
                <a:solidFill>
                  <a:schemeClr val="accent1"/>
                </a:solidFill>
              </a:rPr>
              <a:t>预制电力撬块及模块可缩短边缘、模块化及≥50 MW AI项目的现场工期；后续容量在需求前一年建设。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Permits &amp; approvals in Indonesia (2026)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印尼许可与审批（2026年）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F1F2FA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737360"/>
            <a:ext cx="502920" cy="502920"/>
          </a:xfrm>
          <a:prstGeom prst="rect">
            <a:avLst/>
          </a:prstGeom>
          <a:solidFill>
            <a:srgbClr val="3F3CB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08760"/>
            <a:ext cx="4553712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OSS-RBA business licence (PP 28/2025): NIB + standard certificate, KBLI 2025 code 63102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OSS-RBA经营许可（PP 28/2025）：NIB+标准证书，KBLI 2025代码63102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53912" y="1463040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F1F2FA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63640" y="1737360"/>
            <a:ext cx="502920" cy="5029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931152" y="1508760"/>
            <a:ext cx="4553712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Spatial conformity KKPR / PKKPR for the site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场地空间用途符合性KKPR/PKKPR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679192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953512"/>
            <a:ext cx="502920" cy="502920"/>
          </a:xfrm>
          <a:prstGeom prst="rect">
            <a:avLst/>
          </a:prstGeom>
          <a:solidFill>
            <a:srgbClr val="3F3CB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724912"/>
            <a:ext cx="4553712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Environmental approval: AMDAL or UKL-UPL (PP 22/2021)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环境审批：AMDAL或UKL-UPL（PP 22/2021）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53912" y="2679192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2953512"/>
            <a:ext cx="502920" cy="5029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931152" y="2724912"/>
            <a:ext cx="4553712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Building approval PBG and certificate of function SLF (PP 16/2021)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建筑审批PBG及使用功能证书SLF（PP 16/2021）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F1F2FA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4169664"/>
            <a:ext cx="502920" cy="502920"/>
          </a:xfrm>
          <a:prstGeom prst="rect">
            <a:avLst/>
          </a:prstGeom>
          <a:solidFill>
            <a:srgbClr val="3F3CB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941064"/>
            <a:ext cx="4553712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PLN connection agreement &amp; SLO (operation-worthiness certificate); captive power licence if on-site generation exceeds limits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PLN接入协议及SLO（运行合格证）；现场发电超限时办理自备电力许可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53912" y="3895344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F1F2FA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4169664"/>
            <a:ext cx="502920" cy="5029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31152" y="3941064"/>
            <a:ext cx="4553712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PSE registration (Permenkomdigi 5/2025); personal data protection (UU 27/2022)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PSE登记（Permenkomdigi 5/2025）；个人数据保护（UU 27/2022）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111496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5385816"/>
            <a:ext cx="502920" cy="502920"/>
          </a:xfrm>
          <a:prstGeom prst="rect">
            <a:avLst/>
          </a:prstGeom>
          <a:solidFill>
            <a:srgbClr val="3F3CB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157216"/>
            <a:ext cx="4553712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Fire safety approval (Permen PU 26/2008, local Damkar); K3 electrical (Permenaker 12/2015)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消防审批（Permen PU 26/2008、地方消防局）；电气K3（Permenaker 12/2015）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53912" y="5111496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63640" y="5385816"/>
            <a:ext cx="502920" cy="5029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931152" y="5157216"/>
            <a:ext cx="4553712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Groundwater / surface-water permits when abstracting water; generator emission compliance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取用地下/地表水时办理许可；发电机排放合规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Top project risks and how to mitigate them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主要项目风险及应对</a:t>
            </a:r>
            <a:endParaRPr lang="en-US" sz="18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389120"/>
                <a:gridCol w="624809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Risk  风险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Mitigation  应对措施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54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A01: Project IRR (incl. exit value) 5.9% is below the discount rate 10%.</a:t>
                      </a:r>
                      <a:endParaRPr lang="en-US" sz="9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accent1"/>
                          </a:solidFill>
                        </a:rPr>
                        <a:t>A01：项目IRR（含终值）5.9%低于折现率10%。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Review pricing, phasing, CAPEX and ramp-up assumptions.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复核定价、分期、投资及爬坡假设。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A01: Flood exposure at Surabaya – Gresik.</a:t>
                      </a:r>
                      <a:endParaRPr lang="en-US" sz="9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accent1"/>
                          </a:solidFill>
                        </a:rPr>
                        <a:t>A01：泗水-锦石存在洪水风险。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Raise finished floor above the 100-year flood + freeboard, critical plant on upper levels, flood barriers.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室内地坪高于百年一遇洪水位并留超高，关键设备上置，设防洪挡板。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A01: RECs alone do not add new renewable capacity (additionality).</a:t>
                      </a:r>
                      <a:endParaRPr lang="en-US" sz="9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accent1"/>
                          </a:solidFill>
                        </a:rPr>
                        <a:t>A01：仅靠绿证无法新增可再生能源容量（额外性）。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Combine PLN RECs with rooftop solar (PLTS Atap) and long-term PPAs as RUPTL allows.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结合PLN绿证、屋顶光伏及RUPTL允许的长期购电协议。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A02: Lithium-ion batteries / BESS introduce thermal-runaway fire risk.</a:t>
                      </a:r>
                      <a:endParaRPr lang="en-US" sz="9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accent1"/>
                          </a:solidFill>
                        </a:rPr>
                        <a:t>A02：锂电池/储能存在热失控火灾风险。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LFP chemistry, UL 9540A-tested systems, off-gas detection and NFPA 855 separation.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采用磷酸铁锂、UL 9540A测试系统、逸出气体探测及NFPA 855间距。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A03: Grid reliability in East Kalimantan (Kalimantan interconnected grid) is lower than JAMALI.</a:t>
                      </a:r>
                      <a:endParaRPr lang="en-US" sz="9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accent1"/>
                          </a:solidFill>
                        </a:rPr>
                        <a:t>A03：东加里曼丹电网（加里曼丹互联电网）可靠性低于JAMALI电网。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Longer fuel autonomy, generator run-hours budget and BESS for grid support.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延长燃油自持、预留发电机运行小时并配置储能支撑电网。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A03: Long-lead equipment (transformers, generators, MV switchgear) currently 12–24 months.</a:t>
                      </a:r>
                      <a:endParaRPr lang="en-US" sz="9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accent1"/>
                          </a:solidFill>
                        </a:rPr>
                        <a:t>A03：长周期设备（变压器、发电机、中压开关柜）交期12–24个月。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Early procurement / reservation agreements and framework contracts.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提前采购/产能预留及框架合同。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A06: HV connection &gt; 30 MVA needs a dedicated 150 kV substation and 18–36 months of PLN works.</a:t>
                      </a:r>
                      <a:endParaRPr lang="en-US" sz="9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accent1"/>
                          </a:solidFill>
                        </a:rPr>
                        <a:t>A06：超过30 MVA的高压接入需专用150 kV变电站及18–36个月电网工程。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Start the PLN application (SLO, PJBTL) at feasibility; consider phased energisation.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可研阶段即启动PLN申请（SLO、供电协议）；考虑分期送电。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A08: Synchronous GPU load swings (tens of % within seconds) stress UPS, generators and the PLN grid.</a:t>
                      </a:r>
                      <a:endParaRPr lang="en-US" sz="9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accent1"/>
                          </a:solidFill>
                        </a:rPr>
                        <a:t>A08：GPU同步负荷波动（数秒内数十个百分点）冲击UPS、发电机及PLN电网。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BESS included for smoothing; confirm ramp-rate limits with PLN.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已配置储能平抑；与PLN确认爬坡率限值。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Eleven Indonesian benchmark designs at a glance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11个印尼基准设计一览</a:t>
            </a:r>
            <a:endParaRPr lang="en-US" sz="18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640080"/>
                <a:gridCol w="502920"/>
                <a:gridCol w="2377440"/>
                <a:gridCol w="594360"/>
                <a:gridCol w="1188720"/>
                <a:gridCol w="685800"/>
                <a:gridCol w="685800"/>
                <a:gridCol w="853135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Design  设计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MW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Tier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Cooling  制冷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PUE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CAPEX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M/MW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RFS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IRR / TCO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A01 Edge micro data center — 250 kW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边缘微型数据中心——250 kW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0.25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II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Air-cooled chillers + CRAH / fan wall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1.51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USD 4 M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11.9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18 mo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5.9 %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A02 Enterprise data center — 1 MW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企业数据中心——1 MW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III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Air-cooled chillers + CRAH / fan wall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1.51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USD 18 M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12.0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21 mo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TCO 281/kW·mo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A03 Government / sovereign data center — 5 MW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政府/主权数据中心——5 MW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IV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Air-cooled chillers + CRAH / fan wall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1.51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USD 89 M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15.3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28 mo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TCO 293/kW·mo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A04 Modular prefabricated data center — 2 MW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模块化预制数据中心——2 MW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III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Air-cooled chillers + CRAH / fan wall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1.50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USD 32 M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13.6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21 mo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TCO 292/kW·mo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A05 Retail colocation — 10 MW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零售型托管——10 MW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III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Water-cooled chillers + cooling towers + CRAH / fan wall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1.39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USD 132 M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11.0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28 mo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8.0 %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A06 Wholesale / build-to-suit — 30 MW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批发型/定制建设——30 MW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III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Direct liquid cooling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1.28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USD 405 M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11.3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40 mo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7.4 %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A07 Hyperscale cloud campus — 100 MW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超大规模云园区——100 MW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III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Direct liquid cooling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1.28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USD 1,208 M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10.2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40 mo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7.0 %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A08 AI factory — 50 MW liquid-cooled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AI算力中心——50 MW液冷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III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Direct liquid cooling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1.19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USD 657 M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11.1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40 mo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11.0 %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A09 Highland high-efficiency DC — 20 MW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高原高能效数据中心——20 MW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III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Direct liquid cooling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1.23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USD 266 M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11.3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28 mo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6.8 %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A10 AI gigawatt-class campus — 600 MW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AI吉瓦级园区——600 MW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600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III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Direct liquid cooling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1.18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USD 7,256 M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10.2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54 mo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11.5 %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A11 Regional edge data center — 25 MW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区域边缘数据中心——25 MW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III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Water-cooled chillers + cooling towers + CRAH / fan wall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1.38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USD 339 M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11.4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36 mo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9.6 %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real projects show (1/3): parameters by facility type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真实项目结论（1/3）：按设施类型的技术参数</a:t>
            </a:r>
            <a:endParaRPr lang="en-US" sz="18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731520"/>
                <a:gridCol w="1005840"/>
                <a:gridCol w="1005840"/>
                <a:gridCol w="731520"/>
                <a:gridCol w="731520"/>
                <a:gridCol w="1737360"/>
                <a:gridCol w="3230575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Facility type  设施类型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Projects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IT MW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kW / rack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PUE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Tier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Cooling  制冷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Examples  示例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F3CBB"/>
                          </a:solidFill>
                        </a:rPr>
                        <a:t>Enterprise (Owner-operated)</a:t>
                      </a:r>
                      <a:endParaRPr lang="en-US" sz="900" dirty="0"/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chemeClr val="accent1"/>
                          </a:solidFill>
                        </a:rPr>
                        <a:t>企业自建（自用）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IV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Chilled water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冷冻水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</a:rPr>
                        <a:t>Bank Indonesia · Bank Central Asia</a:t>
                      </a:r>
                      <a:endParaRPr lang="en-US" sz="7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F3CBB"/>
                          </a:solidFill>
                        </a:rPr>
                        <a:t>Retail Colocation</a:t>
                      </a:r>
                      <a:endParaRPr lang="en-US" sz="900" dirty="0"/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chemeClr val="accent1"/>
                          </a:solidFill>
                        </a:rPr>
                        <a:t>零售型托管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23–200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5–15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1.24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III / IV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Chilled water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冷冻水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</a:rPr>
                        <a:t>DCI Indonesia · NTT · Digital Edge · EdgeConneX</a:t>
                      </a:r>
                      <a:endParaRPr lang="en-US" sz="7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F3CBB"/>
                          </a:solidFill>
                        </a:rPr>
                        <a:t>Wholesale / Build-to-Suit</a:t>
                      </a:r>
                      <a:endParaRPr lang="en-US" sz="900" dirty="0"/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chemeClr val="accent1"/>
                          </a:solidFill>
                        </a:rPr>
                        <a:t>批发型 / 定制建设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72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–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</a:rPr>
                        <a:t>DayOne</a:t>
                      </a:r>
                      <a:endParaRPr lang="en-US" sz="7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F3CBB"/>
                          </a:solidFill>
                        </a:rPr>
                        <a:t>Hyperscale / Cloud</a:t>
                      </a:r>
                      <a:endParaRPr lang="en-US" sz="900" dirty="0"/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chemeClr val="accent1"/>
                          </a:solidFill>
                        </a:rPr>
                        <a:t>超大规模 / 云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54–500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40–100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1.07–1.15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III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Direct-to-chip liquid, Evaporative, Seawater, Air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冷板液冷、蒸发、海水、风冷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</a:rPr>
                        <a:t>Princeton Digital Group · Digital Edge · NeutraDC Nxera Batam · Microsoft Azure</a:t>
                      </a:r>
                      <a:endParaRPr lang="en-US" sz="7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F3CBB"/>
                          </a:solidFill>
                        </a:rPr>
                        <a:t>AI Factory / HPC</a:t>
                      </a:r>
                      <a:endParaRPr lang="en-US" sz="900" dirty="0"/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chemeClr val="accent1"/>
                          </a:solidFill>
                        </a:rPr>
                        <a:t>AI算力中心 / 高性能计算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150–5,000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100–500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1.30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III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Direct-to-chip liquid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冷板液冷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</a:rPr>
                        <a:t>BDx · YTL AI Data Centre · Microsoft · Stargate</a:t>
                      </a:r>
                      <a:endParaRPr lang="en-US" sz="7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F3CBB"/>
                          </a:solidFill>
                        </a:rPr>
                        <a:t>Edge / Micro Data Center</a:t>
                      </a:r>
                      <a:endParaRPr lang="en-US" sz="900" dirty="0"/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chemeClr val="accent1"/>
                          </a:solidFill>
                        </a:rPr>
                        <a:t>边缘 / 微型数据中心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6.0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3.2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II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Air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风冷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</a:rPr>
                        <a:t>Telkom neuCentrIX</a:t>
                      </a:r>
                      <a:endParaRPr lang="en-US" sz="7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F3CBB"/>
                          </a:solidFill>
                        </a:rPr>
                        <a:t>Government / Sovereign</a:t>
                      </a:r>
                      <a:endParaRPr lang="en-US" sz="900" dirty="0"/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chemeClr val="accent1"/>
                          </a:solidFill>
                        </a:rPr>
                        <a:t>政府 / 主权数据中心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IV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–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</a:rPr>
                        <a:t>Pusat Data Nasional</a:t>
                      </a:r>
                      <a:endParaRPr lang="en-US" sz="7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F3CBB"/>
                          </a:solidFill>
                        </a:rPr>
                        <a:t>Modular / Prefabricated</a:t>
                      </a:r>
                      <a:endParaRPr lang="en-US" sz="900" dirty="0"/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chemeClr val="accent1"/>
                          </a:solidFill>
                        </a:rPr>
                        <a:t>模块化 / 预制式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1.5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3.8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III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Air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风冷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</a:rPr>
                        <a:t>Space DC · Huawei prefabricated modular data center</a:t>
                      </a:r>
                      <a:endParaRPr lang="en-US" sz="7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80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8A"/>
                </a:solidFill>
              </a:rPr>
              <a:t>Publicly reported values (operators, trade press, datasheets); kW/rack marked ≈ is IT ÷ racks. Each project and its sources are in the website reference library.  公开报道数值（运营商、行业媒体、数据表）；“≈”机柜功率为IT÷机柜数。各项目及来源见网站参考项目库。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real projects show (2/3): findings by facility type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真实项目结论（2/3）：各类型要点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1F2FA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490472"/>
            <a:ext cx="5120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Enterprise (Owner-operated)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b="1" dirty="0">
                <a:solidFill>
                  <a:schemeClr val="accent1"/>
                </a:solidFill>
              </a:rPr>
              <a:t>企业自建（自用）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984248"/>
            <a:ext cx="5120640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B1D3A"/>
                </a:solidFill>
              </a:rPr>
              <a:t>Enterprise (bank) data centers are owner-operated and multi-site — BCA runs primary and secondary sites in Jakarta, Surabaya and Cibitung certified on operations (ISO 9001, ISO/IEC 27001, ISO/IEC 20000-1); central-bank infrastructure goes to Tier IV (Bank Indonesia, reported 2025). Typical 0.5–5 MW, 5–10 kW/rack, chilled water, Tier III–IV, with a disaster-recovery site.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企业（银行）数据中心由业主自营并多站点部署——BCA在雅加达、泗水及芝比通设主备站点，运营获ISO 9001、ISO/IEC 27001及ISO/IEC 20000-1认证；央行基础设施达到Tier IV（印尼央行，2025年报道）。典型0.5–5 MW、5–10 kW/柜、冷冻水、Tier III–IV，并设灾备站点。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53912" y="141732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1F2FA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18504" y="1490472"/>
            <a:ext cx="5120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Retail Colocation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b="1" dirty="0">
                <a:solidFill>
                  <a:schemeClr val="accent1"/>
                </a:solidFill>
              </a:rPr>
              <a:t>零售型托管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18504" y="1984248"/>
            <a:ext cx="5120640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B1D3A"/>
                </a:solidFill>
              </a:rPr>
              <a:t>Jakarta colocation campuses are 23–200 MW: EDGE2 has 23 MW for 3,400+ racks (≈ 6.8 kW/rack average) at an annualised PUE of 1.24; NTT JKT3 45 MW at 5–15 kW/rack with a chilled-water cooling wall; DCI Cibitung 73 MW with Uptime Tier IV. New halls are liquid-cooling-ready for AI tenants (DCI JK6, EDGE2).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雅加达托管园区规模为23–200 MW：EDGE2以23 MW承载3,400余个机柜（平均约6.8 kW/柜），年均PUE 1.24；NTT JKT3为45 MW、5–15 kW/柜，采用冷冻水冷却墙；DCI芝比通73 MW并获Uptime Tier IV。新机房均为AI租户预留液冷（DCI JK6、EDGE2）。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904488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3977640"/>
            <a:ext cx="5120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Wholesale / Build-to-Suit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b="1" dirty="0">
                <a:solidFill>
                  <a:schemeClr val="accent1"/>
                </a:solidFill>
              </a:rPr>
              <a:t>批发型 / 定制建设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4471416"/>
            <a:ext cx="5120640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B1D3A"/>
                </a:solidFill>
              </a:rPr>
              <a:t>Wholesale / build-to-suit campuses of 50–120 MW secure PLN capacity well above the IT load: DayOne Batam 72 MW with a 511 MVA PLN agreement; NeutraDC Nxera Batam 54 MW with up to 90 MVA, Tier III design and liquid cooling at 40–100 kW/rack.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批发/定制园区规模为50–120 MW，PLN容量远高于IT负载：DayOne巴淡72 MW，PLN协议511 MVA；NeutraDC Nxera巴淡54 MW，最高90 MVA，Tier III设计，液冷40–100 kW/柜。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53912" y="3904488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18504" y="3977640"/>
            <a:ext cx="5120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Hyperscale / Cloud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b="1" dirty="0">
                <a:solidFill>
                  <a:schemeClr val="accent1"/>
                </a:solidFill>
              </a:rPr>
              <a:t>超大规模 / 云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18504" y="4471416"/>
            <a:ext cx="5120640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B1D3A"/>
                </a:solidFill>
              </a:rPr>
              <a:t>Hyperscale campuses are 100–200 MW and more: PDG JC3 120 MW with dual PLN feeds and direct-to-chip cooling (USD 1 bn ≈ USD 8.3 M/MW); AirTrunk JHB1 150 MW at a design PUE of 1.15 with liquid + indirect evaporative cooling; cloud regions in Jakarta (AWS, Microsoft, Google) are built as three availability zones.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超大规模园区达100–200 MW以上：PDG JC3 120 MW，PLN双进线、冷板液冷（10亿美元≈830万美元/MW）；AirTrunk JHB1 150 MW，设计PUE 1.15，液冷+间接蒸发冷却；雅加达云区域（AWS、微软、谷歌）均按3个可用区建设。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real projects show (3/3): findings by facility type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真实项目结论（3/3）：各类型要点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1F2FA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490472"/>
            <a:ext cx="5120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AI Factory / HPC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b="1" dirty="0">
                <a:solidFill>
                  <a:schemeClr val="accent1"/>
                </a:solidFill>
              </a:rPr>
              <a:t>AI算力中心 / 高性能计算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984248"/>
            <a:ext cx="5120640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B1D3A"/>
                </a:solidFill>
              </a:rPr>
              <a:t>AI factories are planned at hundreds of MW to GW (BDx CGK4 500 MW with 845 MVA; YTL Kulai 600 MW park; Stargate Abilene 1.2 GW). Racks are GB200 / GB300 NVL72-class at 120–142 kW with closed-loop direct-to-chip cooling (Abilene: air-cooled heat exchangers, zero evaporation; Fairwater: &gt; 90 % liquid); next generations reach 500 kW/rack (BDx). Batteries buffer GPU swings (xAI Colossus).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AI算力中心规划规模为数百MW至GW级（BDx CGK4 500 MW、845 MVA；YTL Kulai园区600 MW；Stargate Abilene 1.2 GW）。机柜为GB200/GB300 NVL72级120–142 kW，采用闭式冷板液冷（Abilene：风冷换热器、零蒸发；Fairwater：&gt;90%液冷）；下一代可达500 kW/柜（BDx）。电池缓冲GPU负荷波动（xAI Colossus）。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53912" y="141732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1F2FA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18504" y="1490472"/>
            <a:ext cx="5120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Edge / Micro Data Center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b="1" dirty="0">
                <a:solidFill>
                  <a:schemeClr val="accent1"/>
                </a:solidFill>
              </a:rPr>
              <a:t>边缘 / 微型数据中心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18504" y="1984248"/>
            <a:ext cx="5120640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B1D3A"/>
                </a:solidFill>
              </a:rPr>
              <a:t>Edge in Indonesia means many small rooms close to users: Telkom neuCentrIX runs ≈ 1,900 racks over 18–20 cities for ≈ 6 MW in total (≈ 3 kW per rack on average; e.g. 29 racks, Tier II, at Ulin Banjarmasin). Plan 0.1–1 MW per site, 3–8 kW/rack, Tier II–III, DX or in-row cooling and remote operation.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印尼的边缘数据中心是大量靠近用户的小型机房：Telkom neuCentrIX在18–20个城市共约1,900个机柜、合计约6 MW（平均每柜约3 kW；如马辰乌林站点29柜、Tier II）。单站规划0.1–1 MW、3–8 kW/柜、Tier II–III、直膨或列间空调并远程运维。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904488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3977640"/>
            <a:ext cx="5120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Government / Sovereign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b="1" dirty="0">
                <a:solidFill>
                  <a:schemeClr val="accent1"/>
                </a:solidFill>
              </a:rPr>
              <a:t>政府 / 主权数据中心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4471416"/>
            <a:ext cx="5120640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B1D3A"/>
                </a:solidFill>
              </a:rPr>
              <a:t>Government / sovereign: PDN Cikarang is Tier IV, 20 MW expandable to 80 MW, with ≈ 25,000 cores and 40 PB of storage; government data should be hosted at SNI 8799 Strata III / Tier III or above.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政府/主权：PDN芝加朗为Tier IV，20 MW可扩至80 MW，约25,000个计算核心及40 PB存储；政府数据应托管于SNI 8799 Strata III/Tier III及以上设施。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53912" y="3904488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3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18504" y="3977640"/>
            <a:ext cx="5120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Modular / Prefabricated</a:t>
            </a:r>
            <a:endParaRPr lang="en-US" sz="12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50" b="1" dirty="0">
                <a:solidFill>
                  <a:schemeClr val="accent1"/>
                </a:solidFill>
              </a:rPr>
              <a:t>模块化 / 预制式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18504" y="4471416"/>
            <a:ext cx="5120640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B1D3A"/>
                </a:solidFill>
              </a:rPr>
              <a:t>Prefabricated / containerised builds trade flexibility for speed: Space DC JAK2 delivered 1.45 MW at 3.8 kW/rack with Uptime Tier III, and Huawei modules for 3 Indonesia were installed in 40 days instead of ≈ 3 months. Use 0.25–5 MW blocks at 4–15 kW/rack unless AI pods are added.</a:t>
            </a:r>
            <a:endParaRPr lang="en-US" sz="10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chemeClr val="accent1"/>
                </a:solidFill>
              </a:rPr>
              <a:t>预制/集装箱式建设以灵活性换取速度：Space DC JAK2以3.8 kW/柜交付1.45 MW并获Uptime Tier III；华为为3 Indonesia提供的模块40天完成安装（原约3个月）。除非加装AI舱，宜采用0.25–5 MW单元、4–15 kW/柜。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Linked parameters in the simulation (1/2): power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模拟中的联动参数（1/2）：供电</a:t>
            </a:r>
            <a:endParaRPr lang="en-US" sz="18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3291840"/>
                <a:gridCol w="3962095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System  系统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When you change  修改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These follow automatically  自动联动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Rule / code basis  规则/规范依据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F3CBB"/>
                          </a:solidFill>
                        </a:rPr>
                        <a:t>Utility &amp; MV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</a:rPr>
                        <a:t>市电与中压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IT load, design-day PUE, Tier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IT负载、设计日PUE、等级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PLN voltage class, number of feeds, MV switchgear type (AIS / GIS), 150/20 kV transformers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PLN电压等级、进线数、中压开关类型（AIS/GIS）、150/20 kV主变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≤ 30 MVA → 20 kV TM, &gt; 30 MVA → 150 kV TT; Tier III+ two feeds; IEC 62271-200 / -203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chemeClr val="accent1"/>
                          </a:solidFill>
                        </a:rPr>
                        <a:t>≤30 MVA→20 kV中压，&gt;30 MVA→150 kV高压；Tier III及以上两路进线；IEC 62271-200/-203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F3CBB"/>
                          </a:solidFill>
                        </a:rPr>
                        <a:t>Transformers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</a:rPr>
                        <a:t>变压器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Maximum demand, loading limit, Tier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最大需量、负载率上限、等级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Transformer rating, impedance, quantity, LV ACB frame, switchboard fault rating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变压器容量、阻抗、台数、低压框架断路器、配电柜短路额定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IEC 60076-1/-5/-11 ratings &amp; uk; IEC 60947-2; IEC 61439-2; one-unit-out loading ≤ 100 %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chemeClr val="accent1"/>
                          </a:solidFill>
                        </a:rPr>
                        <a:t>IEC 60076-1/-5/-11容量及阻抗；IEC 60947-2；IEC 61439-2；一台退出后负载率≤100%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F3CBB"/>
                          </a:solidFill>
                        </a:rPr>
                        <a:t>Tariff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</a:rPr>
                        <a:t>电价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IT load and overheads (connection size)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IT负载及附加负荷（接入规模）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PLN tariff class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PLN电价类别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B-3/I-3 TM ≈ Rp1,207.6/kWh blended; I-4 TT Rp996.74/kWh (Q4 2026)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chemeClr val="accent1"/>
                          </a:solidFill>
                        </a:rPr>
                        <a:t>B-3/I-3中压加权约1,207.6印尼盾/kWh；I-4高压996.74印尼盾/kWh（2026年第四季度）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F3CBB"/>
                          </a:solidFill>
                        </a:rPr>
                        <a:t>Generators &amp; fuel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</a:rPr>
                        <a:t>发电机与燃油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Maximum demand, Tier, PLN grid reliability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最大需量、等级、PLN电网可靠性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Fuel autonomy, tank size and count, generator rating and quantity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燃油自持时间、储罐规格及数量、发电机容量及台数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Uptime ≥ 12 h, TIA-942 72 / 96 h; +24 / +48 h weak grids; ≥ 2 tanks Tier III+ (NFPA 110); continuous rating ISO 8528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chemeClr val="accent1"/>
                          </a:solidFill>
                        </a:rPr>
                        <a:t>Uptime≥12 h，TIA-942 72/96 h；弱电网+24/+48 h；Tier III及以上≥2个储罐（NFPA 110）；持续功率ISO 8528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F3CBB"/>
                          </a:solidFill>
                        </a:rPr>
                        <a:t>UPS &amp; batteries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</a:rPr>
                        <a:t>UPS与电池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Battery chemistry, Tier, facility type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电池类型、等级、设施类型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Autonomy (min), room criteria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后备时间（min）、电池室要求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LFP 5 min (T-IV 10), VRLA 10 min (T-IV 15); IEEE 485 ageing 1.25; NFPA 855 / UL 9540A or IEC 62485-2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chemeClr val="accent1"/>
                          </a:solidFill>
                        </a:rPr>
                        <a:t>磷酸铁锂5 min（Tier IV 10），铅酸10 min（Tier IV 15）；IEEE 485老化系数1.25；NFPA 855/UL 9540A或IEC 62485-2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F3CBB"/>
                          </a:solidFill>
                        </a:rPr>
                        <a:t>Busway &amp; rack power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</a:rPr>
                        <a:t>母线与机柜供电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Racks per row, rack density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每排机柜数、机柜功率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Row load, busway rating, rack tap-off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每排负载、母线额定、机柜插接箱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2N A + B, each carries the row; IEC 61439-6; IEC 60309 tap-offs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chemeClr val="accent1"/>
                          </a:solidFill>
                        </a:rPr>
                        <a:t>2N A+B，各自承担整排；IEC 61439-6；IEC 60309插接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F3CBB"/>
                          </a:solidFill>
                        </a:rPr>
                        <a:t>BESS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</a:rPr>
                        <a:t>储能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Purpose (GPU buffer / weak grid / peak shaving)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用途（GPU缓冲/弱电网/削峰）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Power share of IT, duration, containers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功率占IT比例、时长、集装箱数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15 % × 1 h (AI), 10 % × 2 h (grid / peak); 5 MWh containers; NFPA 855 separation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chemeClr val="accent1"/>
                          </a:solidFill>
                        </a:rPr>
                        <a:t>15%×1 h（AI），10%×2 h（电网/削峰）；5 MWh集装箱；NFPA 855间距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350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F8A"/>
                </a:solidFill>
              </a:rPr>
              <a:t>AUTO values follow the rule when a source changes; editing one makes it MANUAL and ↺ restores the rule.  自动值随来源参数变化；修改后转为手动，↺恢复规则值。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Linked parameters in the simulation (2/2): cooling, fire &amp; monitoring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模拟中的联动参数（2/2）：制冷、消防与监控</a:t>
            </a:r>
            <a:endParaRPr lang="en-US" sz="18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3291840"/>
                <a:gridCol w="3962095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System  系统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When you change  修改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These follow automatically  自动联动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Rule / code basis  规则/规范依据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F3CBB"/>
                          </a:solidFill>
                        </a:rPr>
                        <a:t>Air cooling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</a:rPr>
                        <a:t>风冷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Air-cooled racks, rack load, ΔT, Tier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风冷机柜数、单柜负载、温差、等级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Hall heat, airflow, fan walls incl. redundancy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机房热负荷、风量、风墙（含冗余）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ASHRAE TC 9.9 supply 18–27 °C; N+20 % terminals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chemeClr val="accent1"/>
                          </a:solidFill>
                        </a:rPr>
                        <a:t>ASHRAE TC 9.9送风18–27 °C；末端N+20%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F3CBB"/>
                          </a:solidFill>
                        </a:rPr>
                        <a:t>Chilled water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</a:rPr>
                        <a:t>冷冻水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Chilled-water load, Tier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冷冻水负荷、等级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Chiller frame size, quantity, flow, header DN, tower heat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冷机机型、台数、流量、主干管管径、冷却塔散热量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AHRI 550/590 frames 1,407 / 2,461 / 3,517 kW (water-cooled); ≤ 2.4 m/s headers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chemeClr val="accent1"/>
                          </a:solidFill>
                        </a:rPr>
                        <a:t>AHRI 550/590机型1,407/2,461/3,517 kW（水冷）；主干管≤2.4 m/s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F3CBB"/>
                          </a:solidFill>
                        </a:rPr>
                        <a:t>Thermal storage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</a:rPr>
                        <a:t>蓄冷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Tier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等级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Ride-through time and tank volume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后备时间及储罐容积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5 / 10 / 15 min (below T-III / T-III / T-IV continuous cooling)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chemeClr val="accent1"/>
                          </a:solidFill>
                        </a:rPr>
                        <a:t>5/10/15 min（Tier III以下/III/IV连续制冷）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F3CBB"/>
                          </a:solidFill>
                        </a:rPr>
                        <a:t>Liquid cooling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</a:rPr>
                        <a:t>液冷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Heat to liquid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液冷热量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CDU frame, standby CDUs, dry coolers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CDU机型、备用CDU、干冷器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≈ 800 kW below 3 MW, ≈ 1,500 kW above; 1 standby per 4 duty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chemeClr val="accent1"/>
                          </a:solidFill>
                        </a:rPr>
                        <a:t>3 MW以下约800 kW，以上约1,500 kW；每4台工作配1台备用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F3CBB"/>
                          </a:solidFill>
                        </a:rPr>
                        <a:t>Gas suppression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</a:rPr>
                        <a:t>气体灭火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Room area &amp; height, agent, hazard class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房间面积及高度、灭火剂、火灾类别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Protected volume, design concentration, agent mass, NOAEL check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保护容积、设计浓度、灭火剂用量、NOAEL校核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NFPA 2001 / ISO 14520: × 1.2 Class A, × 1.35 Class C; NOAEL 9 % / 10 %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chemeClr val="accent1"/>
                          </a:solidFill>
                        </a:rPr>
                        <a:t>NFPA 2001/ISO 14520：A类×1.2，C类×1.35；NOAEL 9%/10%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F3CBB"/>
                          </a:solidFill>
                        </a:rPr>
                        <a:t>CCTV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</a:rPr>
                        <a:t>视频监控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Resolution, codec, cameras, retention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分辨率、编码、摄像机数、保存天数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Bit rate, storage (TB), network load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码率、存储容量（TB）、网络负载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IEC 62676-4 planning; 90-day retention practice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chemeClr val="accent1"/>
                          </a:solidFill>
                        </a:rPr>
                        <a:t>IEC 62676-4规划；90天保存惯例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F3CBB"/>
                          </a:solidFill>
                        </a:rPr>
                        <a:t>Monitoring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</a:rPr>
                        <a:t>监控系统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IT load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IT负载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Transformers, UPS, busway runs → BMS points &amp; EPMS meters</a:t>
                      </a:r>
                      <a:endParaRPr lang="en-US" sz="85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chemeClr val="accent1"/>
                          </a:solidFill>
                        </a:rPr>
                        <a:t>变压器、UPS、母线数→BMS点位及EPMS电表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Scaled from the design basis topology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chemeClr val="accent1"/>
                          </a:solidFill>
                        </a:rPr>
                        <a:t>按设计基准拓扑等比例换算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350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F8A"/>
                </a:solidFill>
              </a:rPr>
              <a:t>AUTO values follow the rule when a source changes; editing one makes it MANUAL and ↺ restores the rule.  自动值随来源参数变化；修改后转为手动，↺恢复规则值。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From knowledge to decision: simulation and assessment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229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从知识到决策：技术模拟与项目评估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93192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45920"/>
            <a:ext cx="566928" cy="566928"/>
          </a:xfrm>
          <a:prstGeom prst="ellipse">
            <a:avLst/>
          </a:prstGeom>
          <a:solidFill>
            <a:srgbClr val="3F3CB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71" y="178198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27632"/>
            <a:ext cx="43891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Project Technology Simulation</a:t>
            </a:r>
            <a:endParaRPr lang="en-US" sz="15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50" b="1" dirty="0">
                <a:solidFill>
                  <a:schemeClr val="accent1"/>
                </a:solidFill>
              </a:rPr>
              <a:t>项目技术模拟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502920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Five interactive one-slide systems: whole facility, critical power, chilled-water cooling, direct liquid cooling, fire · security · monitoring.</a:t>
            </a:r>
            <a:endParaRPr lang="en-US" sz="1100" dirty="0"/>
          </a:p>
          <a:p>
            <a:pPr marL="177800" indent="-177800">
              <a:lnSpc>
                <a:spcPct val="95000"/>
              </a:lnSpc>
              <a:spcAft>
                <a:spcPts val="600"/>
              </a:spcAft>
              <a:buSzPct val="100000"/>
              <a:buChar char=" "/>
            </a:pPr>
            <a:r>
              <a:rPr lang="en-US" sz="1000" dirty="0">
                <a:solidFill>
                  <a:schemeClr val="accent1"/>
                </a:solidFill>
              </a:rPr>
              <a:t>五个交互式单页系统：整体设施、关键供电、冷冻水风冷、冷板液冷、消防·安防·监控。</a:t>
            </a:r>
            <a:endParaRPr lang="en-US" sz="11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Every equipment hotspot opens a panel with an illustration, how it works, linked calculator, specification &amp; TPG extract and standards.</a:t>
            </a:r>
            <a:endParaRPr lang="en-US" sz="1100" dirty="0"/>
          </a:p>
          <a:p>
            <a:pPr marL="177800" indent="-177800">
              <a:lnSpc>
                <a:spcPct val="95000"/>
              </a:lnSpc>
              <a:spcAft>
                <a:spcPts val="600"/>
              </a:spcAft>
              <a:buSzPct val="100000"/>
              <a:buChar char=" "/>
            </a:pPr>
            <a:r>
              <a:rPr lang="en-US" sz="1000" dirty="0">
                <a:solidFill>
                  <a:schemeClr val="accent1"/>
                </a:solidFill>
              </a:rPr>
              <a:t>每个设备热点打开面板：示意图、工作原理、联动计算器、技术规范及TPG摘录与标准。</a:t>
            </a:r>
            <a:endParaRPr lang="en-US" sz="11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Choose a benchmark or your own project as the design basis.</a:t>
            </a:r>
            <a:endParaRPr lang="en-US" sz="1100" dirty="0"/>
          </a:p>
          <a:p>
            <a:pPr marL="177800" indent="-177800">
              <a:lnSpc>
                <a:spcPct val="95000"/>
              </a:lnSpc>
              <a:spcAft>
                <a:spcPts val="600"/>
              </a:spcAft>
              <a:buSzPct val="100000"/>
              <a:buChar char=" "/>
            </a:pPr>
            <a:r>
              <a:rPr lang="en-US" sz="1000" dirty="0">
                <a:solidFill>
                  <a:schemeClr val="accent1"/>
                </a:solidFill>
              </a:rPr>
              <a:t>可选择基准设计或自己的项目作为设计基准。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53912" y="1463040"/>
            <a:ext cx="5440680" cy="393192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1D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1645920"/>
            <a:ext cx="566928" cy="566928"/>
          </a:xfrm>
          <a:prstGeom prst="ellipse">
            <a:avLst/>
          </a:prstGeom>
          <a:solidFill>
            <a:srgbClr val="0EA5C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143" y="178198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68312" y="1627632"/>
            <a:ext cx="43891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Project Assessment</a:t>
            </a:r>
            <a:endParaRPr lang="en-US" sz="15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250" b="1" dirty="0">
                <a:solidFill>
                  <a:schemeClr val="accent1"/>
                </a:solidFill>
              </a:rPr>
              <a:t>项目评估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382512" y="2423160"/>
            <a:ext cx="502920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Enter location, type and IT load; 47 parameters are proposed with their basis and can be overridden.</a:t>
            </a:r>
            <a:endParaRPr lang="en-US" sz="1100" dirty="0"/>
          </a:p>
          <a:p>
            <a:pPr marL="177800" indent="-177800">
              <a:lnSpc>
                <a:spcPct val="95000"/>
              </a:lnSpc>
              <a:spcAft>
                <a:spcPts val="600"/>
              </a:spcAft>
              <a:buSzPct val="100000"/>
              <a:buChar char=" "/>
            </a:pPr>
            <a:r>
              <a:rPr lang="en-US" sz="1000" dirty="0">
                <a:solidFill>
                  <a:schemeClr val="accent1"/>
                </a:solidFill>
              </a:rPr>
              <a:t>输入地点、类型及IT负载；47项参数自动提出并附依据，均可修改。</a:t>
            </a:r>
            <a:endParaRPr lang="en-US" sz="11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5 input steps, 13 result pages, reference library with 11 benchmark designs (view or use as template) and 22 real projects.</a:t>
            </a:r>
            <a:endParaRPr lang="en-US" sz="1100" dirty="0"/>
          </a:p>
          <a:p>
            <a:pPr marL="177800" indent="-177800">
              <a:lnSpc>
                <a:spcPct val="95000"/>
              </a:lnSpc>
              <a:spcAft>
                <a:spcPts val="600"/>
              </a:spcAft>
              <a:buSzPct val="100000"/>
              <a:buChar char=" "/>
            </a:pPr>
            <a:r>
              <a:rPr lang="en-US" sz="1000" dirty="0">
                <a:solidFill>
                  <a:schemeClr val="accent1"/>
                </a:solidFill>
              </a:rPr>
              <a:t>5个输入步骤、13个结果页面、参考项目库（11个基准设计可查看或用作模板，22个真实项目）。</a:t>
            </a:r>
            <a:endParaRPr lang="en-US" sz="11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Proposal report export: Word, Excel, PDF.</a:t>
            </a:r>
            <a:endParaRPr lang="en-US" sz="1100" dirty="0"/>
          </a:p>
          <a:p>
            <a:pPr marL="177800" indent="-177800">
              <a:lnSpc>
                <a:spcPct val="95000"/>
              </a:lnSpc>
              <a:spcAft>
                <a:spcPts val="600"/>
              </a:spcAft>
              <a:buSzPct val="100000"/>
              <a:buChar char=" "/>
            </a:pPr>
            <a:r>
              <a:rPr lang="en-US" sz="1000" dirty="0">
                <a:solidFill>
                  <a:schemeClr val="accent1"/>
                </a:solidFill>
              </a:rPr>
              <a:t>项目建议书导出：Word、Excel、PDF。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2A2785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77240" y="5559552"/>
            <a:ext cx="10637215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One knowledge base feeds the deck, the Technical Specification &amp; TPG, the simulation and the assessment: https://alexandervsq.github.io/Data-Center-Project-Assessment/</a:t>
            </a:r>
            <a:endParaRPr lang="en-US" sz="110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BDEFFA"/>
                </a:solidFill>
              </a:rPr>
              <a:t>同一知识库同时驱动本演示文稿、技术规范及TPG、技术模拟与项目评估。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7498080" y="914400"/>
            <a:ext cx="4572000" cy="4572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DEFFA"/>
                </a:solidFill>
              </a:rPr>
              <a:t>要点总结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667512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Size a data center by IT load (MW) and rack density; everything else follows.</a:t>
            </a:r>
            <a:endParaRPr lang="en-US" sz="1300" dirty="0"/>
          </a:p>
          <a:p>
            <a:pPr marL="177800" indent="-177800">
              <a:lnSpc>
                <a:spcPct val="95000"/>
              </a:lnSpc>
              <a:spcAft>
                <a:spcPts val="800"/>
              </a:spcAft>
              <a:buSzPct val="100000"/>
              <a:buChar char=" "/>
            </a:pPr>
            <a:r>
              <a:rPr lang="en-US" sz="1150" dirty="0">
                <a:solidFill>
                  <a:srgbClr val="BDEFFA"/>
                </a:solidFill>
              </a:rPr>
              <a:t>以IT负载（MW）和机柜密度确定规模，其他一切随之而定。</a:t>
            </a:r>
            <a:endParaRPr lang="en-US" sz="13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Choose the Tier from business risk — it drives redundancy, space and ≈ ±30% CAPEX.</a:t>
            </a:r>
            <a:endParaRPr lang="en-US" sz="1300" dirty="0"/>
          </a:p>
          <a:p>
            <a:pPr marL="177800" indent="-177800">
              <a:lnSpc>
                <a:spcPct val="95000"/>
              </a:lnSpc>
              <a:spcAft>
                <a:spcPts val="800"/>
              </a:spcAft>
              <a:buSzPct val="100000"/>
              <a:buChar char=" "/>
            </a:pPr>
            <a:r>
              <a:rPr lang="en-US" sz="1150" dirty="0">
                <a:solidFill>
                  <a:srgbClr val="BDEFFA"/>
                </a:solidFill>
              </a:rPr>
              <a:t>根据业务风险选择Tier——它决定冗余、空间及约±30%的投资。</a:t>
            </a:r>
            <a:endParaRPr lang="en-US" sz="13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Power and cooling chains must have no single point of failure for Tier III+.</a:t>
            </a:r>
            <a:endParaRPr lang="en-US" sz="1300" dirty="0"/>
          </a:p>
          <a:p>
            <a:pPr marL="177800" indent="-177800">
              <a:lnSpc>
                <a:spcPct val="95000"/>
              </a:lnSpc>
              <a:spcAft>
                <a:spcPts val="800"/>
              </a:spcAft>
              <a:buSzPct val="100000"/>
              <a:buChar char=" "/>
            </a:pPr>
            <a:r>
              <a:rPr lang="en-US" sz="1150" dirty="0">
                <a:solidFill>
                  <a:srgbClr val="BDEFFA"/>
                </a:solidFill>
              </a:rPr>
              <a:t>Tier III及以上的供电与制冷链不得存在单点故障。</a:t>
            </a:r>
            <a:endParaRPr lang="en-US" sz="13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AI densities (40–140 kW/rack) require liquid cooling and heavier, taller buildings.</a:t>
            </a:r>
            <a:endParaRPr lang="en-US" sz="1300" dirty="0"/>
          </a:p>
          <a:p>
            <a:pPr marL="177800" indent="-177800">
              <a:lnSpc>
                <a:spcPct val="95000"/>
              </a:lnSpc>
              <a:spcAft>
                <a:spcPts val="800"/>
              </a:spcAft>
              <a:buSzPct val="100000"/>
              <a:buChar char=" "/>
            </a:pPr>
            <a:r>
              <a:rPr lang="en-US" sz="1150" dirty="0">
                <a:solidFill>
                  <a:srgbClr val="BDEFFA"/>
                </a:solidFill>
              </a:rPr>
              <a:t>AI密度（40–140 kW/柜）需要液冷及更高承载、更高净高的建筑。</a:t>
            </a:r>
            <a:endParaRPr lang="en-US" sz="13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Grid capacity, long-lead equipment and permits usually set the schedule.</a:t>
            </a:r>
            <a:endParaRPr lang="en-US" sz="1300" dirty="0"/>
          </a:p>
          <a:p>
            <a:pPr marL="177800" indent="-177800">
              <a:lnSpc>
                <a:spcPct val="95000"/>
              </a:lnSpc>
              <a:spcAft>
                <a:spcPts val="800"/>
              </a:spcAft>
              <a:buSzPct val="100000"/>
              <a:buChar char=" "/>
            </a:pPr>
            <a:r>
              <a:rPr lang="en-US" sz="1150" dirty="0">
                <a:solidFill>
                  <a:srgbClr val="BDEFFA"/>
                </a:solidFill>
              </a:rPr>
              <a:t>电网容量、长周期设备和许可通常决定进度。</a:t>
            </a:r>
            <a:endParaRPr lang="en-US" sz="1300" dirty="0"/>
          </a:p>
          <a:p>
            <a:pPr marL="177800" indent="-177800">
              <a:lnSpc>
                <a:spcPct val="9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Energy is ≈ 70 % of OPEX: PUE, tariff class and returns must be tested together.</a:t>
            </a:r>
            <a:endParaRPr lang="en-US" sz="1300" dirty="0"/>
          </a:p>
          <a:p>
            <a:pPr marL="177800" indent="-177800">
              <a:lnSpc>
                <a:spcPct val="95000"/>
              </a:lnSpc>
              <a:spcAft>
                <a:spcPts val="800"/>
              </a:spcAft>
              <a:buSzPct val="100000"/>
              <a:buChar char=" "/>
            </a:pPr>
            <a:r>
              <a:rPr lang="en-US" sz="1150" dirty="0">
                <a:solidFill>
                  <a:srgbClr val="BDEFFA"/>
                </a:solidFill>
              </a:rPr>
              <a:t>电费约占运营成本70%：须同时检验PUE、电价类别与回报。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6675120" cy="1051560"/>
          </a:xfrm>
          <a:prstGeom prst="roundRect">
            <a:avLst>
              <a:gd name="adj" fmla="val 6957"/>
            </a:avLst>
          </a:prstGeom>
          <a:solidFill>
            <a:srgbClr val="2A278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413248"/>
            <a:ext cx="63093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Companion resources: Technical Specification &amp; TPG (Word) · website with Project Technology Simulation and Project Assessment</a:t>
            </a:r>
            <a:endParaRPr lang="en-US" sz="1250" dirty="0"/>
          </a:p>
          <a:p>
            <a:pPr algn="l" indent="0" marL="0">
              <a:lnSpc>
                <a:spcPct val="95000"/>
              </a:lnSpc>
              <a:spcBef>
                <a:spcPts val="200"/>
              </a:spcBef>
              <a:buNone/>
            </a:pPr>
            <a:r>
              <a:rPr lang="en-US" sz="1150" dirty="0">
                <a:solidFill>
                  <a:srgbClr val="BDEFFA"/>
                </a:solidFill>
              </a:rPr>
              <a:t>配套资料：技术规范书及技术参数保证表（Word）· 含项目技术模拟与项目评估的网站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ld Aisle Hot Aisle">
      <a:dk1>
        <a:srgbClr val="1B1D3A"/>
      </a:dk1>
      <a:lt1>
        <a:srgbClr val="FFFFFF"/>
      </a:lt1>
      <a:dk2>
        <a:srgbClr val="17153F"/>
      </a:dk2>
      <a:lt2>
        <a:srgbClr val="F1F2FA"/>
      </a:lt2>
      <a:accent1>
        <a:srgbClr val="3F3CBB"/>
      </a:accent1>
      <a:accent2>
        <a:srgbClr val="0EA5C6"/>
      </a:accent2>
      <a:accent3>
        <a:srgbClr val="F0544F"/>
      </a:accent3>
      <a:accent4>
        <a:srgbClr val="F2A93B"/>
      </a:accent4>
      <a:accent5>
        <a:srgbClr val="16A34A"/>
      </a:accent5>
      <a:accent6>
        <a:srgbClr val="7C3AED"/>
      </a:accent6>
      <a:hlink>
        <a:srgbClr val="0E7490"/>
      </a:hlink>
      <a:folHlink>
        <a:srgbClr val="6B21A8"/>
      </a:folHlink>
    </a:clrScheme>
    <a:fontScheme name="Office">
      <a:majorFont>
        <a:latin typeface="Segoe UI Semibold"/>
        <a:ea typeface="Microsoft Ya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Microsoft Ya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Project Technical Assessment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Center Knowledge Base (EN-ZH)</dc:title>
  <dc:subject>Data center fundamentals — bilingual knowledge base for project technical assessment</dc:subject>
  <dc:creator>Project Technical Assessment</dc:creator>
  <cp:lastModifiedBy>Project Technical Assessment</cp:lastModifiedBy>
  <cp:revision>1</cp:revision>
  <dcterms:created xsi:type="dcterms:W3CDTF">2026-10-27T07:42:37Z</dcterms:created>
  <dcterms:modified xsi:type="dcterms:W3CDTF">2026-10-27T07:42:37Z</dcterms:modified>
</cp:coreProperties>
</file>